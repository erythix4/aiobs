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01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D1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12700">
            <a:solidFill>
              <a:srgbClr val="8B2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12700">
            <a:solidFill>
              <a:srgbClr val="8B2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12700">
            <a:solidFill>
              <a:srgbClr val="8B2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12700">
            <a:solidFill>
              <a:srgbClr val="8B2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12700">
            <a:solidFill>
              <a:srgbClr val="8B2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12700">
            <a:solidFill>
              <a:srgbClr val="8B2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12700">
            <a:solidFill>
              <a:srgbClr val="8B2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12700">
            <a:solidFill>
              <a:srgbClr val="8B2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640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HPC AI Observability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Security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Reference  |  Open Source Sovereign Stack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|  Erythix / Aureonis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017520"/>
            <a:ext cx="2011680" cy="1645920"/>
          </a:xfrm>
          <a:prstGeom prst="rect">
            <a:avLst/>
          </a:prstGeom>
          <a:solidFill>
            <a:srgbClr val="8B2040"/>
          </a:solidFill>
          <a:ln w="12700">
            <a:solidFill>
              <a:srgbClr val="9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11480" y="3017520"/>
            <a:ext cx="2011680" cy="274320"/>
          </a:xfrm>
          <a:prstGeom prst="rect">
            <a:avLst/>
          </a:prstGeom>
          <a:solidFill>
            <a:srgbClr val="6A1028"/>
          </a:solidFill>
          <a:ln w="12700">
            <a:solidFill>
              <a:srgbClr val="6A10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1148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" y="336499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Cluster Architecture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" y="3767328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topology: nodes, NVLink, InfiniBand, storage, scheduler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587752" y="3017520"/>
            <a:ext cx="2011680" cy="1645920"/>
          </a:xfrm>
          <a:prstGeom prst="rect">
            <a:avLst/>
          </a:prstGeom>
          <a:solidFill>
            <a:srgbClr val="8B2040"/>
          </a:solidFill>
          <a:ln w="12700">
            <a:solidFill>
              <a:srgbClr val="9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587752" y="3017520"/>
            <a:ext cx="2011680" cy="274320"/>
          </a:xfrm>
          <a:prstGeom prst="rect">
            <a:avLst/>
          </a:prstGeom>
          <a:solidFill>
            <a:srgbClr val="6A1028"/>
          </a:solidFill>
          <a:ln w="12700">
            <a:solidFill>
              <a:srgbClr val="6A10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587752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60904" y="336499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Step Timeline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60904" y="3767328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load, forward, backward, AllReduce — what really happens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764024" y="3017520"/>
            <a:ext cx="2011680" cy="1645920"/>
          </a:xfrm>
          <a:prstGeom prst="rect">
            <a:avLst/>
          </a:prstGeom>
          <a:solidFill>
            <a:srgbClr val="8B2040"/>
          </a:solidFill>
          <a:ln w="12700">
            <a:solidFill>
              <a:srgbClr val="9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764024" y="3017520"/>
            <a:ext cx="2011680" cy="274320"/>
          </a:xfrm>
          <a:prstGeom prst="rect">
            <a:avLst/>
          </a:prstGeom>
          <a:solidFill>
            <a:srgbClr val="6A1028"/>
          </a:solidFill>
          <a:ln w="12700">
            <a:solidFill>
              <a:srgbClr val="6A10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64024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37176" y="336499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Stack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37176" y="3767328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Collection, storage, visualization — open source sovereign pipeline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940296" y="3017520"/>
            <a:ext cx="2011680" cy="1645920"/>
          </a:xfrm>
          <a:prstGeom prst="rect">
            <a:avLst/>
          </a:prstGeom>
          <a:solidFill>
            <a:srgbClr val="8B2040"/>
          </a:solidFill>
          <a:ln w="12700">
            <a:solidFill>
              <a:srgbClr val="9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6940296" y="3017520"/>
            <a:ext cx="2011680" cy="274320"/>
          </a:xfrm>
          <a:prstGeom prst="rect">
            <a:avLst/>
          </a:prstGeom>
          <a:solidFill>
            <a:srgbClr val="6A1028"/>
          </a:solidFill>
          <a:ln w="12700">
            <a:solidFill>
              <a:srgbClr val="6A10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940296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13448" y="336499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Threat Surface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013448" y="3767328"/>
            <a:ext cx="18653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attack vectors specific to HPC AI and their detection methods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A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  |  FOUNDATION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260604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HPC, and why does AI need it?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3F0EA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37160" y="492404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|  Erythix / Aureonis  |  HPC AI Observability and Security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01168" y="5943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(High Performance Computing) assembles hundreds to thousands of machines for problems too large for a single computer. Since 2018, training large language models has become the dominant HPC workload. These models require staggering amounts of compute and memory that no single machine can provide.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42432" y="594360"/>
            <a:ext cx="3108960" cy="1170432"/>
          </a:xfrm>
          <a:prstGeom prst="rect">
            <a:avLst/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742432" y="594360"/>
            <a:ext cx="54864" cy="1170432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870448" y="6675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70448" y="8503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D1C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870448" y="13441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GPU-days to train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742432" y="1947672"/>
            <a:ext cx="3108960" cy="1170432"/>
          </a:xfrm>
          <a:prstGeom prst="rect">
            <a:avLst/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742432" y="1947672"/>
            <a:ext cx="54864" cy="1170432"/>
          </a:xfrm>
          <a:prstGeom prst="rect">
            <a:avLst/>
          </a:prstGeom>
          <a:solidFill>
            <a:srgbClr val="1F5FA0"/>
          </a:solidFill>
          <a:ln w="12700">
            <a:solidFill>
              <a:srgbClr val="1F5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870448" y="20208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70B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70448" y="220370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140 GB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870448" y="26974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memory to load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742432" y="3300984"/>
            <a:ext cx="3108960" cy="1170432"/>
          </a:xfrm>
          <a:prstGeom prst="rect">
            <a:avLst/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742432" y="3300984"/>
            <a:ext cx="54864" cy="1170432"/>
          </a:xfrm>
          <a:prstGeom prst="rect">
            <a:avLst/>
          </a:prstGeom>
          <a:solidFill>
            <a:srgbClr val="1A6E42"/>
          </a:solidFill>
          <a:ln w="12700">
            <a:solidFill>
              <a:srgbClr val="1A6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870448" y="33741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H100 SXM5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70448" y="35570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6E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3.35 TB/s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870448" y="40507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HBM bandwidth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01168" y="1481328"/>
            <a:ext cx="5303520" cy="658368"/>
          </a:xfrm>
          <a:prstGeom prst="rect">
            <a:avLst/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01168" y="1481328"/>
            <a:ext cx="54864" cy="658368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29184" y="1517904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laptop has 16 GB RAM and 8 GB GPU memory. Llama 70B needs ~140 GB just to fit its weights — and thousands of GPU-hours to train. A single machine is structurally incapable of meeting this need.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1168" y="2267712"/>
            <a:ext cx="2505456" cy="2450592"/>
          </a:xfrm>
          <a:prstGeom prst="rect">
            <a:avLst/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01168" y="234086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D1C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CPU  |  Generalist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" y="2651760"/>
            <a:ext cx="23225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 128 powerful cores at 3-6 GHz. Excellent branch prediction and arbitrary memory access. Essential for orchestration, I/O, and control flow.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suited for massive matrix operations.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871216" y="2267712"/>
            <a:ext cx="2505456" cy="2450592"/>
          </a:xfrm>
          <a:prstGeom prst="rect">
            <a:avLst/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871216" y="234086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GPU  |  Specialist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62656" y="2651760"/>
            <a:ext cx="23225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to 18,000 CUDA cores at 1-2 GHz. High Bandwidth Memory (HBM) at 3.35 TB/s. All cores execute the same simple operation simultaneously.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the matrix multiplications at the core of AI.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A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  |  ARCHITECTURE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82880" y="260604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an HPC cluster is built — 5 Fundamental Layers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3F0EA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37160" y="492404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|  Erythix / Aureonis  |  HPC AI Observability and Security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201168" y="621792"/>
            <a:ext cx="8741664" cy="749808"/>
          </a:xfrm>
          <a:prstGeom prst="rect">
            <a:avLst/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01168" y="621792"/>
            <a:ext cx="475488" cy="749808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01168" y="62179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6766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D1C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GPU Compute Nodes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93268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 8 GPUs per node, interconnected by NVLink (600 GB/s). Each GPU has 80 GB HBM3. 2 CPUs for orchestration, 512 GB RAM, local NVMe for staging.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18688" y="676656"/>
            <a:ext cx="1243584" cy="201168"/>
          </a:xfrm>
          <a:prstGeom prst="rect">
            <a:avLst/>
          </a:prstGeom>
          <a:solidFill>
            <a:srgbClr val="F0F5FB"/>
          </a:solidFill>
          <a:ln w="12700">
            <a:solidFill>
              <a:srgbClr val="1F5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218688" y="67665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dcgm-exporter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590288" y="676656"/>
            <a:ext cx="1243584" cy="201168"/>
          </a:xfrm>
          <a:prstGeom prst="rect">
            <a:avLst/>
          </a:prstGeom>
          <a:solidFill>
            <a:srgbClr val="FDF2F0"/>
          </a:solidFill>
          <a:ln w="12700">
            <a:solidFill>
              <a:srgbClr val="B83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90288" y="67665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B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attack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5961888" y="676656"/>
            <a:ext cx="1243584" cy="201168"/>
          </a:xfrm>
          <a:prstGeom prst="rect">
            <a:avLst/>
          </a:prstGeom>
          <a:solidFill>
            <a:srgbClr val="F0F8F4"/>
          </a:solidFill>
          <a:ln w="12700">
            <a:solidFill>
              <a:srgbClr val="1A6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61888" y="67665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 bound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01168" y="1481328"/>
            <a:ext cx="8741664" cy="749808"/>
          </a:xfrm>
          <a:prstGeom prst="rect">
            <a:avLst/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01168" y="1481328"/>
            <a:ext cx="475488" cy="749808"/>
          </a:xfrm>
          <a:prstGeom prst="rect">
            <a:avLst/>
          </a:prstGeom>
          <a:solidFill>
            <a:srgbClr val="1F5FA0"/>
          </a:solidFill>
          <a:ln w="12700">
            <a:solidFill>
              <a:srgbClr val="1F5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01168" y="1481328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15361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5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HPC Interconnect: InfiniBand / RoCE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" y="179222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InfiniBand HDR at 400 Gb/s, sub-microsecond latency. Fat-Tree topology guarantees non-blocking bandwidth. Gradients flow here during NCCL AllReduce.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18688" y="1536192"/>
            <a:ext cx="1243584" cy="201168"/>
          </a:xfrm>
          <a:prstGeom prst="rect">
            <a:avLst/>
          </a:prstGeom>
          <a:solidFill>
            <a:srgbClr val="F0F5FB"/>
          </a:solidFill>
          <a:ln w="12700">
            <a:solidFill>
              <a:srgbClr val="1F5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18688" y="153619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ibstat / perfquery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590288" y="1536192"/>
            <a:ext cx="1243584" cy="201168"/>
          </a:xfrm>
          <a:prstGeom prst="rect">
            <a:avLst/>
          </a:prstGeom>
          <a:solidFill>
            <a:srgbClr val="FDF2F0"/>
          </a:solidFill>
          <a:ln w="12700">
            <a:solidFill>
              <a:srgbClr val="B83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590288" y="153619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B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RDMA blind spot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961888" y="1536192"/>
            <a:ext cx="1243584" cy="201168"/>
          </a:xfrm>
          <a:prstGeom prst="rect">
            <a:avLst/>
          </a:prstGeom>
          <a:solidFill>
            <a:srgbClr val="F0F8F4"/>
          </a:solidFill>
          <a:ln w="12700">
            <a:solidFill>
              <a:srgbClr val="1A6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961888" y="153619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critical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01168" y="2340864"/>
            <a:ext cx="8741664" cy="749808"/>
          </a:xfrm>
          <a:prstGeom prst="rect">
            <a:avLst/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01168" y="2340864"/>
            <a:ext cx="475488" cy="749808"/>
          </a:xfrm>
          <a:prstGeom prst="rect">
            <a:avLst/>
          </a:prstGeom>
          <a:solidFill>
            <a:srgbClr val="1A6E42"/>
          </a:solidFill>
          <a:ln w="12700">
            <a:solidFill>
              <a:srgbClr val="1A6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01168" y="2340864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" y="23957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E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Shared Storage: Lustre / GPFS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" y="265176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striped across dozens of OSS servers. 28+ GB/s aggregate throughput. GPUs must never wait for data — compute/IO ratio is the key sizing metric.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18688" y="2395728"/>
            <a:ext cx="1243584" cy="201168"/>
          </a:xfrm>
          <a:prstGeom prst="rect">
            <a:avLst/>
          </a:prstGeom>
          <a:solidFill>
            <a:srgbClr val="F0F5FB"/>
          </a:solidFill>
          <a:ln w="12700">
            <a:solidFill>
              <a:srgbClr val="1F5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218688" y="239572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Lustre metrics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590288" y="2395728"/>
            <a:ext cx="1243584" cy="201168"/>
          </a:xfrm>
          <a:prstGeom prst="rect">
            <a:avLst/>
          </a:prstGeom>
          <a:solidFill>
            <a:srgbClr val="FDF2F0"/>
          </a:solidFill>
          <a:ln w="12700">
            <a:solidFill>
              <a:srgbClr val="B83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590288" y="239572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B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poisoning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5961888" y="2395728"/>
            <a:ext cx="1243584" cy="201168"/>
          </a:xfrm>
          <a:prstGeom prst="rect">
            <a:avLst/>
          </a:prstGeom>
          <a:solidFill>
            <a:srgbClr val="F0F8F4"/>
          </a:solidFill>
          <a:ln w="12700">
            <a:solidFill>
              <a:srgbClr val="1A6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961888" y="239572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01168" y="3200400"/>
            <a:ext cx="8741664" cy="749808"/>
          </a:xfrm>
          <a:prstGeom prst="rect">
            <a:avLst/>
          </a:prstGeom>
          <a:solidFill>
            <a:srgbClr val="FDF8F0"/>
          </a:solidFill>
          <a:ln w="12700">
            <a:solidFill>
              <a:srgbClr val="E8C86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201168" y="3200400"/>
            <a:ext cx="475488" cy="749808"/>
          </a:xfrm>
          <a:prstGeom prst="rect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01168" y="320040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" y="32552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5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Scheduler: SLURM / PBS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9808" y="351129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queues, GPU allocation, job isolation, environment setup. Prolog/epilog scripts allow instrumentation injection at job boundaries.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218688" y="3255264"/>
            <a:ext cx="1243584" cy="201168"/>
          </a:xfrm>
          <a:prstGeom prst="rect">
            <a:avLst/>
          </a:prstGeom>
          <a:solidFill>
            <a:srgbClr val="F0F5FB"/>
          </a:solidFill>
          <a:ln w="12700">
            <a:solidFill>
              <a:srgbClr val="1F5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3218688" y="325526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slurm-exporter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590288" y="3255264"/>
            <a:ext cx="1243584" cy="201168"/>
          </a:xfrm>
          <a:prstGeom prst="rect">
            <a:avLst/>
          </a:prstGeom>
          <a:solidFill>
            <a:srgbClr val="FDF2F0"/>
          </a:solidFill>
          <a:ln w="12700">
            <a:solidFill>
              <a:srgbClr val="B83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4590288" y="325526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B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isolation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5961888" y="3255264"/>
            <a:ext cx="1243584" cy="201168"/>
          </a:xfrm>
          <a:prstGeom prst="rect">
            <a:avLst/>
          </a:prstGeom>
          <a:solidFill>
            <a:srgbClr val="F3F0EA"/>
          </a:solidFill>
          <a:ln w="12700">
            <a:solidFill>
              <a:srgbClr val="7A72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5961888" y="325526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201168" y="4059936"/>
            <a:ext cx="8741664" cy="749808"/>
          </a:xfrm>
          <a:prstGeom prst="rect">
            <a:avLst/>
          </a:prstGeom>
          <a:solidFill>
            <a:srgbClr val="F3F0EA"/>
          </a:solidFill>
          <a:ln w="12700">
            <a:solidFill>
              <a:srgbClr val="C8C2B8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201168" y="4059936"/>
            <a:ext cx="475488" cy="749808"/>
          </a:xfrm>
          <a:prstGeom prst="rect">
            <a:avLst/>
          </a:prstGeom>
          <a:solidFill>
            <a:srgbClr val="3E3A36"/>
          </a:solidFill>
          <a:ln w="12700">
            <a:solidFill>
              <a:srgbClr val="3E3A3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201168" y="405993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L5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49808" y="41148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E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Software Stack: CUDA / PyTorch / NCCL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9808" y="437083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CUDA/ROCm driver, PyTorch or JAX, NCCL for collective communications. Runs in Docker or Singularity containers — isolation, reproducibility, GPU privilege risks.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218688" y="4114800"/>
            <a:ext cx="1243584" cy="201168"/>
          </a:xfrm>
          <a:prstGeom prst="rect">
            <a:avLst/>
          </a:prstGeom>
          <a:solidFill>
            <a:srgbClr val="F0F5FB"/>
          </a:solidFill>
          <a:ln w="12700">
            <a:solidFill>
              <a:srgbClr val="1F5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3218688" y="411480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profiler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4590288" y="4114800"/>
            <a:ext cx="1243584" cy="201168"/>
          </a:xfrm>
          <a:prstGeom prst="rect">
            <a:avLst/>
          </a:prstGeom>
          <a:solidFill>
            <a:srgbClr val="FDF2F0"/>
          </a:solidFill>
          <a:ln w="12700">
            <a:solidFill>
              <a:srgbClr val="B83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4590288" y="411480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B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5961888" y="4114800"/>
            <a:ext cx="1243584" cy="201168"/>
          </a:xfrm>
          <a:prstGeom prst="rect">
            <a:avLst/>
          </a:prstGeom>
          <a:solidFill>
            <a:srgbClr val="F0F8F4"/>
          </a:solidFill>
          <a:ln w="12700">
            <a:solidFill>
              <a:srgbClr val="1A6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5961888" y="411480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NCCL tuning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A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  |  HOW IT WORKS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201168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really happens during distributed training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3F0EA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37160" y="492404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|  Erythix / Aureonis  |  HPC AI Observability and Security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64592" y="640080"/>
            <a:ext cx="1664208" cy="3337560"/>
          </a:xfrm>
          <a:prstGeom prst="rect">
            <a:avLst/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64592" y="640080"/>
            <a:ext cx="1664208" cy="329184"/>
          </a:xfrm>
          <a:prstGeom prst="rect">
            <a:avLst/>
          </a:prstGeom>
          <a:solidFill>
            <a:srgbClr val="1F5FA0"/>
          </a:solidFill>
          <a:ln w="12700">
            <a:solidFill>
              <a:srgbClr val="1F5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64592" y="640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" y="6400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 + H2D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6032" y="1042416"/>
            <a:ext cx="148132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read from Lustre, tokenize and normalize data, load into pinned CPU memory. DMA transfer to GPU via PCIe (~8-16 GB/s). Must overlap with previous batch computation. If slow: I/O bound workload.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 rot="5400000">
            <a:off x="1837944" y="2244852"/>
            <a:ext cx="64008" cy="128016"/>
          </a:xfrm>
          <a:prstGeom prst="triangle">
            <a:avLst/>
          </a:prstGeom>
          <a:solidFill>
            <a:srgbClr val="C8C2B8"/>
          </a:solidFill>
          <a:ln w="12700">
            <a:solidFill>
              <a:srgbClr val="C8C2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901952" y="640080"/>
            <a:ext cx="1664208" cy="3337560"/>
          </a:xfrm>
          <a:prstGeom prst="rect">
            <a:avLst/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1901952" y="640080"/>
            <a:ext cx="1664208" cy="329184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901952" y="640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49424" y="6400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993392" y="1042416"/>
            <a:ext cx="148132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traverses model layer by layer. Each layer is primarily matrix multiplication. GPU decomposes work into tiles across Streaming Multiprocessors. Activations stored in HBM for backward pass reuse.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 rot="5400000">
            <a:off x="3575304" y="2244852"/>
            <a:ext cx="64008" cy="128016"/>
          </a:xfrm>
          <a:prstGeom prst="triangle">
            <a:avLst/>
          </a:prstGeom>
          <a:solidFill>
            <a:srgbClr val="C8C2B8"/>
          </a:solidFill>
          <a:ln w="12700">
            <a:solidFill>
              <a:srgbClr val="C8C2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639312" y="640080"/>
            <a:ext cx="1664208" cy="3337560"/>
          </a:xfrm>
          <a:prstGeom prst="rect">
            <a:avLst/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639312" y="640080"/>
            <a:ext cx="1664208" cy="329184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39312" y="640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86784" y="6400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30752" y="1042416"/>
            <a:ext cx="148132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computes loss against ground truth, propagates error backward via chain rule. Each GPU computes local gradients on its own data subset. Gradients differ across GPUs.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rot="5400000">
            <a:off x="5312664" y="2244852"/>
            <a:ext cx="64008" cy="128016"/>
          </a:xfrm>
          <a:prstGeom prst="triangle">
            <a:avLst/>
          </a:prstGeom>
          <a:solidFill>
            <a:srgbClr val="C8C2B8"/>
          </a:solidFill>
          <a:ln w="12700">
            <a:solidFill>
              <a:srgbClr val="C8C2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5376672" y="640080"/>
            <a:ext cx="1664208" cy="3337560"/>
          </a:xfrm>
          <a:prstGeom prst="rect">
            <a:avLst/>
          </a:prstGeom>
          <a:solidFill>
            <a:srgbClr val="FDF8F0"/>
          </a:solidFill>
          <a:ln w="12700">
            <a:solidFill>
              <a:srgbClr val="E8C86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5376672" y="640080"/>
            <a:ext cx="1664208" cy="329184"/>
          </a:xfrm>
          <a:prstGeom prst="rect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376672" y="640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24144" y="6400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AllReduce (NCCL)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68112" y="1042416"/>
            <a:ext cx="148132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Ring-AllReduce averages gradients across all GPUs over InfiniBand. After N rounds, every GPU holds the full sum. 15-40% of step time. The straggler makes everyone wait at the sync barrier.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 rot="5400000">
            <a:off x="7050024" y="2244852"/>
            <a:ext cx="64008" cy="128016"/>
          </a:xfrm>
          <a:prstGeom prst="triangle">
            <a:avLst/>
          </a:prstGeom>
          <a:solidFill>
            <a:srgbClr val="C8C2B8"/>
          </a:solidFill>
          <a:ln w="12700">
            <a:solidFill>
              <a:srgbClr val="C8C2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7114032" y="640080"/>
            <a:ext cx="1664208" cy="3337560"/>
          </a:xfrm>
          <a:prstGeom prst="rect">
            <a:avLst/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7114032" y="640080"/>
            <a:ext cx="1664208" cy="329184"/>
          </a:xfrm>
          <a:prstGeom prst="rect">
            <a:avLst/>
          </a:prstGeom>
          <a:solidFill>
            <a:srgbClr val="1A6E42"/>
          </a:solidFill>
          <a:ln w="12700">
            <a:solidFill>
              <a:srgbClr val="1A6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7114032" y="640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61504" y="6400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Step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205472" y="1042416"/>
            <a:ext cx="148132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updates all parameters in parallel using averaged gradients with adaptive correction. 7B parameters updated simultaneously on the GPU. Cycle repeats for next batch.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64592" y="4114800"/>
            <a:ext cx="8814816" cy="457200"/>
          </a:xfrm>
          <a:prstGeom prst="rect">
            <a:avLst/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164592" y="4114800"/>
            <a:ext cx="54864" cy="457200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74320" y="4151376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GPU utilization reported at 87%.  Effective compute: ~19% of step time.  NCCL AllReduce alone: 43%.  The straggler effect can reduce global efficiency by 30% without triggering any alert.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A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 |  OBSERVABILITY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201168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Observability: seeing what really happens at every layer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3F0EA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37160" y="492404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|  Erythix / Aureonis  |  HPC AI Observability and Security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201168" y="621792"/>
            <a:ext cx="2761488" cy="1627632"/>
          </a:xfrm>
          <a:prstGeom prst="rect">
            <a:avLst/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01168" y="694944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D1C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92608" y="12801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D1C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" y="1572768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time-series: GPU SM utilization, HBM bandwidth, step time, NCCL latency, IB retransmits. Stored in VictoriaMetrics. Enable alerting and trend analysis.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27248" y="621792"/>
            <a:ext cx="2761488" cy="1627632"/>
          </a:xfrm>
          <a:prstGeom prst="rect">
            <a:avLst/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127248" y="694944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5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218688" y="12801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36976" y="1572768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events with context: CUDA errors, NCCL warnings, SLURM interruptions, OOM kills. Aggregated in Loki. Provide qualitative context that metrics cannot capture.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53328" y="621792"/>
            <a:ext cx="2761488" cy="1627632"/>
          </a:xfrm>
          <a:prstGeom prst="rect">
            <a:avLst/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053328" y="694944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6E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44768" y="12801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E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63056" y="1572768"/>
            <a:ext cx="2542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tracking across all nodes and processes. Identify exactly on which node and in which function time is lost. Essential for diagnosing stragglers.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1168" y="2359152"/>
            <a:ext cx="8741664" cy="658368"/>
          </a:xfrm>
          <a:prstGeom prst="rect">
            <a:avLst/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01168" y="2359152"/>
            <a:ext cx="1005840" cy="658368"/>
          </a:xfrm>
          <a:prstGeom prst="rect">
            <a:avLst/>
          </a:prstGeom>
          <a:solidFill>
            <a:srgbClr val="1F5FA0"/>
          </a:solidFill>
          <a:ln w="12700">
            <a:solidFill>
              <a:srgbClr val="1F5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01168" y="235915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node)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280160" y="2468880"/>
            <a:ext cx="7534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dcgm-exporter  |  node-exporter  |  OTel Collector  |  Falco / Tetragon  |  slurm-exporter  |  ibstat scripts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 rot="10800000">
            <a:off x="4507992" y="2240280"/>
            <a:ext cx="128016" cy="109728"/>
          </a:xfrm>
          <a:prstGeom prst="triangle">
            <a:avLst/>
          </a:prstGeom>
          <a:solidFill>
            <a:srgbClr val="C8C2B8"/>
          </a:solidFill>
          <a:ln w="12700">
            <a:solidFill>
              <a:srgbClr val="C8C2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01168" y="3127248"/>
            <a:ext cx="8741664" cy="658368"/>
          </a:xfrm>
          <a:prstGeom prst="rect">
            <a:avLst/>
          </a:prstGeom>
          <a:solidFill>
            <a:srgbClr val="F3F0EA"/>
          </a:solidFill>
          <a:ln w="12700">
            <a:solidFill>
              <a:srgbClr val="C8C2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01168" y="3127248"/>
            <a:ext cx="1005840" cy="658368"/>
          </a:xfrm>
          <a:prstGeom prst="rect">
            <a:avLst/>
          </a:prstGeom>
          <a:solidFill>
            <a:srgbClr val="3E3A36"/>
          </a:solidFill>
          <a:ln w="12700">
            <a:solidFill>
              <a:srgbClr val="3E3A3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01168" y="312724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(centralized)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280160" y="3236976"/>
            <a:ext cx="7534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  (metrics, 90d)  |  Loki  (logs, 30d)  |  Tempo / Jaeger  (traces, 7d)  |  AlertManager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 rot="10800000">
            <a:off x="4507992" y="3008376"/>
            <a:ext cx="128016" cy="109728"/>
          </a:xfrm>
          <a:prstGeom prst="triangle">
            <a:avLst/>
          </a:prstGeom>
          <a:solidFill>
            <a:srgbClr val="C8C2B8"/>
          </a:solidFill>
          <a:ln w="12700">
            <a:solidFill>
              <a:srgbClr val="C8C2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201168" y="3895344"/>
            <a:ext cx="8741664" cy="658368"/>
          </a:xfrm>
          <a:prstGeom prst="rect">
            <a:avLst/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01168" y="3895344"/>
            <a:ext cx="1005840" cy="658368"/>
          </a:xfrm>
          <a:prstGeom prst="rect">
            <a:avLst/>
          </a:prstGeom>
          <a:solidFill>
            <a:srgbClr val="1A6E42"/>
          </a:solidFill>
          <a:ln w="12700">
            <a:solidFill>
              <a:srgbClr val="1A6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01168" y="389534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(Grafana)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280160" y="4005072"/>
            <a:ext cx="7534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Cluster Dashboard  |  Network + Storage  |  ML Training Metrics  |  Security Events  |  SLURM Jobs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A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 |  eBPF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201168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eBPF: observing without instrumenting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3F0EA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37160" y="492404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|  Erythix / Aureonis  |  HPC AI Observability and Security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01168" y="594360"/>
            <a:ext cx="8741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allows attaching verified programs to thousands of kernel instrumentation points: system calls, GPU driver ioctls, network events, file access — with negligible overhead. Observe training processes from the outside, without modifying any code.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1298448"/>
            <a:ext cx="8741664" cy="2542032"/>
          </a:xfrm>
          <a:prstGeom prst="rect">
            <a:avLst/>
          </a:prstGeom>
          <a:solidFill>
            <a:srgbClr val="F3F0EA"/>
          </a:solidFill>
          <a:ln w="12700">
            <a:solidFill>
              <a:srgbClr val="C8C2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01168" y="1298448"/>
            <a:ext cx="45720" cy="2542032"/>
          </a:xfrm>
          <a:prstGeom prst="rect">
            <a:avLst/>
          </a:prstGeom>
          <a:solidFill>
            <a:srgbClr val="C8C2B8"/>
          </a:solidFill>
          <a:ln w="12700">
            <a:solidFill>
              <a:srgbClr val="C8C2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92608" y="1389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8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CUDA allocations from a Python process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92608" y="160934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3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bpftrace -e 'kprobe:cuMemAlloc /pid == $1/ { printf("alloc %d bytes\n", arg1); }'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2608" y="18288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2608" y="204825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8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 unexpected outbound network connections from ML processes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92608" y="22677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3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bpftrace -e 'tracepoint:syscalls:sys_enter_connect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2608" y="2487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3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/comm == "python3"/ { printf("connection: %s\n", ntop(args-&gt;uservaddr)); }'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92608" y="270662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2608" y="29260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8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 checkpoint directory reads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92608" y="3145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3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bpftrace -e 'tracepoint:syscalls:sys_enter_openat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92608" y="33649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3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/str(args-&gt;filename) startswith "/checkpoints"/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2608" y="358444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3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printf("[%s] reads %s\n", comm, str(args-&gt;filename)); }'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01168" y="3931920"/>
            <a:ext cx="8741664" cy="877824"/>
          </a:xfrm>
          <a:prstGeom prst="rect">
            <a:avLst/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01168" y="3931920"/>
            <a:ext cx="54864" cy="877824"/>
          </a:xfrm>
          <a:prstGeom prst="rect">
            <a:avLst/>
          </a:prstGeom>
          <a:solidFill>
            <a:srgbClr val="1A6E42"/>
          </a:solidFill>
          <a:ln w="12700">
            <a:solidFill>
              <a:srgbClr val="1A6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29184" y="3968496"/>
            <a:ext cx="8522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 and Tetragon build on eBPF for production-grade security: Falco detects and alerts on suspicious kernel behavior in real time. Tetragon enforces syscall policies per process — blocking unauthorized CUDA ioctls, network calls, or checkpoint reads before they complete.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A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  |  SECURITY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201168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of AI workloads on HPC: 6 threat vectors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3F0EA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37160" y="492404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|  Erythix / Aureonis  |  HPC AI Observability and Security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01168" y="594360"/>
            <a:ext cx="8741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assets: model weights (IP), training data (sensitive), compute infrastructure (multi-tenant). HPC differs from classic datacenters: GPU requires privileged kernel access, opening unique attack surfaces.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" y="1097280"/>
            <a:ext cx="2852928" cy="1627632"/>
          </a:xfrm>
          <a:prstGeom prst="rect">
            <a:avLst/>
          </a:prstGeom>
          <a:solidFill>
            <a:srgbClr val="FDF2F0"/>
          </a:solidFill>
          <a:ln w="12700">
            <a:solidFill>
              <a:srgbClr val="E0A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01168" y="1097280"/>
            <a:ext cx="2852928" cy="237744"/>
          </a:xfrm>
          <a:prstGeom prst="rect">
            <a:avLst/>
          </a:prstGeom>
          <a:solidFill>
            <a:srgbClr val="B83828"/>
          </a:solidFill>
          <a:ln w="12700">
            <a:solidFill>
              <a:srgbClr val="B83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01168" y="109728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 Supply Chain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1371600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CUDA kernel in Python package. Exfiltrates weights during backward pass.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6032" y="1883664"/>
            <a:ext cx="2743200" cy="384048"/>
          </a:xfrm>
          <a:prstGeom prst="rect">
            <a:avLst/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92608" y="1901952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Private registry + hash all deps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118104" y="1097280"/>
            <a:ext cx="2852928" cy="1627632"/>
          </a:xfrm>
          <a:prstGeom prst="rect">
            <a:avLst/>
          </a:prstGeom>
          <a:solidFill>
            <a:srgbClr val="FDF2F0"/>
          </a:solidFill>
          <a:ln w="12700">
            <a:solidFill>
              <a:srgbClr val="E0A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118104" y="1097280"/>
            <a:ext cx="2852928" cy="237744"/>
          </a:xfrm>
          <a:prstGeom prst="rect">
            <a:avLst/>
          </a:prstGeom>
          <a:solidFill>
            <a:srgbClr val="B83828"/>
          </a:solidFill>
          <a:ln w="12700">
            <a:solidFill>
              <a:srgbClr val="B83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118104" y="109728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Poisoning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91256" y="1371600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Lustre files between integrity check and DataLoader read. Backdoor insertion.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172968" y="1883664"/>
            <a:ext cx="2743200" cy="384048"/>
          </a:xfrm>
          <a:prstGeom prst="rect">
            <a:avLst/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209544" y="1901952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SHA-256 per shard at read time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6035040" y="1097280"/>
            <a:ext cx="2852928" cy="1627632"/>
          </a:xfrm>
          <a:prstGeom prst="rect">
            <a:avLst/>
          </a:prstGeom>
          <a:solidFill>
            <a:srgbClr val="FDF8F0"/>
          </a:solidFill>
          <a:ln w="12700">
            <a:solidFill>
              <a:srgbClr val="E8C86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035040" y="1097280"/>
            <a:ext cx="2852928" cy="237744"/>
          </a:xfrm>
          <a:prstGeom prst="rect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035040" y="109728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RDMA Blind Spot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08192" y="1371600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memory read via RDMA. No firewall, IDS, or iptables sees this traffic.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89904" y="1883664"/>
            <a:ext cx="2743200" cy="384048"/>
          </a:xfrm>
          <a:prstGeom prst="rect">
            <a:avLst/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126480" y="1901952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IB anomaly metrics + behavioral baseline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01168" y="2816352"/>
            <a:ext cx="2852928" cy="1627632"/>
          </a:xfrm>
          <a:prstGeom prst="rect">
            <a:avLst/>
          </a:prstGeom>
          <a:solidFill>
            <a:srgbClr val="FDF8F0"/>
          </a:solidFill>
          <a:ln w="12700">
            <a:solidFill>
              <a:srgbClr val="E8C86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01168" y="2816352"/>
            <a:ext cx="2852928" cy="237744"/>
          </a:xfrm>
          <a:prstGeom prst="rect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01168" y="281635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Injection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4320" y="3090672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training: send crafted gradients to introduce backdoor in final model.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56032" y="3602736"/>
            <a:ext cx="2743200" cy="384048"/>
          </a:xfrm>
          <a:prstGeom prst="rect">
            <a:avLst/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92608" y="362102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Gradient norm distribution + KL divergence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118104" y="2816352"/>
            <a:ext cx="2852928" cy="1627632"/>
          </a:xfrm>
          <a:prstGeom prst="rect">
            <a:avLst/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118104" y="2816352"/>
            <a:ext cx="2852928" cy="237744"/>
          </a:xfrm>
          <a:prstGeom prst="rect">
            <a:avLst/>
          </a:prstGeom>
          <a:solidFill>
            <a:srgbClr val="A8243F"/>
          </a:solidFill>
          <a:ln w="12700">
            <a:solidFill>
              <a:srgbClr val="A824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118104" y="281635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Leakage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191256" y="3090672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not zeroed between SLURM jobs. Previous tenant weights readable.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172968" y="3602736"/>
            <a:ext cx="2743200" cy="384048"/>
          </a:xfrm>
          <a:prstGeom prst="rect">
            <a:avLst/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209544" y="362102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Pre-job GPU wipe + driver configuration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035040" y="2816352"/>
            <a:ext cx="2852928" cy="1627632"/>
          </a:xfrm>
          <a:prstGeom prst="rect">
            <a:avLst/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035040" y="2816352"/>
            <a:ext cx="2852928" cy="237744"/>
          </a:xfrm>
          <a:prstGeom prst="rect">
            <a:avLst/>
          </a:prstGeom>
          <a:solidFill>
            <a:srgbClr val="A8243F"/>
          </a:solidFill>
          <a:ln w="12700">
            <a:solidFill>
              <a:srgbClr val="A824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035040" y="281635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Escape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08192" y="3090672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CVE-2024-0132 in nvidia-container-toolkit. Escape to host, access all workloads.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089904" y="3602736"/>
            <a:ext cx="2743200" cy="384048"/>
          </a:xfrm>
          <a:prstGeom prst="rect">
            <a:avLst/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126480" y="362102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Falco rules + Tetragon syscall policy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A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  |  REFERENCE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201168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 tooling: the sovereign 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3F0EA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37160" y="492404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|  Erythix / Aureonis  |  HPC AI Observability and Security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64592" y="621792"/>
            <a:ext cx="2157984" cy="1920240"/>
          </a:xfrm>
          <a:prstGeom prst="rect">
            <a:avLst/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64592" y="621792"/>
            <a:ext cx="2157984" cy="256032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19456" y="62179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" y="932688"/>
            <a:ext cx="20482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B0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19456" y="932688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37744" y="1152144"/>
            <a:ext cx="2011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 time-series DB, Prometheus-compatible. Handles hundreds of millions of active series with 5-10x lower memory than native Prometheus.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04872" y="621792"/>
            <a:ext cx="2157984" cy="1920240"/>
          </a:xfrm>
          <a:prstGeom prst="rect">
            <a:avLst/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404872" y="621792"/>
            <a:ext cx="2157984" cy="256032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459736" y="62179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dcgm-exporter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59736" y="932688"/>
            <a:ext cx="20482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B0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459736" y="932688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METRICS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478024" y="1152144"/>
            <a:ext cx="2011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GPU metrics via DCGM API: SM utilization, HBM bandwidth, ECC errors, NVLink throughput, power. Mandatory entry point.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45152" y="621792"/>
            <a:ext cx="2157984" cy="1920240"/>
          </a:xfrm>
          <a:prstGeom prst="rect">
            <a:avLst/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645152" y="621792"/>
            <a:ext cx="2157984" cy="256032"/>
          </a:xfrm>
          <a:prstGeom prst="rect">
            <a:avLst/>
          </a:prstGeom>
          <a:solidFill>
            <a:srgbClr val="1F5FA0"/>
          </a:solidFill>
          <a:ln w="12700">
            <a:solidFill>
              <a:srgbClr val="1F5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700016" y="62179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0016" y="932688"/>
            <a:ext cx="20482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0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700016" y="932688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+ LOGS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718304" y="1152144"/>
            <a:ext cx="2011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standard for instrumentation. Python SDK for PyTorch, OTLP protocol, Collector routing to any backend.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885432" y="621792"/>
            <a:ext cx="2157984" cy="1920240"/>
          </a:xfrm>
          <a:prstGeom prst="rect">
            <a:avLst/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885432" y="621792"/>
            <a:ext cx="2157984" cy="256032"/>
          </a:xfrm>
          <a:prstGeom prst="rect">
            <a:avLst/>
          </a:prstGeom>
          <a:solidFill>
            <a:srgbClr val="1A6E42"/>
          </a:solidFill>
          <a:ln w="12700">
            <a:solidFill>
              <a:srgbClr val="1A6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940296" y="62179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40296" y="932688"/>
            <a:ext cx="20482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80C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940296" y="932688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6958584" y="1152144"/>
            <a:ext cx="2011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dashboard. Natively connects to VictoriaMetrics, Loki, Tempo. Correlated views of metrics, logs, and traces.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64592" y="2615184"/>
            <a:ext cx="2157984" cy="1920240"/>
          </a:xfrm>
          <a:prstGeom prst="rect">
            <a:avLst/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164592" y="2615184"/>
            <a:ext cx="2157984" cy="256032"/>
          </a:xfrm>
          <a:prstGeom prst="rect">
            <a:avLst/>
          </a:prstGeom>
          <a:solidFill>
            <a:srgbClr val="1F5FA0"/>
          </a:solidFill>
          <a:ln w="12700">
            <a:solidFill>
              <a:srgbClr val="1F5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19456" y="261518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19456" y="2926080"/>
            <a:ext cx="20482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0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19456" y="2926080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237744" y="3145536"/>
            <a:ext cx="2011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aggregation indexing labels only. LogQL queries. Very efficient for SLURM, NCCL, and Python framework logs.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404872" y="2615184"/>
            <a:ext cx="2157984" cy="1920240"/>
          </a:xfrm>
          <a:prstGeom prst="rect">
            <a:avLst/>
          </a:prstGeom>
          <a:solidFill>
            <a:srgbClr val="FDF2F0"/>
          </a:solidFill>
          <a:ln w="12700">
            <a:solidFill>
              <a:srgbClr val="E0A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2404872" y="2615184"/>
            <a:ext cx="2157984" cy="256032"/>
          </a:xfrm>
          <a:prstGeom prst="rect">
            <a:avLst/>
          </a:prstGeom>
          <a:solidFill>
            <a:srgbClr val="B83828"/>
          </a:solidFill>
          <a:ln w="12700">
            <a:solidFill>
              <a:srgbClr val="B83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2459736" y="261518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59736" y="2926080"/>
            <a:ext cx="20482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A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2459736" y="2926080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B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SECURITY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2478024" y="3145536"/>
            <a:ext cx="2011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eBPF-based behavioral anomaly detection. Detects suspicious file access, unexpected connections, binary modifications in real time.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45152" y="2615184"/>
            <a:ext cx="2157984" cy="1920240"/>
          </a:xfrm>
          <a:prstGeom prst="rect">
            <a:avLst/>
          </a:prstGeom>
          <a:solidFill>
            <a:srgbClr val="FDF2F0"/>
          </a:solidFill>
          <a:ln w="12700">
            <a:solidFill>
              <a:srgbClr val="E0A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4645152" y="2615184"/>
            <a:ext cx="2157984" cy="256032"/>
          </a:xfrm>
          <a:prstGeom prst="rect">
            <a:avLst/>
          </a:prstGeom>
          <a:solidFill>
            <a:srgbClr val="B83828"/>
          </a:solidFill>
          <a:ln w="12700">
            <a:solidFill>
              <a:srgbClr val="B83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700016" y="261518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Tetragon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0016" y="2926080"/>
            <a:ext cx="20482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A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700016" y="2926080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B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SECURITY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718304" y="3145536"/>
            <a:ext cx="2011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Cilium eBPF security. Enforces per-process syscall policies. Blocks unauthorized operations before they complete.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885432" y="2615184"/>
            <a:ext cx="2157984" cy="1920240"/>
          </a:xfrm>
          <a:prstGeom prst="rect">
            <a:avLst/>
          </a:prstGeom>
          <a:solidFill>
            <a:srgbClr val="F3F0EA"/>
          </a:solidFill>
          <a:ln w="12700">
            <a:solidFill>
              <a:srgbClr val="C8C2B8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6885432" y="2615184"/>
            <a:ext cx="2157984" cy="256032"/>
          </a:xfrm>
          <a:prstGeom prst="rect">
            <a:avLst/>
          </a:prstGeom>
          <a:solidFill>
            <a:srgbClr val="3E3A36"/>
          </a:solidFill>
          <a:ln w="12700">
            <a:solidFill>
              <a:srgbClr val="3E3A3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6940296" y="261518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40296" y="2926080"/>
            <a:ext cx="20482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2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6940296" y="2926080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958584" y="3145536"/>
            <a:ext cx="2011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HPC scheduler for 20 years. Manages queues, GPU allocation, job isolation. Prolog/epilog for instrumentation injection.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A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  |  REFERENCE ARCHITECTURE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92024" y="292608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reference architecture: zero vendor dependency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3F0EA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37160" y="492404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|  Erythix / Aureonis  |  HPC AI Observability and Security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201168" y="640080"/>
            <a:ext cx="8741664" cy="987552"/>
          </a:xfrm>
          <a:prstGeom prst="rect">
            <a:avLst/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01168" y="640080"/>
            <a:ext cx="1280160" cy="987552"/>
          </a:xfrm>
          <a:prstGeom prst="rect">
            <a:avLst/>
          </a:prstGeom>
          <a:solidFill>
            <a:srgbClr val="1F5FA0"/>
          </a:solidFill>
          <a:ln w="12700">
            <a:solidFill>
              <a:srgbClr val="1F5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01168" y="640080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node)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91056" y="640080"/>
            <a:ext cx="7205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dcgm-exporter  +  node-exporter  +  OTel Collector  +  Falco / Tetragon  +  slurm-exporter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rot="10800000">
            <a:off x="4498848" y="457200"/>
            <a:ext cx="146304" cy="146304"/>
          </a:xfrm>
          <a:prstGeom prst="triangle">
            <a:avLst/>
          </a:prstGeom>
          <a:solidFill>
            <a:srgbClr val="C8C2B8"/>
          </a:solidFill>
          <a:ln w="12700">
            <a:solidFill>
              <a:srgbClr val="C8C2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01168" y="1828800"/>
            <a:ext cx="8741664" cy="987552"/>
          </a:xfrm>
          <a:prstGeom prst="rect">
            <a:avLst/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01168" y="1828800"/>
            <a:ext cx="1280160" cy="987552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01168" y="1828800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(central)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91056" y="1828800"/>
            <a:ext cx="7205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  +  Loki  +  Tempo  +  AlertManager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10800000">
            <a:off x="4498848" y="1645920"/>
            <a:ext cx="146304" cy="146304"/>
          </a:xfrm>
          <a:prstGeom prst="triangle">
            <a:avLst/>
          </a:prstGeom>
          <a:solidFill>
            <a:srgbClr val="C8C2B8"/>
          </a:solidFill>
          <a:ln w="12700">
            <a:solidFill>
              <a:srgbClr val="C8C2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01168" y="3017520"/>
            <a:ext cx="8741664" cy="987552"/>
          </a:xfrm>
          <a:prstGeom prst="rect">
            <a:avLst/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01168" y="3017520"/>
            <a:ext cx="1280160" cy="987552"/>
          </a:xfrm>
          <a:prstGeom prst="rect">
            <a:avLst/>
          </a:prstGeom>
          <a:solidFill>
            <a:srgbClr val="1A6E42"/>
          </a:solidFill>
          <a:ln w="12700">
            <a:solidFill>
              <a:srgbClr val="1A6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01168" y="3017520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91056" y="3017520"/>
            <a:ext cx="7205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dashboards  +  AlertManager routing  +  Grafana OnCall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" y="4206240"/>
            <a:ext cx="8741664" cy="640080"/>
          </a:xfrm>
          <a:prstGeom prst="rect">
            <a:avLst/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01168" y="4206240"/>
            <a:ext cx="54864" cy="640080"/>
          </a:xfrm>
          <a:prstGeom prst="rect">
            <a:avLst/>
          </a:prstGeom>
          <a:solidFill>
            <a:srgbClr val="1A6E42"/>
          </a:solidFill>
          <a:ln w="12700">
            <a:solidFill>
              <a:srgbClr val="1A6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10896" y="4242816"/>
            <a:ext cx="8577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vendor lock-in. All tools are open source, self-hosted, and auditable. Data never leaves your infrastructure. Full digital sovereignty.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1716</Words>
  <Application>Microsoft Macintosh PowerPoint</Application>
  <PresentationFormat>Affichage à l'écran (16:9)</PresentationFormat>
  <Paragraphs>195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HPC AI Observability and Security</dc:title>
  <dc:subject>PptxGenJS Presentation</dc:subject>
  <dc:creator>Samuel Desseaux  |  Erythix / Aureonis</dc:creator>
  <cp:lastModifiedBy>samuel desseaux</cp:lastModifiedBy>
  <cp:revision>2</cp:revision>
  <dcterms:created xsi:type="dcterms:W3CDTF">2026-03-07T13:46:31Z</dcterms:created>
  <dcterms:modified xsi:type="dcterms:W3CDTF">2026-03-07T13:50:31Z</dcterms:modified>
</cp:coreProperties>
</file>