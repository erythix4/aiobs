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7D1C35"/>
        </a:solidFill>
      </p:bgPr>
    </p:bg>
    <p:spTree>
      <p:nvGrpSpPr>
        <p:cNvPr id="1" name=""/>
        <p:cNvGrpSpPr/>
        <p:nvPr/>
      </p:nvGrpSpPr>
      <p:grpSpPr>
        <a:xfrm>
          <a:off x="0" y="0"/>
          <a:ext cx="0" cy="0"/>
          <a:chOff x="0" y="0"/>
          <a:chExt cx="0" cy="0"/>
        </a:xfrm>
      </p:grpSpPr>
      <p:sp>
        <p:nvSpPr>
          <p:cNvPr id="2" name="Shape 0"/>
          <p:cNvSpPr/>
          <p:nvPr/>
        </p:nvSpPr>
        <p:spPr>
          <a:xfrm>
            <a:off x="0" y="274320"/>
            <a:ext cx="9144000" cy="0"/>
          </a:xfrm>
          <a:prstGeom prst="line">
            <a:avLst/>
          </a:prstGeom>
          <a:noFill/>
          <a:ln w="12700">
            <a:solidFill>
              <a:srgbClr val="8B2040"/>
            </a:solidFill>
            <a:prstDash val="solid"/>
          </a:ln>
        </p:spPr>
      </p:sp>
      <p:sp>
        <p:nvSpPr>
          <p:cNvPr id="3" name="Shape 1"/>
          <p:cNvSpPr/>
          <p:nvPr/>
        </p:nvSpPr>
        <p:spPr>
          <a:xfrm>
            <a:off x="0" y="548640"/>
            <a:ext cx="9144000" cy="0"/>
          </a:xfrm>
          <a:prstGeom prst="line">
            <a:avLst/>
          </a:prstGeom>
          <a:noFill/>
          <a:ln w="12700">
            <a:solidFill>
              <a:srgbClr val="8B2040"/>
            </a:solidFill>
            <a:prstDash val="solid"/>
          </a:ln>
        </p:spPr>
      </p:sp>
      <p:sp>
        <p:nvSpPr>
          <p:cNvPr id="4" name="Shape 2"/>
          <p:cNvSpPr/>
          <p:nvPr/>
        </p:nvSpPr>
        <p:spPr>
          <a:xfrm>
            <a:off x="0" y="822960"/>
            <a:ext cx="9144000" cy="0"/>
          </a:xfrm>
          <a:prstGeom prst="line">
            <a:avLst/>
          </a:prstGeom>
          <a:noFill/>
          <a:ln w="12700">
            <a:solidFill>
              <a:srgbClr val="8B2040"/>
            </a:solidFill>
            <a:prstDash val="solid"/>
          </a:ln>
        </p:spPr>
      </p:sp>
      <p:sp>
        <p:nvSpPr>
          <p:cNvPr id="5" name="Shape 3"/>
          <p:cNvSpPr/>
          <p:nvPr/>
        </p:nvSpPr>
        <p:spPr>
          <a:xfrm>
            <a:off x="0" y="1097280"/>
            <a:ext cx="9144000" cy="0"/>
          </a:xfrm>
          <a:prstGeom prst="line">
            <a:avLst/>
          </a:prstGeom>
          <a:noFill/>
          <a:ln w="12700">
            <a:solidFill>
              <a:srgbClr val="8B2040"/>
            </a:solidFill>
            <a:prstDash val="solid"/>
          </a:ln>
        </p:spPr>
      </p:sp>
      <p:sp>
        <p:nvSpPr>
          <p:cNvPr id="6" name="Shape 4"/>
          <p:cNvSpPr/>
          <p:nvPr/>
        </p:nvSpPr>
        <p:spPr>
          <a:xfrm>
            <a:off x="0" y="1371600"/>
            <a:ext cx="9144000" cy="0"/>
          </a:xfrm>
          <a:prstGeom prst="line">
            <a:avLst/>
          </a:prstGeom>
          <a:noFill/>
          <a:ln w="12700">
            <a:solidFill>
              <a:srgbClr val="8B2040"/>
            </a:solidFill>
            <a:prstDash val="solid"/>
          </a:ln>
        </p:spPr>
      </p:sp>
      <p:sp>
        <p:nvSpPr>
          <p:cNvPr id="7" name="Shape 5"/>
          <p:cNvSpPr/>
          <p:nvPr/>
        </p:nvSpPr>
        <p:spPr>
          <a:xfrm>
            <a:off x="0" y="1645920"/>
            <a:ext cx="9144000" cy="0"/>
          </a:xfrm>
          <a:prstGeom prst="line">
            <a:avLst/>
          </a:prstGeom>
          <a:noFill/>
          <a:ln w="12700">
            <a:solidFill>
              <a:srgbClr val="8B2040"/>
            </a:solidFill>
            <a:prstDash val="solid"/>
          </a:ln>
        </p:spPr>
      </p:sp>
      <p:sp>
        <p:nvSpPr>
          <p:cNvPr id="8" name="Shape 6"/>
          <p:cNvSpPr/>
          <p:nvPr/>
        </p:nvSpPr>
        <p:spPr>
          <a:xfrm>
            <a:off x="0" y="1920240"/>
            <a:ext cx="9144000" cy="0"/>
          </a:xfrm>
          <a:prstGeom prst="line">
            <a:avLst/>
          </a:prstGeom>
          <a:noFill/>
          <a:ln w="12700">
            <a:solidFill>
              <a:srgbClr val="8B2040"/>
            </a:solidFill>
            <a:prstDash val="solid"/>
          </a:ln>
        </p:spPr>
      </p:sp>
      <p:sp>
        <p:nvSpPr>
          <p:cNvPr id="9" name="Shape 7"/>
          <p:cNvSpPr/>
          <p:nvPr/>
        </p:nvSpPr>
        <p:spPr>
          <a:xfrm>
            <a:off x="0" y="2194560"/>
            <a:ext cx="9144000" cy="0"/>
          </a:xfrm>
          <a:prstGeom prst="line">
            <a:avLst/>
          </a:prstGeom>
          <a:noFill/>
          <a:ln w="12700">
            <a:solidFill>
              <a:srgbClr val="8B2040"/>
            </a:solidFill>
            <a:prstDash val="solid"/>
          </a:ln>
        </p:spPr>
      </p:sp>
      <p:sp>
        <p:nvSpPr>
          <p:cNvPr id="10" name="Text 8"/>
          <p:cNvSpPr/>
          <p:nvPr/>
        </p:nvSpPr>
        <p:spPr>
          <a:xfrm>
            <a:off x="457200" y="640080"/>
            <a:ext cx="6400800" cy="822960"/>
          </a:xfrm>
          <a:prstGeom prst="rect">
            <a:avLst/>
          </a:prstGeom>
          <a:noFill/>
          <a:ln/>
        </p:spPr>
        <p:txBody>
          <a:bodyPr wrap="square" lIns="0" tIns="0" rIns="0" bIns="0" rtlCol="0" anchor="ctr"/>
          <a:lstStyle/>
          <a:p>
            <a:pPr indent="0" marL="0">
              <a:buNone/>
            </a:pPr>
            <a:r>
              <a:rPr lang="en-US" sz="3600" b="1" dirty="0">
                <a:solidFill>
                  <a:srgbClr val="FFFFFF"/>
                </a:solidFill>
                <a:latin typeface="Georgia" pitchFamily="34" charset="0"/>
                <a:ea typeface="Georgia" pitchFamily="34" charset="-122"/>
                <a:cs typeface="Georgia" pitchFamily="34" charset="-120"/>
              </a:rPr>
              <a:t>HPC IA : Observabilite</a:t>
            </a:r>
            <a:endParaRPr lang="en-US" sz="3600" dirty="0"/>
          </a:p>
        </p:txBody>
      </p:sp>
      <p:sp>
        <p:nvSpPr>
          <p:cNvPr id="11" name="Text 9"/>
          <p:cNvSpPr/>
          <p:nvPr/>
        </p:nvSpPr>
        <p:spPr>
          <a:xfrm>
            <a:off x="457200" y="1371600"/>
            <a:ext cx="6400800" cy="640080"/>
          </a:xfrm>
          <a:prstGeom prst="rect">
            <a:avLst/>
          </a:prstGeom>
          <a:noFill/>
          <a:ln/>
        </p:spPr>
        <p:txBody>
          <a:bodyPr wrap="square" lIns="0" tIns="0" rIns="0" bIns="0" rtlCol="0" anchor="ctr"/>
          <a:lstStyle/>
          <a:p>
            <a:pPr indent="0" marL="0">
              <a:buNone/>
            </a:pPr>
            <a:r>
              <a:rPr lang="en-US" sz="3600" b="1" dirty="0">
                <a:solidFill>
                  <a:srgbClr val="FFFFFF"/>
                </a:solidFill>
                <a:latin typeface="Georgia" pitchFamily="34" charset="0"/>
                <a:ea typeface="Georgia" pitchFamily="34" charset="-122"/>
                <a:cs typeface="Georgia" pitchFamily="34" charset="-120"/>
              </a:rPr>
              <a:t>et Securite</a:t>
            </a:r>
            <a:endParaRPr lang="en-US" sz="3600" dirty="0"/>
          </a:p>
        </p:txBody>
      </p:sp>
      <p:sp>
        <p:nvSpPr>
          <p:cNvPr id="12" name="Text 10"/>
          <p:cNvSpPr/>
          <p:nvPr/>
        </p:nvSpPr>
        <p:spPr>
          <a:xfrm>
            <a:off x="457200" y="2103120"/>
            <a:ext cx="7315200" cy="274320"/>
          </a:xfrm>
          <a:prstGeom prst="rect">
            <a:avLst/>
          </a:prstGeom>
          <a:noFill/>
          <a:ln/>
        </p:spPr>
        <p:txBody>
          <a:bodyPr wrap="square" lIns="0" tIns="0" rIns="0" bIns="0" rtlCol="0" anchor="ctr"/>
          <a:lstStyle/>
          <a:p>
            <a:pPr indent="0" marL="0">
              <a:buNone/>
            </a:pPr>
            <a:r>
              <a:rPr lang="en-US" sz="1100" dirty="0">
                <a:solidFill>
                  <a:srgbClr val="F0C8D0"/>
                </a:solidFill>
                <a:latin typeface="Calibri" pitchFamily="34" charset="0"/>
                <a:ea typeface="Calibri" pitchFamily="34" charset="-122"/>
                <a:cs typeface="Calibri" pitchFamily="34" charset="-120"/>
              </a:rPr>
              <a:t>Reference Architecture  |  Stack Souveraine Open Source</a:t>
            </a:r>
            <a:endParaRPr lang="en-US" sz="1100" dirty="0"/>
          </a:p>
        </p:txBody>
      </p:sp>
      <p:sp>
        <p:nvSpPr>
          <p:cNvPr id="13" name="Text 11"/>
          <p:cNvSpPr/>
          <p:nvPr/>
        </p:nvSpPr>
        <p:spPr>
          <a:xfrm>
            <a:off x="457200" y="2468880"/>
            <a:ext cx="7315200" cy="228600"/>
          </a:xfrm>
          <a:prstGeom prst="rect">
            <a:avLst/>
          </a:prstGeom>
          <a:noFill/>
          <a:ln/>
        </p:spPr>
        <p:txBody>
          <a:bodyPr wrap="square" lIns="0" tIns="0" rIns="0" bIns="0" rtlCol="0" anchor="ctr"/>
          <a:lstStyle/>
          <a:p>
            <a:pPr indent="0" marL="0">
              <a:buNone/>
            </a:pPr>
            <a:r>
              <a:rPr lang="en-US" sz="950" dirty="0">
                <a:solidFill>
                  <a:srgbClr val="E0A8B8"/>
                </a:solidFill>
                <a:latin typeface="Calibri" pitchFamily="34" charset="0"/>
                <a:ea typeface="Calibri" pitchFamily="34" charset="-122"/>
                <a:cs typeface="Calibri" pitchFamily="34" charset="-120"/>
              </a:rPr>
              <a:t>Samuel Desseaux  |  Erythix / Aureonis</a:t>
            </a:r>
            <a:endParaRPr lang="en-US" sz="950" dirty="0"/>
          </a:p>
        </p:txBody>
      </p:sp>
      <p:sp>
        <p:nvSpPr>
          <p:cNvPr id="14" name="Shape 12"/>
          <p:cNvSpPr/>
          <p:nvPr/>
        </p:nvSpPr>
        <p:spPr>
          <a:xfrm>
            <a:off x="411480" y="3017520"/>
            <a:ext cx="2011680" cy="1645920"/>
          </a:xfrm>
          <a:prstGeom prst="rect">
            <a:avLst/>
          </a:prstGeom>
          <a:solidFill>
            <a:srgbClr val="8B2040"/>
          </a:solidFill>
          <a:ln w="12700">
            <a:solidFill>
              <a:srgbClr val="9B2545"/>
            </a:solidFill>
            <a:prstDash val="solid"/>
          </a:ln>
        </p:spPr>
      </p:sp>
      <p:sp>
        <p:nvSpPr>
          <p:cNvPr id="15" name="Shape 13"/>
          <p:cNvSpPr/>
          <p:nvPr/>
        </p:nvSpPr>
        <p:spPr>
          <a:xfrm>
            <a:off x="411480" y="3017520"/>
            <a:ext cx="2011680" cy="274320"/>
          </a:xfrm>
          <a:prstGeom prst="rect">
            <a:avLst/>
          </a:prstGeom>
          <a:solidFill>
            <a:srgbClr val="6A1028"/>
          </a:solidFill>
          <a:ln w="12700">
            <a:solidFill>
              <a:srgbClr val="6A1028"/>
            </a:solidFill>
            <a:prstDash val="solid"/>
          </a:ln>
        </p:spPr>
      </p:sp>
      <p:sp>
        <p:nvSpPr>
          <p:cNvPr id="16" name="Text 14"/>
          <p:cNvSpPr/>
          <p:nvPr/>
        </p:nvSpPr>
        <p:spPr>
          <a:xfrm>
            <a:off x="411480" y="3017520"/>
            <a:ext cx="20116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7" name="Text 15"/>
          <p:cNvSpPr/>
          <p:nvPr/>
        </p:nvSpPr>
        <p:spPr>
          <a:xfrm>
            <a:off x="484632" y="3364992"/>
            <a:ext cx="1865376" cy="347472"/>
          </a:xfrm>
          <a:prstGeom prst="rect">
            <a:avLst/>
          </a:prstGeom>
          <a:noFill/>
          <a:ln/>
        </p:spPr>
        <p:txBody>
          <a:bodyPr wrap="square" lIns="0" tIns="0" rIns="0" bIns="0"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Architecture Cluster HPC</a:t>
            </a:r>
            <a:endParaRPr lang="en-US" sz="850" dirty="0"/>
          </a:p>
        </p:txBody>
      </p:sp>
      <p:sp>
        <p:nvSpPr>
          <p:cNvPr id="18" name="Text 16"/>
          <p:cNvSpPr/>
          <p:nvPr/>
        </p:nvSpPr>
        <p:spPr>
          <a:xfrm>
            <a:off x="484632" y="3767328"/>
            <a:ext cx="1865376" cy="804672"/>
          </a:xfrm>
          <a:prstGeom prst="rect">
            <a:avLst/>
          </a:prstGeom>
          <a:noFill/>
          <a:ln/>
        </p:spPr>
        <p:txBody>
          <a:bodyPr wrap="square" lIns="0" tIns="0" rIns="0" bIns="0" rtlCol="0" anchor="ctr"/>
          <a:lstStyle/>
          <a:p>
            <a:pPr indent="0" marL="0">
              <a:buNone/>
            </a:pPr>
            <a:r>
              <a:rPr lang="en-US" sz="700" dirty="0">
                <a:solidFill>
                  <a:srgbClr val="F0D0D8"/>
                </a:solidFill>
                <a:latin typeface="Calibri" pitchFamily="34" charset="0"/>
                <a:ea typeface="Calibri" pitchFamily="34" charset="-122"/>
                <a:cs typeface="Calibri" pitchFamily="34" charset="-120"/>
              </a:rPr>
              <a:t>Topologie physique : noeuds, NVLink, InfiniBand, stockage, ordonnanceur</a:t>
            </a:r>
            <a:endParaRPr lang="en-US" sz="700" dirty="0"/>
          </a:p>
        </p:txBody>
      </p:sp>
      <p:sp>
        <p:nvSpPr>
          <p:cNvPr id="19" name="Shape 17"/>
          <p:cNvSpPr/>
          <p:nvPr/>
        </p:nvSpPr>
        <p:spPr>
          <a:xfrm>
            <a:off x="2587752" y="3017520"/>
            <a:ext cx="2011680" cy="1645920"/>
          </a:xfrm>
          <a:prstGeom prst="rect">
            <a:avLst/>
          </a:prstGeom>
          <a:solidFill>
            <a:srgbClr val="8B2040"/>
          </a:solidFill>
          <a:ln w="12700">
            <a:solidFill>
              <a:srgbClr val="9B2545"/>
            </a:solidFill>
            <a:prstDash val="solid"/>
          </a:ln>
        </p:spPr>
      </p:sp>
      <p:sp>
        <p:nvSpPr>
          <p:cNvPr id="20" name="Shape 18"/>
          <p:cNvSpPr/>
          <p:nvPr/>
        </p:nvSpPr>
        <p:spPr>
          <a:xfrm>
            <a:off x="2587752" y="3017520"/>
            <a:ext cx="2011680" cy="274320"/>
          </a:xfrm>
          <a:prstGeom prst="rect">
            <a:avLst/>
          </a:prstGeom>
          <a:solidFill>
            <a:srgbClr val="6A1028"/>
          </a:solidFill>
          <a:ln w="12700">
            <a:solidFill>
              <a:srgbClr val="6A1028"/>
            </a:solidFill>
            <a:prstDash val="solid"/>
          </a:ln>
        </p:spPr>
      </p:sp>
      <p:sp>
        <p:nvSpPr>
          <p:cNvPr id="21" name="Text 19"/>
          <p:cNvSpPr/>
          <p:nvPr/>
        </p:nvSpPr>
        <p:spPr>
          <a:xfrm>
            <a:off x="2587752" y="3017520"/>
            <a:ext cx="20116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22" name="Text 20"/>
          <p:cNvSpPr/>
          <p:nvPr/>
        </p:nvSpPr>
        <p:spPr>
          <a:xfrm>
            <a:off x="2660904" y="3364992"/>
            <a:ext cx="1865376" cy="347472"/>
          </a:xfrm>
          <a:prstGeom prst="rect">
            <a:avLst/>
          </a:prstGeom>
          <a:noFill/>
          <a:ln/>
        </p:spPr>
        <p:txBody>
          <a:bodyPr wrap="square" lIns="0" tIns="0" rIns="0" bIns="0"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Timeline d'un Step</a:t>
            </a:r>
            <a:endParaRPr lang="en-US" sz="850" dirty="0"/>
          </a:p>
        </p:txBody>
      </p:sp>
      <p:sp>
        <p:nvSpPr>
          <p:cNvPr id="23" name="Text 21"/>
          <p:cNvSpPr/>
          <p:nvPr/>
        </p:nvSpPr>
        <p:spPr>
          <a:xfrm>
            <a:off x="2660904" y="3767328"/>
            <a:ext cx="1865376" cy="804672"/>
          </a:xfrm>
          <a:prstGeom prst="rect">
            <a:avLst/>
          </a:prstGeom>
          <a:noFill/>
          <a:ln/>
        </p:spPr>
        <p:txBody>
          <a:bodyPr wrap="square" lIns="0" tIns="0" rIns="0" bIns="0" rtlCol="0" anchor="ctr"/>
          <a:lstStyle/>
          <a:p>
            <a:pPr indent="0" marL="0">
              <a:buNone/>
            </a:pPr>
            <a:r>
              <a:rPr lang="en-US" sz="700" dirty="0">
                <a:solidFill>
                  <a:srgbClr val="F0D0D8"/>
                </a:solidFill>
                <a:latin typeface="Calibri" pitchFamily="34" charset="0"/>
                <a:ea typeface="Calibri" pitchFamily="34" charset="-122"/>
                <a:cs typeface="Calibri" pitchFamily="34" charset="-120"/>
              </a:rPr>
              <a:t>DataLoad, forward, backward, AllReduce — ce qui se passe vraiment</a:t>
            </a:r>
            <a:endParaRPr lang="en-US" sz="700" dirty="0"/>
          </a:p>
        </p:txBody>
      </p:sp>
      <p:sp>
        <p:nvSpPr>
          <p:cNvPr id="24" name="Shape 22"/>
          <p:cNvSpPr/>
          <p:nvPr/>
        </p:nvSpPr>
        <p:spPr>
          <a:xfrm>
            <a:off x="4764024" y="3017520"/>
            <a:ext cx="2011680" cy="1645920"/>
          </a:xfrm>
          <a:prstGeom prst="rect">
            <a:avLst/>
          </a:prstGeom>
          <a:solidFill>
            <a:srgbClr val="8B2040"/>
          </a:solidFill>
          <a:ln w="12700">
            <a:solidFill>
              <a:srgbClr val="9B2545"/>
            </a:solidFill>
            <a:prstDash val="solid"/>
          </a:ln>
        </p:spPr>
      </p:sp>
      <p:sp>
        <p:nvSpPr>
          <p:cNvPr id="25" name="Shape 23"/>
          <p:cNvSpPr/>
          <p:nvPr/>
        </p:nvSpPr>
        <p:spPr>
          <a:xfrm>
            <a:off x="4764024" y="3017520"/>
            <a:ext cx="2011680" cy="274320"/>
          </a:xfrm>
          <a:prstGeom prst="rect">
            <a:avLst/>
          </a:prstGeom>
          <a:solidFill>
            <a:srgbClr val="6A1028"/>
          </a:solidFill>
          <a:ln w="12700">
            <a:solidFill>
              <a:srgbClr val="6A1028"/>
            </a:solidFill>
            <a:prstDash val="solid"/>
          </a:ln>
        </p:spPr>
      </p:sp>
      <p:sp>
        <p:nvSpPr>
          <p:cNvPr id="26" name="Text 24"/>
          <p:cNvSpPr/>
          <p:nvPr/>
        </p:nvSpPr>
        <p:spPr>
          <a:xfrm>
            <a:off x="4764024" y="3017520"/>
            <a:ext cx="20116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27" name="Text 25"/>
          <p:cNvSpPr/>
          <p:nvPr/>
        </p:nvSpPr>
        <p:spPr>
          <a:xfrm>
            <a:off x="4837176" y="3364992"/>
            <a:ext cx="1865376" cy="347472"/>
          </a:xfrm>
          <a:prstGeom prst="rect">
            <a:avLst/>
          </a:prstGeom>
          <a:noFill/>
          <a:ln/>
        </p:spPr>
        <p:txBody>
          <a:bodyPr wrap="square" lIns="0" tIns="0" rIns="0" bIns="0"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Pile d'Observabilite</a:t>
            </a:r>
            <a:endParaRPr lang="en-US" sz="850" dirty="0"/>
          </a:p>
        </p:txBody>
      </p:sp>
      <p:sp>
        <p:nvSpPr>
          <p:cNvPr id="28" name="Text 26"/>
          <p:cNvSpPr/>
          <p:nvPr/>
        </p:nvSpPr>
        <p:spPr>
          <a:xfrm>
            <a:off x="4837176" y="3767328"/>
            <a:ext cx="1865376" cy="804672"/>
          </a:xfrm>
          <a:prstGeom prst="rect">
            <a:avLst/>
          </a:prstGeom>
          <a:noFill/>
          <a:ln/>
        </p:spPr>
        <p:txBody>
          <a:bodyPr wrap="square" lIns="0" tIns="0" rIns="0" bIns="0" rtlCol="0" anchor="ctr"/>
          <a:lstStyle/>
          <a:p>
            <a:pPr indent="0" marL="0">
              <a:buNone/>
            </a:pPr>
            <a:r>
              <a:rPr lang="en-US" sz="700" dirty="0">
                <a:solidFill>
                  <a:srgbClr val="F0D0D8"/>
                </a:solidFill>
                <a:latin typeface="Calibri" pitchFamily="34" charset="0"/>
                <a:ea typeface="Calibri" pitchFamily="34" charset="-122"/>
                <a:cs typeface="Calibri" pitchFamily="34" charset="-120"/>
              </a:rPr>
              <a:t>Collecte, stockage, visualisation — pipeline open source souverain</a:t>
            </a:r>
            <a:endParaRPr lang="en-US" sz="700" dirty="0"/>
          </a:p>
        </p:txBody>
      </p:sp>
      <p:sp>
        <p:nvSpPr>
          <p:cNvPr id="29" name="Shape 27"/>
          <p:cNvSpPr/>
          <p:nvPr/>
        </p:nvSpPr>
        <p:spPr>
          <a:xfrm>
            <a:off x="6940296" y="3017520"/>
            <a:ext cx="2011680" cy="1645920"/>
          </a:xfrm>
          <a:prstGeom prst="rect">
            <a:avLst/>
          </a:prstGeom>
          <a:solidFill>
            <a:srgbClr val="8B2040"/>
          </a:solidFill>
          <a:ln w="12700">
            <a:solidFill>
              <a:srgbClr val="9B2545"/>
            </a:solidFill>
            <a:prstDash val="solid"/>
          </a:ln>
        </p:spPr>
      </p:sp>
      <p:sp>
        <p:nvSpPr>
          <p:cNvPr id="30" name="Shape 28"/>
          <p:cNvSpPr/>
          <p:nvPr/>
        </p:nvSpPr>
        <p:spPr>
          <a:xfrm>
            <a:off x="6940296" y="3017520"/>
            <a:ext cx="2011680" cy="274320"/>
          </a:xfrm>
          <a:prstGeom prst="rect">
            <a:avLst/>
          </a:prstGeom>
          <a:solidFill>
            <a:srgbClr val="6A1028"/>
          </a:solidFill>
          <a:ln w="12700">
            <a:solidFill>
              <a:srgbClr val="6A1028"/>
            </a:solidFill>
            <a:prstDash val="solid"/>
          </a:ln>
        </p:spPr>
      </p:sp>
      <p:sp>
        <p:nvSpPr>
          <p:cNvPr id="31" name="Text 29"/>
          <p:cNvSpPr/>
          <p:nvPr/>
        </p:nvSpPr>
        <p:spPr>
          <a:xfrm>
            <a:off x="6940296" y="3017520"/>
            <a:ext cx="20116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32" name="Text 30"/>
          <p:cNvSpPr/>
          <p:nvPr/>
        </p:nvSpPr>
        <p:spPr>
          <a:xfrm>
            <a:off x="7013448" y="3364992"/>
            <a:ext cx="1865376" cy="347472"/>
          </a:xfrm>
          <a:prstGeom prst="rect">
            <a:avLst/>
          </a:prstGeom>
          <a:noFill/>
          <a:ln/>
        </p:spPr>
        <p:txBody>
          <a:bodyPr wrap="square" lIns="0" tIns="0" rIns="0" bIns="0"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Surface d'Attaque</a:t>
            </a:r>
            <a:endParaRPr lang="en-US" sz="850" dirty="0"/>
          </a:p>
        </p:txBody>
      </p:sp>
      <p:sp>
        <p:nvSpPr>
          <p:cNvPr id="33" name="Text 31"/>
          <p:cNvSpPr/>
          <p:nvPr/>
        </p:nvSpPr>
        <p:spPr>
          <a:xfrm>
            <a:off x="7013448" y="3767328"/>
            <a:ext cx="1865376" cy="804672"/>
          </a:xfrm>
          <a:prstGeom prst="rect">
            <a:avLst/>
          </a:prstGeom>
          <a:noFill/>
          <a:ln/>
        </p:spPr>
        <p:txBody>
          <a:bodyPr wrap="square" lIns="0" tIns="0" rIns="0" bIns="0" rtlCol="0" anchor="ctr"/>
          <a:lstStyle/>
          <a:p>
            <a:pPr indent="0" marL="0">
              <a:buNone/>
            </a:pPr>
            <a:r>
              <a:rPr lang="en-US" sz="700" dirty="0">
                <a:solidFill>
                  <a:srgbClr val="F0D0D8"/>
                </a:solidFill>
                <a:latin typeface="Calibri" pitchFamily="34" charset="0"/>
                <a:ea typeface="Calibri" pitchFamily="34" charset="-122"/>
                <a:cs typeface="Calibri" pitchFamily="34" charset="-120"/>
              </a:rPr>
              <a:t>6 vecteurs specifiques au HPC IA et leurs methodes de detection</a:t>
            </a:r>
            <a:endParaRPr lang="en-US" sz="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8F4"/>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FFFFFF"/>
          </a:solidFill>
          <a:ln w="12700">
            <a:solidFill>
              <a:srgbClr val="FFFFFF"/>
            </a:solidFill>
            <a:prstDash val="solid"/>
          </a:ln>
        </p:spPr>
      </p:sp>
      <p:sp>
        <p:nvSpPr>
          <p:cNvPr id="3" name="Shape 1"/>
          <p:cNvSpPr/>
          <p:nvPr/>
        </p:nvSpPr>
        <p:spPr>
          <a:xfrm>
            <a:off x="0" y="0"/>
            <a:ext cx="54864" cy="502920"/>
          </a:xfrm>
          <a:prstGeom prst="rect">
            <a:avLst/>
          </a:prstGeom>
          <a:solidFill>
            <a:srgbClr val="7D1C35"/>
          </a:solidFill>
          <a:ln w="12700">
            <a:solidFill>
              <a:srgbClr val="7D1C35"/>
            </a:solidFill>
            <a:prstDash val="solid"/>
          </a:ln>
        </p:spPr>
      </p:sp>
      <p:sp>
        <p:nvSpPr>
          <p:cNvPr id="4" name="Text 2"/>
          <p:cNvSpPr/>
          <p:nvPr/>
        </p:nvSpPr>
        <p:spPr>
          <a:xfrm>
            <a:off x="164592" y="54864"/>
            <a:ext cx="1371600" cy="164592"/>
          </a:xfrm>
          <a:prstGeom prst="rect">
            <a:avLst/>
          </a:prstGeom>
          <a:noFill/>
          <a:ln/>
        </p:spPr>
        <p:txBody>
          <a:bodyPr wrap="square" lIns="0" tIns="0" rIns="0" bIns="0" rtlCol="0" anchor="ctr"/>
          <a:lstStyle/>
          <a:p>
            <a:pPr indent="0" marL="0">
              <a:buNone/>
            </a:pPr>
            <a:r>
              <a:rPr lang="en-US" sz="700" b="1" spc="300" kern="0" dirty="0">
                <a:solidFill>
                  <a:srgbClr val="A8243F"/>
                </a:solidFill>
                <a:latin typeface="Calibri" pitchFamily="34" charset="0"/>
                <a:ea typeface="Calibri" pitchFamily="34" charset="-122"/>
                <a:cs typeface="Calibri" pitchFamily="34" charset="-120"/>
              </a:rPr>
              <a:t>CHAPITRE 01  |  FONDATION</a:t>
            </a:r>
            <a:endParaRPr lang="en-US" sz="700" dirty="0"/>
          </a:p>
        </p:txBody>
      </p:sp>
      <p:sp>
        <p:nvSpPr>
          <p:cNvPr id="5" name="Text 3"/>
          <p:cNvSpPr/>
          <p:nvPr/>
        </p:nvSpPr>
        <p:spPr>
          <a:xfrm>
            <a:off x="164592" y="201168"/>
            <a:ext cx="8814816" cy="256032"/>
          </a:xfrm>
          <a:prstGeom prst="rect">
            <a:avLst/>
          </a:prstGeom>
          <a:noFill/>
          <a:ln/>
        </p:spPr>
        <p:txBody>
          <a:bodyPr wrap="square" lIns="0" tIns="0" rIns="0" bIns="0" rtlCol="0" anchor="ctr"/>
          <a:lstStyle/>
          <a:p>
            <a:pPr indent="0" marL="0">
              <a:buNone/>
            </a:pPr>
            <a:r>
              <a:rPr lang="en-US" sz="1400" b="1" dirty="0">
                <a:solidFill>
                  <a:srgbClr val="1A1A1A"/>
                </a:solidFill>
                <a:latin typeface="Georgia" pitchFamily="34" charset="0"/>
                <a:ea typeface="Georgia" pitchFamily="34" charset="-122"/>
                <a:cs typeface="Georgia" pitchFamily="34" charset="-120"/>
              </a:rPr>
              <a:t>Qu'est-ce que le HPC, et pourquoi l'IA en a besoin ?</a:t>
            </a:r>
            <a:endParaRPr lang="en-US" sz="1400" dirty="0"/>
          </a:p>
        </p:txBody>
      </p:sp>
      <p:sp>
        <p:nvSpPr>
          <p:cNvPr id="6" name="Shape 4"/>
          <p:cNvSpPr/>
          <p:nvPr/>
        </p:nvSpPr>
        <p:spPr>
          <a:xfrm>
            <a:off x="0" y="4887468"/>
            <a:ext cx="9144000" cy="256032"/>
          </a:xfrm>
          <a:prstGeom prst="rect">
            <a:avLst/>
          </a:prstGeom>
          <a:solidFill>
            <a:srgbClr val="F3F0EA"/>
          </a:solidFill>
          <a:ln w="12700">
            <a:solidFill>
              <a:srgbClr val="DDD8CF"/>
            </a:solidFill>
            <a:prstDash val="solid"/>
          </a:ln>
        </p:spPr>
      </p:sp>
      <p:sp>
        <p:nvSpPr>
          <p:cNvPr id="7" name="Text 5"/>
          <p:cNvSpPr/>
          <p:nvPr/>
        </p:nvSpPr>
        <p:spPr>
          <a:xfrm>
            <a:off x="137160" y="4924044"/>
            <a:ext cx="8869680" cy="182880"/>
          </a:xfrm>
          <a:prstGeom prst="rect">
            <a:avLst/>
          </a:prstGeom>
          <a:noFill/>
          <a:ln/>
        </p:spPr>
        <p:txBody>
          <a:bodyPr wrap="square" lIns="0" tIns="0" rIns="0" bIns="0" rtlCol="0" anchor="ctr"/>
          <a:lstStyle/>
          <a:p>
            <a:pPr indent="0" marL="0">
              <a:buNone/>
            </a:pPr>
            <a:r>
              <a:rPr lang="en-US" sz="650" dirty="0">
                <a:solidFill>
                  <a:srgbClr val="7A7268"/>
                </a:solidFill>
                <a:latin typeface="Calibri" pitchFamily="34" charset="0"/>
                <a:ea typeface="Calibri" pitchFamily="34" charset="-122"/>
                <a:cs typeface="Calibri" pitchFamily="34" charset="-120"/>
              </a:rPr>
              <a:t>Samuel Desseaux  |  Erythix / Aureonis  |  HPC AI Observability and Security</a:t>
            </a:r>
            <a:endParaRPr lang="en-US" sz="650" dirty="0"/>
          </a:p>
        </p:txBody>
      </p:sp>
      <p:sp>
        <p:nvSpPr>
          <p:cNvPr id="8" name="Text 6"/>
          <p:cNvSpPr/>
          <p:nvPr/>
        </p:nvSpPr>
        <p:spPr>
          <a:xfrm>
            <a:off x="201168" y="594360"/>
            <a:ext cx="5303520" cy="822960"/>
          </a:xfrm>
          <a:prstGeom prst="rect">
            <a:avLst/>
          </a:prstGeom>
          <a:noFill/>
          <a:ln/>
        </p:spPr>
        <p:txBody>
          <a:bodyPr wrap="square" lIns="0" tIns="0" rIns="0" bIns="0" rtlCol="0" anchor="ctr"/>
          <a:lstStyle/>
          <a:p>
            <a:pPr indent="0" marL="0">
              <a:lnSpc>
                <a:spcPct val="135000"/>
              </a:lnSpc>
              <a:buNone/>
            </a:pPr>
            <a:r>
              <a:rPr lang="en-US" sz="1050" dirty="0">
                <a:solidFill>
                  <a:srgbClr val="3E3A36"/>
                </a:solidFill>
                <a:latin typeface="Calibri" pitchFamily="34" charset="0"/>
                <a:ea typeface="Calibri" pitchFamily="34" charset="-122"/>
                <a:cs typeface="Calibri" pitchFamily="34" charset="-120"/>
              </a:rPr>
              <a:t>Le HPC (High Performance Computing) assemble des centaines a des milliers de machines pour des problemes trop grands pour un seul ordinateur. Depuis 2018, l'entrainement de grands modeles de langage est devenu la charge de travail dominante en HPC. Ces modeles exigent des quantites de calcul et de memoire qu'aucune machine seule ne peut fournir.</a:t>
            </a:r>
            <a:endParaRPr lang="en-US" sz="1050" dirty="0"/>
          </a:p>
        </p:txBody>
      </p:sp>
      <p:sp>
        <p:nvSpPr>
          <p:cNvPr id="9" name="Shape 7"/>
          <p:cNvSpPr/>
          <p:nvPr/>
        </p:nvSpPr>
        <p:spPr>
          <a:xfrm>
            <a:off x="5742432" y="594360"/>
            <a:ext cx="3108960" cy="1170432"/>
          </a:xfrm>
          <a:prstGeom prst="rect">
            <a:avLst/>
          </a:prstGeom>
          <a:solidFill>
            <a:srgbClr val="FDF4F6"/>
          </a:solidFill>
          <a:ln w="12700">
            <a:solidFill>
              <a:srgbClr val="E8B0C0"/>
            </a:solidFill>
            <a:prstDash val="solid"/>
          </a:ln>
          <a:effectLst>
            <a:outerShdw sx="100000" sy="100000" kx="0" ky="0" algn="bl" rotWithShape="0" blurRad="38100" dist="25400" dir="8100000">
              <a:srgbClr val="000000">
                <a:alpha val="10000"/>
              </a:srgbClr>
            </a:outerShdw>
          </a:effectLst>
        </p:spPr>
      </p:sp>
      <p:sp>
        <p:nvSpPr>
          <p:cNvPr id="10" name="Shape 8"/>
          <p:cNvSpPr/>
          <p:nvPr/>
        </p:nvSpPr>
        <p:spPr>
          <a:xfrm>
            <a:off x="5742432" y="594360"/>
            <a:ext cx="54864" cy="1170432"/>
          </a:xfrm>
          <a:prstGeom prst="rect">
            <a:avLst/>
          </a:prstGeom>
          <a:solidFill>
            <a:srgbClr val="7D1C35"/>
          </a:solidFill>
          <a:ln w="12700">
            <a:solidFill>
              <a:srgbClr val="7D1C35"/>
            </a:solidFill>
            <a:prstDash val="solid"/>
          </a:ln>
        </p:spPr>
      </p:sp>
      <p:sp>
        <p:nvSpPr>
          <p:cNvPr id="11" name="Text 9"/>
          <p:cNvSpPr/>
          <p:nvPr/>
        </p:nvSpPr>
        <p:spPr>
          <a:xfrm>
            <a:off x="5870448" y="667512"/>
            <a:ext cx="2834640" cy="201168"/>
          </a:xfrm>
          <a:prstGeom prst="rect">
            <a:avLst/>
          </a:prstGeom>
          <a:noFill/>
          <a:ln/>
        </p:spPr>
        <p:txBody>
          <a:bodyPr wrap="square" lIns="0" tIns="0" rIns="0" bIns="0" rtlCol="0" anchor="ctr"/>
          <a:lstStyle/>
          <a:p>
            <a:pPr indent="0" marL="0">
              <a:buNone/>
            </a:pPr>
            <a:r>
              <a:rPr lang="en-US" sz="800" b="1" dirty="0">
                <a:solidFill>
                  <a:srgbClr val="7D1C35"/>
                </a:solidFill>
                <a:latin typeface="Calibri" pitchFamily="34" charset="0"/>
                <a:ea typeface="Calibri" pitchFamily="34" charset="-122"/>
                <a:cs typeface="Calibri" pitchFamily="34" charset="-120"/>
              </a:rPr>
              <a:t>GPT-3</a:t>
            </a:r>
            <a:endParaRPr lang="en-US" sz="800" dirty="0"/>
          </a:p>
        </p:txBody>
      </p:sp>
      <p:sp>
        <p:nvSpPr>
          <p:cNvPr id="12" name="Text 10"/>
          <p:cNvSpPr/>
          <p:nvPr/>
        </p:nvSpPr>
        <p:spPr>
          <a:xfrm>
            <a:off x="5870448" y="850392"/>
            <a:ext cx="2834640" cy="475488"/>
          </a:xfrm>
          <a:prstGeom prst="rect">
            <a:avLst/>
          </a:prstGeom>
          <a:noFill/>
          <a:ln/>
        </p:spPr>
        <p:txBody>
          <a:bodyPr wrap="square" lIns="0" tIns="0" rIns="0" bIns="0" rtlCol="0" anchor="ctr"/>
          <a:lstStyle/>
          <a:p>
            <a:pPr indent="0" marL="0">
              <a:buNone/>
            </a:pPr>
            <a:r>
              <a:rPr lang="en-US" sz="2800" b="1" dirty="0">
                <a:solidFill>
                  <a:srgbClr val="7D1C35"/>
                </a:solidFill>
                <a:latin typeface="Georgia" pitchFamily="34" charset="0"/>
                <a:ea typeface="Georgia" pitchFamily="34" charset="-122"/>
                <a:cs typeface="Georgia" pitchFamily="34" charset="-120"/>
              </a:rPr>
              <a:t>3,500</a:t>
            </a:r>
            <a:endParaRPr lang="en-US" sz="2800" dirty="0"/>
          </a:p>
        </p:txBody>
      </p:sp>
      <p:sp>
        <p:nvSpPr>
          <p:cNvPr id="13" name="Text 11"/>
          <p:cNvSpPr/>
          <p:nvPr/>
        </p:nvSpPr>
        <p:spPr>
          <a:xfrm>
            <a:off x="5870448" y="1344168"/>
            <a:ext cx="2834640" cy="329184"/>
          </a:xfrm>
          <a:prstGeom prst="rect">
            <a:avLst/>
          </a:prstGeom>
          <a:noFill/>
          <a:ln/>
        </p:spPr>
        <p:txBody>
          <a:bodyPr wrap="square" lIns="0" tIns="0" rIns="0" bIns="0" rtlCol="0" anchor="ctr"/>
          <a:lstStyle/>
          <a:p>
            <a:pPr indent="0" marL="0">
              <a:buNone/>
            </a:pPr>
            <a:r>
              <a:rPr lang="en-US" sz="800" dirty="0">
                <a:solidFill>
                  <a:srgbClr val="7A7268"/>
                </a:solidFill>
                <a:latin typeface="Calibri" pitchFamily="34" charset="0"/>
                <a:ea typeface="Calibri" pitchFamily="34" charset="-122"/>
                <a:cs typeface="Calibri" pitchFamily="34" charset="-120"/>
              </a:rPr>
              <a:t>jours-GPU pour l'entrainement</a:t>
            </a:r>
            <a:endParaRPr lang="en-US" sz="800" dirty="0"/>
          </a:p>
        </p:txBody>
      </p:sp>
      <p:sp>
        <p:nvSpPr>
          <p:cNvPr id="14" name="Shape 12"/>
          <p:cNvSpPr/>
          <p:nvPr/>
        </p:nvSpPr>
        <p:spPr>
          <a:xfrm>
            <a:off x="5742432" y="1947672"/>
            <a:ext cx="3108960" cy="1170432"/>
          </a:xfrm>
          <a:prstGeom prst="rect">
            <a:avLst/>
          </a:prstGeom>
          <a:solidFill>
            <a:srgbClr val="F0F5FB"/>
          </a:solidFill>
          <a:ln w="12700">
            <a:solidFill>
              <a:srgbClr val="90C0E8"/>
            </a:solidFill>
            <a:prstDash val="solid"/>
          </a:ln>
          <a:effectLst>
            <a:outerShdw sx="100000" sy="100000" kx="0" ky="0" algn="bl" rotWithShape="0" blurRad="38100" dist="25400" dir="8100000">
              <a:srgbClr val="000000">
                <a:alpha val="10000"/>
              </a:srgbClr>
            </a:outerShdw>
          </a:effectLst>
        </p:spPr>
      </p:sp>
      <p:sp>
        <p:nvSpPr>
          <p:cNvPr id="15" name="Shape 13"/>
          <p:cNvSpPr/>
          <p:nvPr/>
        </p:nvSpPr>
        <p:spPr>
          <a:xfrm>
            <a:off x="5742432" y="1947672"/>
            <a:ext cx="54864" cy="1170432"/>
          </a:xfrm>
          <a:prstGeom prst="rect">
            <a:avLst/>
          </a:prstGeom>
          <a:solidFill>
            <a:srgbClr val="1F5FA0"/>
          </a:solidFill>
          <a:ln w="12700">
            <a:solidFill>
              <a:srgbClr val="1F5FA0"/>
            </a:solidFill>
            <a:prstDash val="solid"/>
          </a:ln>
        </p:spPr>
      </p:sp>
      <p:sp>
        <p:nvSpPr>
          <p:cNvPr id="16" name="Text 14"/>
          <p:cNvSpPr/>
          <p:nvPr/>
        </p:nvSpPr>
        <p:spPr>
          <a:xfrm>
            <a:off x="5870448" y="2020824"/>
            <a:ext cx="2834640" cy="201168"/>
          </a:xfrm>
          <a:prstGeom prst="rect">
            <a:avLst/>
          </a:prstGeom>
          <a:noFill/>
          <a:ln/>
        </p:spPr>
        <p:txBody>
          <a:bodyPr wrap="square" lIns="0" tIns="0" rIns="0" bIns="0" rtlCol="0" anchor="ctr"/>
          <a:lstStyle/>
          <a:p>
            <a:pPr indent="0" marL="0">
              <a:buNone/>
            </a:pPr>
            <a:r>
              <a:rPr lang="en-US" sz="800" b="1" dirty="0">
                <a:solidFill>
                  <a:srgbClr val="1F5FA0"/>
                </a:solidFill>
                <a:latin typeface="Calibri" pitchFamily="34" charset="0"/>
                <a:ea typeface="Calibri" pitchFamily="34" charset="-122"/>
                <a:cs typeface="Calibri" pitchFamily="34" charset="-120"/>
              </a:rPr>
              <a:t>Llama 3 70B</a:t>
            </a:r>
            <a:endParaRPr lang="en-US" sz="800" dirty="0"/>
          </a:p>
        </p:txBody>
      </p:sp>
      <p:sp>
        <p:nvSpPr>
          <p:cNvPr id="17" name="Text 15"/>
          <p:cNvSpPr/>
          <p:nvPr/>
        </p:nvSpPr>
        <p:spPr>
          <a:xfrm>
            <a:off x="5870448" y="2203704"/>
            <a:ext cx="2834640" cy="475488"/>
          </a:xfrm>
          <a:prstGeom prst="rect">
            <a:avLst/>
          </a:prstGeom>
          <a:noFill/>
          <a:ln/>
        </p:spPr>
        <p:txBody>
          <a:bodyPr wrap="square" lIns="0" tIns="0" rIns="0" bIns="0" rtlCol="0" anchor="ctr"/>
          <a:lstStyle/>
          <a:p>
            <a:pPr indent="0" marL="0">
              <a:buNone/>
            </a:pPr>
            <a:r>
              <a:rPr lang="en-US" sz="2800" b="1" dirty="0">
                <a:solidFill>
                  <a:srgbClr val="1F5FA0"/>
                </a:solidFill>
                <a:latin typeface="Georgia" pitchFamily="34" charset="0"/>
                <a:ea typeface="Georgia" pitchFamily="34" charset="-122"/>
                <a:cs typeface="Georgia" pitchFamily="34" charset="-120"/>
              </a:rPr>
              <a:t>140 GB</a:t>
            </a:r>
            <a:endParaRPr lang="en-US" sz="2800" dirty="0"/>
          </a:p>
        </p:txBody>
      </p:sp>
      <p:sp>
        <p:nvSpPr>
          <p:cNvPr id="18" name="Text 16"/>
          <p:cNvSpPr/>
          <p:nvPr/>
        </p:nvSpPr>
        <p:spPr>
          <a:xfrm>
            <a:off x="5870448" y="2697480"/>
            <a:ext cx="2834640" cy="329184"/>
          </a:xfrm>
          <a:prstGeom prst="rect">
            <a:avLst/>
          </a:prstGeom>
          <a:noFill/>
          <a:ln/>
        </p:spPr>
        <p:txBody>
          <a:bodyPr wrap="square" lIns="0" tIns="0" rIns="0" bIns="0" rtlCol="0" anchor="ctr"/>
          <a:lstStyle/>
          <a:p>
            <a:pPr indent="0" marL="0">
              <a:buNone/>
            </a:pPr>
            <a:r>
              <a:rPr lang="en-US" sz="800" dirty="0">
                <a:solidFill>
                  <a:srgbClr val="7A7268"/>
                </a:solidFill>
                <a:latin typeface="Calibri" pitchFamily="34" charset="0"/>
                <a:ea typeface="Calibri" pitchFamily="34" charset="-122"/>
                <a:cs typeface="Calibri" pitchFamily="34" charset="-120"/>
              </a:rPr>
              <a:t>memoire minimum pour charger</a:t>
            </a:r>
            <a:endParaRPr lang="en-US" sz="800" dirty="0"/>
          </a:p>
        </p:txBody>
      </p:sp>
      <p:sp>
        <p:nvSpPr>
          <p:cNvPr id="19" name="Shape 17"/>
          <p:cNvSpPr/>
          <p:nvPr/>
        </p:nvSpPr>
        <p:spPr>
          <a:xfrm>
            <a:off x="5742432" y="3300984"/>
            <a:ext cx="3108960" cy="1170432"/>
          </a:xfrm>
          <a:prstGeom prst="rect">
            <a:avLst/>
          </a:prstGeom>
          <a:solidFill>
            <a:srgbClr val="F0F8F4"/>
          </a:solidFill>
          <a:ln w="12700">
            <a:solidFill>
              <a:srgbClr val="80C8A8"/>
            </a:solidFill>
            <a:prstDash val="solid"/>
          </a:ln>
          <a:effectLst>
            <a:outerShdw sx="100000" sy="100000" kx="0" ky="0" algn="bl" rotWithShape="0" blurRad="38100" dist="25400" dir="8100000">
              <a:srgbClr val="000000">
                <a:alpha val="10000"/>
              </a:srgbClr>
            </a:outerShdw>
          </a:effectLst>
        </p:spPr>
      </p:sp>
      <p:sp>
        <p:nvSpPr>
          <p:cNvPr id="20" name="Shape 18"/>
          <p:cNvSpPr/>
          <p:nvPr/>
        </p:nvSpPr>
        <p:spPr>
          <a:xfrm>
            <a:off x="5742432" y="3300984"/>
            <a:ext cx="54864" cy="1170432"/>
          </a:xfrm>
          <a:prstGeom prst="rect">
            <a:avLst/>
          </a:prstGeom>
          <a:solidFill>
            <a:srgbClr val="1A6E42"/>
          </a:solidFill>
          <a:ln w="12700">
            <a:solidFill>
              <a:srgbClr val="1A6E42"/>
            </a:solidFill>
            <a:prstDash val="solid"/>
          </a:ln>
        </p:spPr>
      </p:sp>
      <p:sp>
        <p:nvSpPr>
          <p:cNvPr id="21" name="Text 19"/>
          <p:cNvSpPr/>
          <p:nvPr/>
        </p:nvSpPr>
        <p:spPr>
          <a:xfrm>
            <a:off x="5870448" y="3374136"/>
            <a:ext cx="2834640" cy="201168"/>
          </a:xfrm>
          <a:prstGeom prst="rect">
            <a:avLst/>
          </a:prstGeom>
          <a:noFill/>
          <a:ln/>
        </p:spPr>
        <p:txBody>
          <a:bodyPr wrap="square" lIns="0" tIns="0" rIns="0" bIns="0" rtlCol="0" anchor="ctr"/>
          <a:lstStyle/>
          <a:p>
            <a:pPr indent="0" marL="0">
              <a:buNone/>
            </a:pPr>
            <a:r>
              <a:rPr lang="en-US" sz="800" b="1" dirty="0">
                <a:solidFill>
                  <a:srgbClr val="1A6E42"/>
                </a:solidFill>
                <a:latin typeface="Calibri" pitchFamily="34" charset="0"/>
                <a:ea typeface="Calibri" pitchFamily="34" charset="-122"/>
                <a:cs typeface="Calibri" pitchFamily="34" charset="-120"/>
              </a:rPr>
              <a:t>H100 SXM5</a:t>
            </a:r>
            <a:endParaRPr lang="en-US" sz="800" dirty="0"/>
          </a:p>
        </p:txBody>
      </p:sp>
      <p:sp>
        <p:nvSpPr>
          <p:cNvPr id="22" name="Text 20"/>
          <p:cNvSpPr/>
          <p:nvPr/>
        </p:nvSpPr>
        <p:spPr>
          <a:xfrm>
            <a:off x="5870448" y="3557016"/>
            <a:ext cx="2834640" cy="475488"/>
          </a:xfrm>
          <a:prstGeom prst="rect">
            <a:avLst/>
          </a:prstGeom>
          <a:noFill/>
          <a:ln/>
        </p:spPr>
        <p:txBody>
          <a:bodyPr wrap="square" lIns="0" tIns="0" rIns="0" bIns="0" rtlCol="0" anchor="ctr"/>
          <a:lstStyle/>
          <a:p>
            <a:pPr indent="0" marL="0">
              <a:buNone/>
            </a:pPr>
            <a:r>
              <a:rPr lang="en-US" sz="2800" b="1" dirty="0">
                <a:solidFill>
                  <a:srgbClr val="1A6E42"/>
                </a:solidFill>
                <a:latin typeface="Georgia" pitchFamily="34" charset="0"/>
                <a:ea typeface="Georgia" pitchFamily="34" charset="-122"/>
                <a:cs typeface="Georgia" pitchFamily="34" charset="-120"/>
              </a:rPr>
              <a:t>3.35 TB/s</a:t>
            </a:r>
            <a:endParaRPr lang="en-US" sz="2800" dirty="0"/>
          </a:p>
        </p:txBody>
      </p:sp>
      <p:sp>
        <p:nvSpPr>
          <p:cNvPr id="23" name="Text 21"/>
          <p:cNvSpPr/>
          <p:nvPr/>
        </p:nvSpPr>
        <p:spPr>
          <a:xfrm>
            <a:off x="5870448" y="4050792"/>
            <a:ext cx="2834640" cy="329184"/>
          </a:xfrm>
          <a:prstGeom prst="rect">
            <a:avLst/>
          </a:prstGeom>
          <a:noFill/>
          <a:ln/>
        </p:spPr>
        <p:txBody>
          <a:bodyPr wrap="square" lIns="0" tIns="0" rIns="0" bIns="0" rtlCol="0" anchor="ctr"/>
          <a:lstStyle/>
          <a:p>
            <a:pPr indent="0" marL="0">
              <a:buNone/>
            </a:pPr>
            <a:r>
              <a:rPr lang="en-US" sz="800" dirty="0">
                <a:solidFill>
                  <a:srgbClr val="7A7268"/>
                </a:solidFill>
                <a:latin typeface="Calibri" pitchFamily="34" charset="0"/>
                <a:ea typeface="Calibri" pitchFamily="34" charset="-122"/>
                <a:cs typeface="Calibri" pitchFamily="34" charset="-120"/>
              </a:rPr>
              <a:t>bande passante HBM GPU</a:t>
            </a:r>
            <a:endParaRPr lang="en-US" sz="800" dirty="0"/>
          </a:p>
        </p:txBody>
      </p:sp>
      <p:sp>
        <p:nvSpPr>
          <p:cNvPr id="24" name="Shape 22"/>
          <p:cNvSpPr/>
          <p:nvPr/>
        </p:nvSpPr>
        <p:spPr>
          <a:xfrm>
            <a:off x="201168" y="1481328"/>
            <a:ext cx="5303520" cy="658368"/>
          </a:xfrm>
          <a:prstGeom prst="rect">
            <a:avLst/>
          </a:prstGeom>
          <a:solidFill>
            <a:srgbClr val="FDF4F6"/>
          </a:solidFill>
          <a:ln w="12700">
            <a:solidFill>
              <a:srgbClr val="E8B0C0"/>
            </a:solidFill>
            <a:prstDash val="solid"/>
          </a:ln>
        </p:spPr>
      </p:sp>
      <p:sp>
        <p:nvSpPr>
          <p:cNvPr id="25" name="Shape 23"/>
          <p:cNvSpPr/>
          <p:nvPr/>
        </p:nvSpPr>
        <p:spPr>
          <a:xfrm>
            <a:off x="201168" y="1481328"/>
            <a:ext cx="54864" cy="658368"/>
          </a:xfrm>
          <a:prstGeom prst="rect">
            <a:avLst/>
          </a:prstGeom>
          <a:solidFill>
            <a:srgbClr val="7D1C35"/>
          </a:solidFill>
          <a:ln w="12700">
            <a:solidFill>
              <a:srgbClr val="7D1C35"/>
            </a:solidFill>
            <a:prstDash val="solid"/>
          </a:ln>
        </p:spPr>
      </p:sp>
      <p:sp>
        <p:nvSpPr>
          <p:cNvPr id="26" name="Text 24"/>
          <p:cNvSpPr/>
          <p:nvPr/>
        </p:nvSpPr>
        <p:spPr>
          <a:xfrm>
            <a:off x="329184" y="1517904"/>
            <a:ext cx="5102352" cy="585216"/>
          </a:xfrm>
          <a:prstGeom prst="rect">
            <a:avLst/>
          </a:prstGeom>
          <a:noFill/>
          <a:ln/>
        </p:spPr>
        <p:txBody>
          <a:bodyPr wrap="square" lIns="0" tIns="0" rIns="0" bIns="0" rtlCol="0" anchor="ctr"/>
          <a:lstStyle/>
          <a:p>
            <a:pPr indent="0" marL="0">
              <a:lnSpc>
                <a:spcPct val="140000"/>
              </a:lnSpc>
              <a:buNone/>
            </a:pPr>
            <a:r>
              <a:rPr lang="en-US" sz="950" dirty="0">
                <a:solidFill>
                  <a:srgbClr val="3E3A36"/>
                </a:solidFill>
                <a:latin typeface="Calibri" pitchFamily="34" charset="0"/>
                <a:ea typeface="Calibri" pitchFamily="34" charset="-122"/>
                <a:cs typeface="Calibri" pitchFamily="34" charset="-120"/>
              </a:rPr>
              <a:t>Un ordinateur portable dispose de 16 Go de RAM et 8 Go de memoire GPU. Llama 70B a besoin de ~140 Go rien que pour tenir ses poids, et de milliers d'heures GPU pour etre entraine. Une seule machine est structurellement incapable d'y repondre.</a:t>
            </a:r>
            <a:endParaRPr lang="en-US" sz="950" dirty="0"/>
          </a:p>
        </p:txBody>
      </p:sp>
      <p:sp>
        <p:nvSpPr>
          <p:cNvPr id="27" name="Shape 25"/>
          <p:cNvSpPr/>
          <p:nvPr/>
        </p:nvSpPr>
        <p:spPr>
          <a:xfrm>
            <a:off x="201168" y="2267712"/>
            <a:ext cx="2505456" cy="2450592"/>
          </a:xfrm>
          <a:prstGeom prst="rect">
            <a:avLst/>
          </a:prstGeom>
          <a:solidFill>
            <a:srgbClr val="FDF4F6"/>
          </a:solidFill>
          <a:ln w="12700">
            <a:solidFill>
              <a:srgbClr val="E8B0C0"/>
            </a:solidFill>
            <a:prstDash val="solid"/>
          </a:ln>
        </p:spPr>
      </p:sp>
      <p:sp>
        <p:nvSpPr>
          <p:cNvPr id="28" name="Text 26"/>
          <p:cNvSpPr/>
          <p:nvPr/>
        </p:nvSpPr>
        <p:spPr>
          <a:xfrm>
            <a:off x="201168" y="2340864"/>
            <a:ext cx="2505456" cy="256032"/>
          </a:xfrm>
          <a:prstGeom prst="rect">
            <a:avLst/>
          </a:prstGeom>
          <a:noFill/>
          <a:ln/>
        </p:spPr>
        <p:txBody>
          <a:bodyPr wrap="square" lIns="0" tIns="0" rIns="0" bIns="0" rtlCol="0" anchor="ctr"/>
          <a:lstStyle/>
          <a:p>
            <a:pPr algn="ctr" indent="0" marL="0">
              <a:buNone/>
            </a:pPr>
            <a:r>
              <a:rPr lang="en-US" sz="1100" b="1" dirty="0">
                <a:solidFill>
                  <a:srgbClr val="7D1C35"/>
                </a:solidFill>
                <a:latin typeface="Georgia" pitchFamily="34" charset="0"/>
                <a:ea typeface="Georgia" pitchFamily="34" charset="-122"/>
                <a:cs typeface="Georgia" pitchFamily="34" charset="-120"/>
              </a:rPr>
              <a:t>CPU  |  Generaliste</a:t>
            </a:r>
            <a:endParaRPr lang="en-US" sz="1100" dirty="0"/>
          </a:p>
        </p:txBody>
      </p:sp>
      <p:sp>
        <p:nvSpPr>
          <p:cNvPr id="29" name="Text 27"/>
          <p:cNvSpPr/>
          <p:nvPr/>
        </p:nvSpPr>
        <p:spPr>
          <a:xfrm>
            <a:off x="292608" y="2651760"/>
            <a:ext cx="2322576" cy="1920240"/>
          </a:xfrm>
          <a:prstGeom prst="rect">
            <a:avLst/>
          </a:prstGeom>
          <a:noFill/>
          <a:ln/>
        </p:spPr>
        <p:txBody>
          <a:bodyPr wrap="square" lIns="0" tIns="0" rIns="0" bIns="0" rtlCol="0" anchor="ctr"/>
          <a:lstStyle/>
          <a:p>
            <a:pPr indent="0" marL="0">
              <a:lnSpc>
                <a:spcPct val="145000"/>
              </a:lnSpc>
              <a:buNone/>
            </a:pPr>
            <a:r>
              <a:rPr lang="en-US" sz="850" dirty="0">
                <a:solidFill>
                  <a:srgbClr val="3E3A36"/>
                </a:solidFill>
                <a:latin typeface="Calibri" pitchFamily="34" charset="0"/>
                <a:ea typeface="Calibri" pitchFamily="34" charset="-122"/>
                <a:cs typeface="Calibri" pitchFamily="34" charset="-120"/>
              </a:rPr>
              <a:t>8 a 128 coeurs puissants, 3 a 6 GHz. Excellent pour les branchements et acces memoire arbitraires. Indispensable pour l'orchestration, I/O et le controle.</a:t>
            </a:r>
            <a:endParaRPr lang="en-US" sz="850" dirty="0"/>
          </a:p>
          <a:p>
            <a:pPr indent="0" marL="0">
              <a:lnSpc>
                <a:spcPct val="145000"/>
              </a:lnSpc>
              <a:buNone/>
            </a:pPr>
            <a:endParaRPr lang="en-US" sz="850" dirty="0"/>
          </a:p>
          <a:p>
            <a:pPr indent="0" marL="0">
              <a:lnSpc>
                <a:spcPct val="145000"/>
              </a:lnSpc>
              <a:buNone/>
            </a:pPr>
            <a:r>
              <a:rPr lang="en-US" sz="850" dirty="0">
                <a:solidFill>
                  <a:srgbClr val="3E3A36"/>
                </a:solidFill>
                <a:latin typeface="Calibri" pitchFamily="34" charset="0"/>
                <a:ea typeface="Calibri" pitchFamily="34" charset="-122"/>
                <a:cs typeface="Calibri" pitchFamily="34" charset="-120"/>
              </a:rPr>
              <a:t>Inadapte aux calculs matriciels massifs.</a:t>
            </a:r>
            <a:endParaRPr lang="en-US" sz="850" dirty="0"/>
          </a:p>
        </p:txBody>
      </p:sp>
      <p:sp>
        <p:nvSpPr>
          <p:cNvPr id="30" name="Shape 28"/>
          <p:cNvSpPr/>
          <p:nvPr/>
        </p:nvSpPr>
        <p:spPr>
          <a:xfrm>
            <a:off x="2871216" y="2267712"/>
            <a:ext cx="2505456" cy="2450592"/>
          </a:xfrm>
          <a:prstGeom prst="rect">
            <a:avLst/>
          </a:prstGeom>
          <a:solidFill>
            <a:srgbClr val="F0F5FB"/>
          </a:solidFill>
          <a:ln w="12700">
            <a:solidFill>
              <a:srgbClr val="90C0E8"/>
            </a:solidFill>
            <a:prstDash val="solid"/>
          </a:ln>
        </p:spPr>
      </p:sp>
      <p:sp>
        <p:nvSpPr>
          <p:cNvPr id="31" name="Text 29"/>
          <p:cNvSpPr/>
          <p:nvPr/>
        </p:nvSpPr>
        <p:spPr>
          <a:xfrm>
            <a:off x="2871216" y="2340864"/>
            <a:ext cx="2505456" cy="256032"/>
          </a:xfrm>
          <a:prstGeom prst="rect">
            <a:avLst/>
          </a:prstGeom>
          <a:noFill/>
          <a:ln/>
        </p:spPr>
        <p:txBody>
          <a:bodyPr wrap="square" lIns="0" tIns="0" rIns="0" bIns="0" rtlCol="0" anchor="ctr"/>
          <a:lstStyle/>
          <a:p>
            <a:pPr algn="ctr" indent="0" marL="0">
              <a:buNone/>
            </a:pPr>
            <a:r>
              <a:rPr lang="en-US" sz="1100" b="1" dirty="0">
                <a:solidFill>
                  <a:srgbClr val="1F5FA0"/>
                </a:solidFill>
                <a:latin typeface="Georgia" pitchFamily="34" charset="0"/>
                <a:ea typeface="Georgia" pitchFamily="34" charset="-122"/>
                <a:cs typeface="Georgia" pitchFamily="34" charset="-120"/>
              </a:rPr>
              <a:t>GPU  |  Specialiste</a:t>
            </a:r>
            <a:endParaRPr lang="en-US" sz="1100" dirty="0"/>
          </a:p>
        </p:txBody>
      </p:sp>
      <p:sp>
        <p:nvSpPr>
          <p:cNvPr id="32" name="Text 30"/>
          <p:cNvSpPr/>
          <p:nvPr/>
        </p:nvSpPr>
        <p:spPr>
          <a:xfrm>
            <a:off x="2962656" y="2651760"/>
            <a:ext cx="2322576" cy="1920240"/>
          </a:xfrm>
          <a:prstGeom prst="rect">
            <a:avLst/>
          </a:prstGeom>
          <a:noFill/>
          <a:ln/>
        </p:spPr>
        <p:txBody>
          <a:bodyPr wrap="square" lIns="0" tIns="0" rIns="0" bIns="0" rtlCol="0" anchor="ctr"/>
          <a:lstStyle/>
          <a:p>
            <a:pPr indent="0" marL="0">
              <a:lnSpc>
                <a:spcPct val="145000"/>
              </a:lnSpc>
              <a:buNone/>
            </a:pPr>
            <a:r>
              <a:rPr lang="en-US" sz="850" dirty="0">
                <a:solidFill>
                  <a:srgbClr val="3E3A36"/>
                </a:solidFill>
                <a:latin typeface="Calibri" pitchFamily="34" charset="0"/>
                <a:ea typeface="Calibri" pitchFamily="34" charset="-122"/>
                <a:cs typeface="Calibri" pitchFamily="34" charset="-120"/>
              </a:rPr>
              <a:t>10 000 a 18 000 coeurs CUDA, 1 a 2 GHz. Memoire HBM a 3,35 To/s. Tous les coeurs executent la meme operation simple simultanement.</a:t>
            </a:r>
            <a:endParaRPr lang="en-US" sz="850" dirty="0"/>
          </a:p>
          <a:p>
            <a:pPr indent="0" marL="0">
              <a:lnSpc>
                <a:spcPct val="145000"/>
              </a:lnSpc>
              <a:buNone/>
            </a:pPr>
            <a:endParaRPr lang="en-US" sz="850" dirty="0"/>
          </a:p>
          <a:p>
            <a:pPr indent="0" marL="0">
              <a:lnSpc>
                <a:spcPct val="145000"/>
              </a:lnSpc>
              <a:buNone/>
            </a:pPr>
            <a:r>
              <a:rPr lang="en-US" sz="850" dirty="0">
                <a:solidFill>
                  <a:srgbClr val="3E3A36"/>
                </a:solidFill>
                <a:latin typeface="Calibri" pitchFamily="34" charset="0"/>
                <a:ea typeface="Calibri" pitchFamily="34" charset="-122"/>
                <a:cs typeface="Calibri" pitchFamily="34" charset="-120"/>
              </a:rPr>
              <a:t>Concu precisement pour les multiplications de matrices au coeur de l'IA.</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8F4"/>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FFFFFF"/>
          </a:solidFill>
          <a:ln w="12700">
            <a:solidFill>
              <a:srgbClr val="FFFFFF"/>
            </a:solidFill>
            <a:prstDash val="solid"/>
          </a:ln>
        </p:spPr>
      </p:sp>
      <p:sp>
        <p:nvSpPr>
          <p:cNvPr id="3" name="Shape 1"/>
          <p:cNvSpPr/>
          <p:nvPr/>
        </p:nvSpPr>
        <p:spPr>
          <a:xfrm>
            <a:off x="0" y="0"/>
            <a:ext cx="54864" cy="502920"/>
          </a:xfrm>
          <a:prstGeom prst="rect">
            <a:avLst/>
          </a:prstGeom>
          <a:solidFill>
            <a:srgbClr val="7D1C35"/>
          </a:solidFill>
          <a:ln w="12700">
            <a:solidFill>
              <a:srgbClr val="7D1C35"/>
            </a:solidFill>
            <a:prstDash val="solid"/>
          </a:ln>
        </p:spPr>
      </p:sp>
      <p:sp>
        <p:nvSpPr>
          <p:cNvPr id="4" name="Text 2"/>
          <p:cNvSpPr/>
          <p:nvPr/>
        </p:nvSpPr>
        <p:spPr>
          <a:xfrm>
            <a:off x="164592" y="54864"/>
            <a:ext cx="1371600" cy="164592"/>
          </a:xfrm>
          <a:prstGeom prst="rect">
            <a:avLst/>
          </a:prstGeom>
          <a:noFill/>
          <a:ln/>
        </p:spPr>
        <p:txBody>
          <a:bodyPr wrap="square" lIns="0" tIns="0" rIns="0" bIns="0" rtlCol="0" anchor="ctr"/>
          <a:lstStyle/>
          <a:p>
            <a:pPr indent="0" marL="0">
              <a:buNone/>
            </a:pPr>
            <a:r>
              <a:rPr lang="en-US" sz="700" b="1" spc="300" kern="0" dirty="0">
                <a:solidFill>
                  <a:srgbClr val="A8243F"/>
                </a:solidFill>
                <a:latin typeface="Calibri" pitchFamily="34" charset="0"/>
                <a:ea typeface="Calibri" pitchFamily="34" charset="-122"/>
                <a:cs typeface="Calibri" pitchFamily="34" charset="-120"/>
              </a:rPr>
              <a:t>CHAPITRE 02  |  ARCHITECTURE</a:t>
            </a:r>
            <a:endParaRPr lang="en-US" sz="700" dirty="0"/>
          </a:p>
        </p:txBody>
      </p:sp>
      <p:sp>
        <p:nvSpPr>
          <p:cNvPr id="5" name="Text 3"/>
          <p:cNvSpPr/>
          <p:nvPr/>
        </p:nvSpPr>
        <p:spPr>
          <a:xfrm>
            <a:off x="164592" y="201168"/>
            <a:ext cx="8814816" cy="256032"/>
          </a:xfrm>
          <a:prstGeom prst="rect">
            <a:avLst/>
          </a:prstGeom>
          <a:noFill/>
          <a:ln/>
        </p:spPr>
        <p:txBody>
          <a:bodyPr wrap="square" lIns="0" tIns="0" rIns="0" bIns="0" rtlCol="0" anchor="ctr"/>
          <a:lstStyle/>
          <a:p>
            <a:pPr indent="0" marL="0">
              <a:buNone/>
            </a:pPr>
            <a:r>
              <a:rPr lang="en-US" sz="1400" b="1" dirty="0">
                <a:solidFill>
                  <a:srgbClr val="1A1A1A"/>
                </a:solidFill>
                <a:latin typeface="Georgia" pitchFamily="34" charset="0"/>
                <a:ea typeface="Georgia" pitchFamily="34" charset="-122"/>
                <a:cs typeface="Georgia" pitchFamily="34" charset="-120"/>
              </a:rPr>
              <a:t>Comment un cluster HPC est construit — 5 couches fondamentales</a:t>
            </a:r>
            <a:endParaRPr lang="en-US" sz="1400" dirty="0"/>
          </a:p>
        </p:txBody>
      </p:sp>
      <p:sp>
        <p:nvSpPr>
          <p:cNvPr id="6" name="Shape 4"/>
          <p:cNvSpPr/>
          <p:nvPr/>
        </p:nvSpPr>
        <p:spPr>
          <a:xfrm>
            <a:off x="0" y="4887468"/>
            <a:ext cx="9144000" cy="256032"/>
          </a:xfrm>
          <a:prstGeom prst="rect">
            <a:avLst/>
          </a:prstGeom>
          <a:solidFill>
            <a:srgbClr val="F3F0EA"/>
          </a:solidFill>
          <a:ln w="12700">
            <a:solidFill>
              <a:srgbClr val="DDD8CF"/>
            </a:solidFill>
            <a:prstDash val="solid"/>
          </a:ln>
        </p:spPr>
      </p:sp>
      <p:sp>
        <p:nvSpPr>
          <p:cNvPr id="7" name="Text 5"/>
          <p:cNvSpPr/>
          <p:nvPr/>
        </p:nvSpPr>
        <p:spPr>
          <a:xfrm>
            <a:off x="137160" y="4924044"/>
            <a:ext cx="8869680" cy="182880"/>
          </a:xfrm>
          <a:prstGeom prst="rect">
            <a:avLst/>
          </a:prstGeom>
          <a:noFill/>
          <a:ln/>
        </p:spPr>
        <p:txBody>
          <a:bodyPr wrap="square" lIns="0" tIns="0" rIns="0" bIns="0" rtlCol="0" anchor="ctr"/>
          <a:lstStyle/>
          <a:p>
            <a:pPr indent="0" marL="0">
              <a:buNone/>
            </a:pPr>
            <a:r>
              <a:rPr lang="en-US" sz="650" dirty="0">
                <a:solidFill>
                  <a:srgbClr val="7A7268"/>
                </a:solidFill>
                <a:latin typeface="Calibri" pitchFamily="34" charset="0"/>
                <a:ea typeface="Calibri" pitchFamily="34" charset="-122"/>
                <a:cs typeface="Calibri" pitchFamily="34" charset="-120"/>
              </a:rPr>
              <a:t>Samuel Desseaux  |  Erythix / Aureonis  |  HPC AI Observability and Security</a:t>
            </a:r>
            <a:endParaRPr lang="en-US" sz="650" dirty="0"/>
          </a:p>
        </p:txBody>
      </p:sp>
      <p:sp>
        <p:nvSpPr>
          <p:cNvPr id="8" name="Shape 6"/>
          <p:cNvSpPr/>
          <p:nvPr/>
        </p:nvSpPr>
        <p:spPr>
          <a:xfrm>
            <a:off x="201168" y="621792"/>
            <a:ext cx="8741664" cy="749808"/>
          </a:xfrm>
          <a:prstGeom prst="rect">
            <a:avLst/>
          </a:prstGeom>
          <a:solidFill>
            <a:srgbClr val="FDF4F6"/>
          </a:solidFill>
          <a:ln w="12700">
            <a:solidFill>
              <a:srgbClr val="E8B0C0"/>
            </a:solidFill>
            <a:prstDash val="solid"/>
          </a:ln>
          <a:effectLst>
            <a:outerShdw sx="100000" sy="100000" kx="0" ky="0" algn="bl" rotWithShape="0" blurRad="38100" dist="25400" dir="8100000">
              <a:srgbClr val="000000">
                <a:alpha val="10000"/>
              </a:srgbClr>
            </a:outerShdw>
          </a:effectLst>
        </p:spPr>
      </p:sp>
      <p:sp>
        <p:nvSpPr>
          <p:cNvPr id="9" name="Shape 7"/>
          <p:cNvSpPr/>
          <p:nvPr/>
        </p:nvSpPr>
        <p:spPr>
          <a:xfrm>
            <a:off x="201168" y="621792"/>
            <a:ext cx="475488" cy="749808"/>
          </a:xfrm>
          <a:prstGeom prst="rect">
            <a:avLst/>
          </a:prstGeom>
          <a:solidFill>
            <a:srgbClr val="7D1C35"/>
          </a:solidFill>
          <a:ln w="12700">
            <a:solidFill>
              <a:srgbClr val="7D1C35"/>
            </a:solidFill>
            <a:prstDash val="solid"/>
          </a:ln>
        </p:spPr>
      </p:sp>
      <p:sp>
        <p:nvSpPr>
          <p:cNvPr id="10" name="Text 8"/>
          <p:cNvSpPr/>
          <p:nvPr/>
        </p:nvSpPr>
        <p:spPr>
          <a:xfrm>
            <a:off x="201168" y="621792"/>
            <a:ext cx="475488" cy="749808"/>
          </a:xfrm>
          <a:prstGeom prst="rect">
            <a:avLst/>
          </a:prstGeom>
          <a:noFill/>
          <a:ln/>
        </p:spPr>
        <p:txBody>
          <a:bodyPr wrap="square" lIns="0" tIns="0" rIns="0" bIns="0" rtlCol="0" anchor="ctr"/>
          <a:lstStyle/>
          <a:p>
            <a:pPr algn="ctr" indent="0" marL="0">
              <a:buNone/>
            </a:pPr>
            <a:r>
              <a:rPr lang="en-US" sz="1000" b="1" dirty="0">
                <a:solidFill>
                  <a:srgbClr val="FFFFFF"/>
                </a:solidFill>
                <a:latin typeface="Georgia" pitchFamily="34" charset="0"/>
                <a:ea typeface="Georgia" pitchFamily="34" charset="-122"/>
                <a:cs typeface="Georgia" pitchFamily="34" charset="-120"/>
              </a:rPr>
              <a:t>L1</a:t>
            </a:r>
            <a:endParaRPr lang="en-US" sz="1000" dirty="0"/>
          </a:p>
        </p:txBody>
      </p:sp>
      <p:sp>
        <p:nvSpPr>
          <p:cNvPr id="11" name="Text 9"/>
          <p:cNvSpPr/>
          <p:nvPr/>
        </p:nvSpPr>
        <p:spPr>
          <a:xfrm>
            <a:off x="749808" y="676656"/>
            <a:ext cx="2377440" cy="237744"/>
          </a:xfrm>
          <a:prstGeom prst="rect">
            <a:avLst/>
          </a:prstGeom>
          <a:noFill/>
          <a:ln/>
        </p:spPr>
        <p:txBody>
          <a:bodyPr wrap="square" lIns="0" tIns="0" rIns="0" bIns="0" rtlCol="0" anchor="ctr"/>
          <a:lstStyle/>
          <a:p>
            <a:pPr indent="0" marL="0">
              <a:buNone/>
            </a:pPr>
            <a:r>
              <a:rPr lang="en-US" sz="1000" b="1" dirty="0">
                <a:solidFill>
                  <a:srgbClr val="7D1C35"/>
                </a:solidFill>
                <a:latin typeface="Georgia" pitchFamily="34" charset="0"/>
                <a:ea typeface="Georgia" pitchFamily="34" charset="-122"/>
                <a:cs typeface="Georgia" pitchFamily="34" charset="-120"/>
              </a:rPr>
              <a:t>Noeuds de calcul GPU</a:t>
            </a:r>
            <a:endParaRPr lang="en-US" sz="1000" dirty="0"/>
          </a:p>
        </p:txBody>
      </p:sp>
      <p:sp>
        <p:nvSpPr>
          <p:cNvPr id="12" name="Text 10"/>
          <p:cNvSpPr/>
          <p:nvPr/>
        </p:nvSpPr>
        <p:spPr>
          <a:xfrm>
            <a:off x="749808" y="932688"/>
            <a:ext cx="6217920" cy="384048"/>
          </a:xfrm>
          <a:prstGeom prst="rect">
            <a:avLst/>
          </a:prstGeom>
          <a:noFill/>
          <a:ln/>
        </p:spPr>
        <p:txBody>
          <a:bodyPr wrap="square" lIns="0" tIns="0" rIns="0" bIns="0" rtlCol="0" anchor="ctr"/>
          <a:lstStyle/>
          <a:p>
            <a:pPr indent="0" marL="0">
              <a:lnSpc>
                <a:spcPct val="130000"/>
              </a:lnSpc>
              <a:buNone/>
            </a:pPr>
            <a:r>
              <a:rPr lang="en-US" sz="750" dirty="0">
                <a:solidFill>
                  <a:srgbClr val="3E3A36"/>
                </a:solidFill>
                <a:latin typeface="Calibri" pitchFamily="34" charset="0"/>
                <a:ea typeface="Calibri" pitchFamily="34" charset="-122"/>
                <a:cs typeface="Calibri" pitchFamily="34" charset="-120"/>
              </a:rPr>
              <a:t>4 a 8 GPU par noeud, interconnectes par NVLink (600 Go/s). Chaque GPU : 80 Go HBM3. 2 CPU d'orchestration, 512 Go RAM, NVMe local pour le staging.</a:t>
            </a:r>
            <a:endParaRPr lang="en-US" sz="750" dirty="0"/>
          </a:p>
        </p:txBody>
      </p:sp>
      <p:sp>
        <p:nvSpPr>
          <p:cNvPr id="13" name="Shape 11"/>
          <p:cNvSpPr/>
          <p:nvPr/>
        </p:nvSpPr>
        <p:spPr>
          <a:xfrm>
            <a:off x="3218688" y="676656"/>
            <a:ext cx="1243584" cy="201168"/>
          </a:xfrm>
          <a:prstGeom prst="rect">
            <a:avLst/>
          </a:prstGeom>
          <a:solidFill>
            <a:srgbClr val="F0F5FB"/>
          </a:solidFill>
          <a:ln w="12700">
            <a:solidFill>
              <a:srgbClr val="1F5FA0"/>
            </a:solidFill>
            <a:prstDash val="solid"/>
          </a:ln>
        </p:spPr>
      </p:sp>
      <p:sp>
        <p:nvSpPr>
          <p:cNvPr id="14" name="Text 12"/>
          <p:cNvSpPr/>
          <p:nvPr/>
        </p:nvSpPr>
        <p:spPr>
          <a:xfrm>
            <a:off x="3218688" y="676656"/>
            <a:ext cx="1243584" cy="201168"/>
          </a:xfrm>
          <a:prstGeom prst="rect">
            <a:avLst/>
          </a:prstGeom>
          <a:noFill/>
          <a:ln/>
        </p:spPr>
        <p:txBody>
          <a:bodyPr wrap="square" lIns="0" tIns="0" rIns="0" bIns="0" rtlCol="0" anchor="ctr"/>
          <a:lstStyle/>
          <a:p>
            <a:pPr algn="ctr" indent="0" marL="0">
              <a:buNone/>
            </a:pPr>
            <a:r>
              <a:rPr lang="en-US" sz="650" dirty="0">
                <a:solidFill>
                  <a:srgbClr val="1F5FA0"/>
                </a:solidFill>
                <a:latin typeface="Calibri" pitchFamily="34" charset="0"/>
                <a:ea typeface="Calibri" pitchFamily="34" charset="-122"/>
                <a:cs typeface="Calibri" pitchFamily="34" charset="-120"/>
              </a:rPr>
              <a:t>dcgm-exporter</a:t>
            </a:r>
            <a:endParaRPr lang="en-US" sz="650" dirty="0"/>
          </a:p>
        </p:txBody>
      </p:sp>
      <p:sp>
        <p:nvSpPr>
          <p:cNvPr id="15" name="Shape 13"/>
          <p:cNvSpPr/>
          <p:nvPr/>
        </p:nvSpPr>
        <p:spPr>
          <a:xfrm>
            <a:off x="4590288" y="676656"/>
            <a:ext cx="1243584" cy="201168"/>
          </a:xfrm>
          <a:prstGeom prst="rect">
            <a:avLst/>
          </a:prstGeom>
          <a:solidFill>
            <a:srgbClr val="FDF2F0"/>
          </a:solidFill>
          <a:ln w="12700">
            <a:solidFill>
              <a:srgbClr val="B83828"/>
            </a:solidFill>
            <a:prstDash val="solid"/>
          </a:ln>
        </p:spPr>
      </p:sp>
      <p:sp>
        <p:nvSpPr>
          <p:cNvPr id="16" name="Text 14"/>
          <p:cNvSpPr/>
          <p:nvPr/>
        </p:nvSpPr>
        <p:spPr>
          <a:xfrm>
            <a:off x="4590288" y="676656"/>
            <a:ext cx="1243584" cy="201168"/>
          </a:xfrm>
          <a:prstGeom prst="rect">
            <a:avLst/>
          </a:prstGeom>
          <a:noFill/>
          <a:ln/>
        </p:spPr>
        <p:txBody>
          <a:bodyPr wrap="square" lIns="0" tIns="0" rIns="0" bIns="0" rtlCol="0" anchor="ctr"/>
          <a:lstStyle/>
          <a:p>
            <a:pPr algn="ctr" indent="0" marL="0">
              <a:buNone/>
            </a:pPr>
            <a:r>
              <a:rPr lang="en-US" sz="650" dirty="0">
                <a:solidFill>
                  <a:srgbClr val="B83828"/>
                </a:solidFill>
                <a:latin typeface="Calibri" pitchFamily="34" charset="0"/>
                <a:ea typeface="Calibri" pitchFamily="34" charset="-122"/>
                <a:cs typeface="Calibri" pitchFamily="34" charset="-120"/>
              </a:rPr>
              <a:t>attaque firmware</a:t>
            </a:r>
            <a:endParaRPr lang="en-US" sz="650" dirty="0"/>
          </a:p>
        </p:txBody>
      </p:sp>
      <p:sp>
        <p:nvSpPr>
          <p:cNvPr id="17" name="Shape 15"/>
          <p:cNvSpPr/>
          <p:nvPr/>
        </p:nvSpPr>
        <p:spPr>
          <a:xfrm>
            <a:off x="5961888" y="676656"/>
            <a:ext cx="1243584" cy="201168"/>
          </a:xfrm>
          <a:prstGeom prst="rect">
            <a:avLst/>
          </a:prstGeom>
          <a:solidFill>
            <a:srgbClr val="F0F8F4"/>
          </a:solidFill>
          <a:ln w="12700">
            <a:solidFill>
              <a:srgbClr val="1A6E42"/>
            </a:solidFill>
            <a:prstDash val="solid"/>
          </a:ln>
        </p:spPr>
      </p:sp>
      <p:sp>
        <p:nvSpPr>
          <p:cNvPr id="18" name="Text 16"/>
          <p:cNvSpPr/>
          <p:nvPr/>
        </p:nvSpPr>
        <p:spPr>
          <a:xfrm>
            <a:off x="5961888" y="676656"/>
            <a:ext cx="1243584" cy="201168"/>
          </a:xfrm>
          <a:prstGeom prst="rect">
            <a:avLst/>
          </a:prstGeom>
          <a:noFill/>
          <a:ln/>
        </p:spPr>
        <p:txBody>
          <a:bodyPr wrap="square" lIns="0" tIns="0" rIns="0" bIns="0" rtlCol="0" anchor="ctr"/>
          <a:lstStyle/>
          <a:p>
            <a:pPr algn="ctr" indent="0" marL="0">
              <a:buNone/>
            </a:pPr>
            <a:r>
              <a:rPr lang="en-US" sz="650" dirty="0">
                <a:solidFill>
                  <a:srgbClr val="1A6E42"/>
                </a:solidFill>
                <a:latin typeface="Calibri" pitchFamily="34" charset="0"/>
                <a:ea typeface="Calibri" pitchFamily="34" charset="-122"/>
                <a:cs typeface="Calibri" pitchFamily="34" charset="-120"/>
              </a:rPr>
              <a:t>HBM bound</a:t>
            </a:r>
            <a:endParaRPr lang="en-US" sz="650" dirty="0"/>
          </a:p>
        </p:txBody>
      </p:sp>
      <p:sp>
        <p:nvSpPr>
          <p:cNvPr id="19" name="Shape 17"/>
          <p:cNvSpPr/>
          <p:nvPr/>
        </p:nvSpPr>
        <p:spPr>
          <a:xfrm>
            <a:off x="201168" y="1481328"/>
            <a:ext cx="8741664" cy="749808"/>
          </a:xfrm>
          <a:prstGeom prst="rect">
            <a:avLst/>
          </a:prstGeom>
          <a:solidFill>
            <a:srgbClr val="F0F5FB"/>
          </a:solidFill>
          <a:ln w="12700">
            <a:solidFill>
              <a:srgbClr val="90C0E8"/>
            </a:solidFill>
            <a:prstDash val="solid"/>
          </a:ln>
          <a:effectLst>
            <a:outerShdw sx="100000" sy="100000" kx="0" ky="0" algn="bl" rotWithShape="0" blurRad="38100" dist="25400" dir="8100000">
              <a:srgbClr val="000000">
                <a:alpha val="10000"/>
              </a:srgbClr>
            </a:outerShdw>
          </a:effectLst>
        </p:spPr>
      </p:sp>
      <p:sp>
        <p:nvSpPr>
          <p:cNvPr id="20" name="Shape 18"/>
          <p:cNvSpPr/>
          <p:nvPr/>
        </p:nvSpPr>
        <p:spPr>
          <a:xfrm>
            <a:off x="201168" y="1481328"/>
            <a:ext cx="475488" cy="749808"/>
          </a:xfrm>
          <a:prstGeom prst="rect">
            <a:avLst/>
          </a:prstGeom>
          <a:solidFill>
            <a:srgbClr val="1F5FA0"/>
          </a:solidFill>
          <a:ln w="12700">
            <a:solidFill>
              <a:srgbClr val="1F5FA0"/>
            </a:solidFill>
            <a:prstDash val="solid"/>
          </a:ln>
        </p:spPr>
      </p:sp>
      <p:sp>
        <p:nvSpPr>
          <p:cNvPr id="21" name="Text 19"/>
          <p:cNvSpPr/>
          <p:nvPr/>
        </p:nvSpPr>
        <p:spPr>
          <a:xfrm>
            <a:off x="201168" y="1481328"/>
            <a:ext cx="475488" cy="749808"/>
          </a:xfrm>
          <a:prstGeom prst="rect">
            <a:avLst/>
          </a:prstGeom>
          <a:noFill/>
          <a:ln/>
        </p:spPr>
        <p:txBody>
          <a:bodyPr wrap="square" lIns="0" tIns="0" rIns="0" bIns="0" rtlCol="0" anchor="ctr"/>
          <a:lstStyle/>
          <a:p>
            <a:pPr algn="ctr" indent="0" marL="0">
              <a:buNone/>
            </a:pPr>
            <a:r>
              <a:rPr lang="en-US" sz="1000" b="1" dirty="0">
                <a:solidFill>
                  <a:srgbClr val="FFFFFF"/>
                </a:solidFill>
                <a:latin typeface="Georgia" pitchFamily="34" charset="0"/>
                <a:ea typeface="Georgia" pitchFamily="34" charset="-122"/>
                <a:cs typeface="Georgia" pitchFamily="34" charset="-120"/>
              </a:rPr>
              <a:t>L2</a:t>
            </a:r>
            <a:endParaRPr lang="en-US" sz="1000" dirty="0"/>
          </a:p>
        </p:txBody>
      </p:sp>
      <p:sp>
        <p:nvSpPr>
          <p:cNvPr id="22" name="Text 20"/>
          <p:cNvSpPr/>
          <p:nvPr/>
        </p:nvSpPr>
        <p:spPr>
          <a:xfrm>
            <a:off x="749808" y="1536192"/>
            <a:ext cx="2377440" cy="237744"/>
          </a:xfrm>
          <a:prstGeom prst="rect">
            <a:avLst/>
          </a:prstGeom>
          <a:noFill/>
          <a:ln/>
        </p:spPr>
        <p:txBody>
          <a:bodyPr wrap="square" lIns="0" tIns="0" rIns="0" bIns="0" rtlCol="0" anchor="ctr"/>
          <a:lstStyle/>
          <a:p>
            <a:pPr indent="0" marL="0">
              <a:buNone/>
            </a:pPr>
            <a:r>
              <a:rPr lang="en-US" sz="1000" b="1" dirty="0">
                <a:solidFill>
                  <a:srgbClr val="1F5FA0"/>
                </a:solidFill>
                <a:latin typeface="Georgia" pitchFamily="34" charset="0"/>
                <a:ea typeface="Georgia" pitchFamily="34" charset="-122"/>
                <a:cs typeface="Georgia" pitchFamily="34" charset="-120"/>
              </a:rPr>
              <a:t>Reseau d'interconnexion — InfiniBand / RoCE</a:t>
            </a:r>
            <a:endParaRPr lang="en-US" sz="1000" dirty="0"/>
          </a:p>
        </p:txBody>
      </p:sp>
      <p:sp>
        <p:nvSpPr>
          <p:cNvPr id="23" name="Text 21"/>
          <p:cNvSpPr/>
          <p:nvPr/>
        </p:nvSpPr>
        <p:spPr>
          <a:xfrm>
            <a:off x="749808" y="1792224"/>
            <a:ext cx="6217920" cy="384048"/>
          </a:xfrm>
          <a:prstGeom prst="rect">
            <a:avLst/>
          </a:prstGeom>
          <a:noFill/>
          <a:ln/>
        </p:spPr>
        <p:txBody>
          <a:bodyPr wrap="square" lIns="0" tIns="0" rIns="0" bIns="0" rtlCol="0" anchor="ctr"/>
          <a:lstStyle/>
          <a:p>
            <a:pPr indent="0" marL="0">
              <a:lnSpc>
                <a:spcPct val="130000"/>
              </a:lnSpc>
              <a:buNone/>
            </a:pPr>
            <a:r>
              <a:rPr lang="en-US" sz="750" dirty="0">
                <a:solidFill>
                  <a:srgbClr val="3E3A36"/>
                </a:solidFill>
                <a:latin typeface="Calibri" pitchFamily="34" charset="0"/>
                <a:ea typeface="Calibri" pitchFamily="34" charset="-122"/>
                <a:cs typeface="Calibri" pitchFamily="34" charset="-120"/>
              </a:rPr>
              <a:t>InfiniBand HDR a 400 Gb/s, latence sub-microseconde. Topologie Fat-Tree garantit une bande passante non bloquante. Les gradients circulent ici durant NCCL AllReduce.</a:t>
            </a:r>
            <a:endParaRPr lang="en-US" sz="750" dirty="0"/>
          </a:p>
        </p:txBody>
      </p:sp>
      <p:sp>
        <p:nvSpPr>
          <p:cNvPr id="24" name="Shape 22"/>
          <p:cNvSpPr/>
          <p:nvPr/>
        </p:nvSpPr>
        <p:spPr>
          <a:xfrm>
            <a:off x="3218688" y="1536192"/>
            <a:ext cx="1243584" cy="201168"/>
          </a:xfrm>
          <a:prstGeom prst="rect">
            <a:avLst/>
          </a:prstGeom>
          <a:solidFill>
            <a:srgbClr val="F0F5FB"/>
          </a:solidFill>
          <a:ln w="12700">
            <a:solidFill>
              <a:srgbClr val="1F5FA0"/>
            </a:solidFill>
            <a:prstDash val="solid"/>
          </a:ln>
        </p:spPr>
      </p:sp>
      <p:sp>
        <p:nvSpPr>
          <p:cNvPr id="25" name="Text 23"/>
          <p:cNvSpPr/>
          <p:nvPr/>
        </p:nvSpPr>
        <p:spPr>
          <a:xfrm>
            <a:off x="3218688" y="1536192"/>
            <a:ext cx="1243584" cy="201168"/>
          </a:xfrm>
          <a:prstGeom prst="rect">
            <a:avLst/>
          </a:prstGeom>
          <a:noFill/>
          <a:ln/>
        </p:spPr>
        <p:txBody>
          <a:bodyPr wrap="square" lIns="0" tIns="0" rIns="0" bIns="0" rtlCol="0" anchor="ctr"/>
          <a:lstStyle/>
          <a:p>
            <a:pPr algn="ctr" indent="0" marL="0">
              <a:buNone/>
            </a:pPr>
            <a:r>
              <a:rPr lang="en-US" sz="650" dirty="0">
                <a:solidFill>
                  <a:srgbClr val="1F5FA0"/>
                </a:solidFill>
                <a:latin typeface="Calibri" pitchFamily="34" charset="0"/>
                <a:ea typeface="Calibri" pitchFamily="34" charset="-122"/>
                <a:cs typeface="Calibri" pitchFamily="34" charset="-120"/>
              </a:rPr>
              <a:t>ibstat / perfquery</a:t>
            </a:r>
            <a:endParaRPr lang="en-US" sz="650" dirty="0"/>
          </a:p>
        </p:txBody>
      </p:sp>
      <p:sp>
        <p:nvSpPr>
          <p:cNvPr id="26" name="Shape 24"/>
          <p:cNvSpPr/>
          <p:nvPr/>
        </p:nvSpPr>
        <p:spPr>
          <a:xfrm>
            <a:off x="4590288" y="1536192"/>
            <a:ext cx="1243584" cy="201168"/>
          </a:xfrm>
          <a:prstGeom prst="rect">
            <a:avLst/>
          </a:prstGeom>
          <a:solidFill>
            <a:srgbClr val="FDF2F0"/>
          </a:solidFill>
          <a:ln w="12700">
            <a:solidFill>
              <a:srgbClr val="B83828"/>
            </a:solidFill>
            <a:prstDash val="solid"/>
          </a:ln>
        </p:spPr>
      </p:sp>
      <p:sp>
        <p:nvSpPr>
          <p:cNvPr id="27" name="Text 25"/>
          <p:cNvSpPr/>
          <p:nvPr/>
        </p:nvSpPr>
        <p:spPr>
          <a:xfrm>
            <a:off x="4590288" y="1536192"/>
            <a:ext cx="1243584" cy="201168"/>
          </a:xfrm>
          <a:prstGeom prst="rect">
            <a:avLst/>
          </a:prstGeom>
          <a:noFill/>
          <a:ln/>
        </p:spPr>
        <p:txBody>
          <a:bodyPr wrap="square" lIns="0" tIns="0" rIns="0" bIns="0" rtlCol="0" anchor="ctr"/>
          <a:lstStyle/>
          <a:p>
            <a:pPr algn="ctr" indent="0" marL="0">
              <a:buNone/>
            </a:pPr>
            <a:r>
              <a:rPr lang="en-US" sz="650" dirty="0">
                <a:solidFill>
                  <a:srgbClr val="B83828"/>
                </a:solidFill>
                <a:latin typeface="Calibri" pitchFamily="34" charset="0"/>
                <a:ea typeface="Calibri" pitchFamily="34" charset="-122"/>
                <a:cs typeface="Calibri" pitchFamily="34" charset="-120"/>
              </a:rPr>
              <a:t>angle mort RDMA</a:t>
            </a:r>
            <a:endParaRPr lang="en-US" sz="650" dirty="0"/>
          </a:p>
        </p:txBody>
      </p:sp>
      <p:sp>
        <p:nvSpPr>
          <p:cNvPr id="28" name="Shape 26"/>
          <p:cNvSpPr/>
          <p:nvPr/>
        </p:nvSpPr>
        <p:spPr>
          <a:xfrm>
            <a:off x="5961888" y="1536192"/>
            <a:ext cx="1243584" cy="201168"/>
          </a:xfrm>
          <a:prstGeom prst="rect">
            <a:avLst/>
          </a:prstGeom>
          <a:solidFill>
            <a:srgbClr val="F0F8F4"/>
          </a:solidFill>
          <a:ln w="12700">
            <a:solidFill>
              <a:srgbClr val="1A6E42"/>
            </a:solidFill>
            <a:prstDash val="solid"/>
          </a:ln>
        </p:spPr>
      </p:sp>
      <p:sp>
        <p:nvSpPr>
          <p:cNvPr id="29" name="Text 27"/>
          <p:cNvSpPr/>
          <p:nvPr/>
        </p:nvSpPr>
        <p:spPr>
          <a:xfrm>
            <a:off x="5961888" y="1536192"/>
            <a:ext cx="1243584" cy="201168"/>
          </a:xfrm>
          <a:prstGeom prst="rect">
            <a:avLst/>
          </a:prstGeom>
          <a:noFill/>
          <a:ln/>
        </p:spPr>
        <p:txBody>
          <a:bodyPr wrap="square" lIns="0" tIns="0" rIns="0" bIns="0" rtlCol="0" anchor="ctr"/>
          <a:lstStyle/>
          <a:p>
            <a:pPr algn="ctr" indent="0" marL="0">
              <a:buNone/>
            </a:pPr>
            <a:r>
              <a:rPr lang="en-US" sz="650" dirty="0">
                <a:solidFill>
                  <a:srgbClr val="1A6E42"/>
                </a:solidFill>
                <a:latin typeface="Calibri" pitchFamily="34" charset="0"/>
                <a:ea typeface="Calibri" pitchFamily="34" charset="-122"/>
                <a:cs typeface="Calibri" pitchFamily="34" charset="-120"/>
              </a:rPr>
              <a:t>latence critique</a:t>
            </a:r>
            <a:endParaRPr lang="en-US" sz="650" dirty="0"/>
          </a:p>
        </p:txBody>
      </p:sp>
      <p:sp>
        <p:nvSpPr>
          <p:cNvPr id="30" name="Shape 28"/>
          <p:cNvSpPr/>
          <p:nvPr/>
        </p:nvSpPr>
        <p:spPr>
          <a:xfrm>
            <a:off x="201168" y="2340864"/>
            <a:ext cx="8741664" cy="749808"/>
          </a:xfrm>
          <a:prstGeom prst="rect">
            <a:avLst/>
          </a:prstGeom>
          <a:solidFill>
            <a:srgbClr val="F0F8F4"/>
          </a:solidFill>
          <a:ln w="12700">
            <a:solidFill>
              <a:srgbClr val="80C8A8"/>
            </a:solidFill>
            <a:prstDash val="solid"/>
          </a:ln>
          <a:effectLst>
            <a:outerShdw sx="100000" sy="100000" kx="0" ky="0" algn="bl" rotWithShape="0" blurRad="38100" dist="25400" dir="8100000">
              <a:srgbClr val="000000">
                <a:alpha val="10000"/>
              </a:srgbClr>
            </a:outerShdw>
          </a:effectLst>
        </p:spPr>
      </p:sp>
      <p:sp>
        <p:nvSpPr>
          <p:cNvPr id="31" name="Shape 29"/>
          <p:cNvSpPr/>
          <p:nvPr/>
        </p:nvSpPr>
        <p:spPr>
          <a:xfrm>
            <a:off x="201168" y="2340864"/>
            <a:ext cx="475488" cy="749808"/>
          </a:xfrm>
          <a:prstGeom prst="rect">
            <a:avLst/>
          </a:prstGeom>
          <a:solidFill>
            <a:srgbClr val="1A6E42"/>
          </a:solidFill>
          <a:ln w="12700">
            <a:solidFill>
              <a:srgbClr val="1A6E42"/>
            </a:solidFill>
            <a:prstDash val="solid"/>
          </a:ln>
        </p:spPr>
      </p:sp>
      <p:sp>
        <p:nvSpPr>
          <p:cNvPr id="32" name="Text 30"/>
          <p:cNvSpPr/>
          <p:nvPr/>
        </p:nvSpPr>
        <p:spPr>
          <a:xfrm>
            <a:off x="201168" y="2340864"/>
            <a:ext cx="475488" cy="749808"/>
          </a:xfrm>
          <a:prstGeom prst="rect">
            <a:avLst/>
          </a:prstGeom>
          <a:noFill/>
          <a:ln/>
        </p:spPr>
        <p:txBody>
          <a:bodyPr wrap="square" lIns="0" tIns="0" rIns="0" bIns="0" rtlCol="0" anchor="ctr"/>
          <a:lstStyle/>
          <a:p>
            <a:pPr algn="ctr" indent="0" marL="0">
              <a:buNone/>
            </a:pPr>
            <a:r>
              <a:rPr lang="en-US" sz="1000" b="1" dirty="0">
                <a:solidFill>
                  <a:srgbClr val="FFFFFF"/>
                </a:solidFill>
                <a:latin typeface="Georgia" pitchFamily="34" charset="0"/>
                <a:ea typeface="Georgia" pitchFamily="34" charset="-122"/>
                <a:cs typeface="Georgia" pitchFamily="34" charset="-120"/>
              </a:rPr>
              <a:t>L3</a:t>
            </a:r>
            <a:endParaRPr lang="en-US" sz="1000" dirty="0"/>
          </a:p>
        </p:txBody>
      </p:sp>
      <p:sp>
        <p:nvSpPr>
          <p:cNvPr id="33" name="Text 31"/>
          <p:cNvSpPr/>
          <p:nvPr/>
        </p:nvSpPr>
        <p:spPr>
          <a:xfrm>
            <a:off x="749808" y="2395728"/>
            <a:ext cx="2377440" cy="237744"/>
          </a:xfrm>
          <a:prstGeom prst="rect">
            <a:avLst/>
          </a:prstGeom>
          <a:noFill/>
          <a:ln/>
        </p:spPr>
        <p:txBody>
          <a:bodyPr wrap="square" lIns="0" tIns="0" rIns="0" bIns="0" rtlCol="0" anchor="ctr"/>
          <a:lstStyle/>
          <a:p>
            <a:pPr indent="0" marL="0">
              <a:buNone/>
            </a:pPr>
            <a:r>
              <a:rPr lang="en-US" sz="1000" b="1" dirty="0">
                <a:solidFill>
                  <a:srgbClr val="1A6E42"/>
                </a:solidFill>
                <a:latin typeface="Georgia" pitchFamily="34" charset="0"/>
                <a:ea typeface="Georgia" pitchFamily="34" charset="-122"/>
                <a:cs typeface="Georgia" pitchFamily="34" charset="-120"/>
              </a:rPr>
              <a:t>Stockage parallele partage — Lustre / GPFS</a:t>
            </a:r>
            <a:endParaRPr lang="en-US" sz="1000" dirty="0"/>
          </a:p>
        </p:txBody>
      </p:sp>
      <p:sp>
        <p:nvSpPr>
          <p:cNvPr id="34" name="Text 32"/>
          <p:cNvSpPr/>
          <p:nvPr/>
        </p:nvSpPr>
        <p:spPr>
          <a:xfrm>
            <a:off x="749808" y="2651760"/>
            <a:ext cx="6217920" cy="384048"/>
          </a:xfrm>
          <a:prstGeom prst="rect">
            <a:avLst/>
          </a:prstGeom>
          <a:noFill/>
          <a:ln/>
        </p:spPr>
        <p:txBody>
          <a:bodyPr wrap="square" lIns="0" tIns="0" rIns="0" bIns="0" rtlCol="0" anchor="ctr"/>
          <a:lstStyle/>
          <a:p>
            <a:pPr indent="0" marL="0">
              <a:lnSpc>
                <a:spcPct val="130000"/>
              </a:lnSpc>
              <a:buNone/>
            </a:pPr>
            <a:r>
              <a:rPr lang="en-US" sz="750" dirty="0">
                <a:solidFill>
                  <a:srgbClr val="3E3A36"/>
                </a:solidFill>
                <a:latin typeface="Calibri" pitchFamily="34" charset="0"/>
                <a:ea typeface="Calibri" pitchFamily="34" charset="-122"/>
                <a:cs typeface="Calibri" pitchFamily="34" charset="-120"/>
              </a:rPr>
              <a:t>Fichiers distribues sur des dizaines de serveurs OSS. 28+ Go/s de debit agrege. Les GPU ne doivent jamais attendre les donnees.</a:t>
            </a:r>
            <a:endParaRPr lang="en-US" sz="750" dirty="0"/>
          </a:p>
        </p:txBody>
      </p:sp>
      <p:sp>
        <p:nvSpPr>
          <p:cNvPr id="35" name="Shape 33"/>
          <p:cNvSpPr/>
          <p:nvPr/>
        </p:nvSpPr>
        <p:spPr>
          <a:xfrm>
            <a:off x="3218688" y="2395728"/>
            <a:ext cx="1243584" cy="201168"/>
          </a:xfrm>
          <a:prstGeom prst="rect">
            <a:avLst/>
          </a:prstGeom>
          <a:solidFill>
            <a:srgbClr val="F0F5FB"/>
          </a:solidFill>
          <a:ln w="12700">
            <a:solidFill>
              <a:srgbClr val="1F5FA0"/>
            </a:solidFill>
            <a:prstDash val="solid"/>
          </a:ln>
        </p:spPr>
      </p:sp>
      <p:sp>
        <p:nvSpPr>
          <p:cNvPr id="36" name="Text 34"/>
          <p:cNvSpPr/>
          <p:nvPr/>
        </p:nvSpPr>
        <p:spPr>
          <a:xfrm>
            <a:off x="3218688" y="2395728"/>
            <a:ext cx="1243584" cy="201168"/>
          </a:xfrm>
          <a:prstGeom prst="rect">
            <a:avLst/>
          </a:prstGeom>
          <a:noFill/>
          <a:ln/>
        </p:spPr>
        <p:txBody>
          <a:bodyPr wrap="square" lIns="0" tIns="0" rIns="0" bIns="0" rtlCol="0" anchor="ctr"/>
          <a:lstStyle/>
          <a:p>
            <a:pPr algn="ctr" indent="0" marL="0">
              <a:buNone/>
            </a:pPr>
            <a:r>
              <a:rPr lang="en-US" sz="650" dirty="0">
                <a:solidFill>
                  <a:srgbClr val="1F5FA0"/>
                </a:solidFill>
                <a:latin typeface="Calibri" pitchFamily="34" charset="0"/>
                <a:ea typeface="Calibri" pitchFamily="34" charset="-122"/>
                <a:cs typeface="Calibri" pitchFamily="34" charset="-120"/>
              </a:rPr>
              <a:t>metriques Lustre</a:t>
            </a:r>
            <a:endParaRPr lang="en-US" sz="650" dirty="0"/>
          </a:p>
        </p:txBody>
      </p:sp>
      <p:sp>
        <p:nvSpPr>
          <p:cNvPr id="37" name="Shape 35"/>
          <p:cNvSpPr/>
          <p:nvPr/>
        </p:nvSpPr>
        <p:spPr>
          <a:xfrm>
            <a:off x="4590288" y="2395728"/>
            <a:ext cx="1243584" cy="201168"/>
          </a:xfrm>
          <a:prstGeom prst="rect">
            <a:avLst/>
          </a:prstGeom>
          <a:solidFill>
            <a:srgbClr val="FDF2F0"/>
          </a:solidFill>
          <a:ln w="12700">
            <a:solidFill>
              <a:srgbClr val="B83828"/>
            </a:solidFill>
            <a:prstDash val="solid"/>
          </a:ln>
        </p:spPr>
      </p:sp>
      <p:sp>
        <p:nvSpPr>
          <p:cNvPr id="38" name="Text 36"/>
          <p:cNvSpPr/>
          <p:nvPr/>
        </p:nvSpPr>
        <p:spPr>
          <a:xfrm>
            <a:off x="4590288" y="2395728"/>
            <a:ext cx="1243584" cy="201168"/>
          </a:xfrm>
          <a:prstGeom prst="rect">
            <a:avLst/>
          </a:prstGeom>
          <a:noFill/>
          <a:ln/>
        </p:spPr>
        <p:txBody>
          <a:bodyPr wrap="square" lIns="0" tIns="0" rIns="0" bIns="0" rtlCol="0" anchor="ctr"/>
          <a:lstStyle/>
          <a:p>
            <a:pPr algn="ctr" indent="0" marL="0">
              <a:buNone/>
            </a:pPr>
            <a:r>
              <a:rPr lang="en-US" sz="650" dirty="0">
                <a:solidFill>
                  <a:srgbClr val="B83828"/>
                </a:solidFill>
                <a:latin typeface="Calibri" pitchFamily="34" charset="0"/>
                <a:ea typeface="Calibri" pitchFamily="34" charset="-122"/>
                <a:cs typeface="Calibri" pitchFamily="34" charset="-120"/>
              </a:rPr>
              <a:t>data poisoning</a:t>
            </a:r>
            <a:endParaRPr lang="en-US" sz="650" dirty="0"/>
          </a:p>
        </p:txBody>
      </p:sp>
      <p:sp>
        <p:nvSpPr>
          <p:cNvPr id="39" name="Shape 37"/>
          <p:cNvSpPr/>
          <p:nvPr/>
        </p:nvSpPr>
        <p:spPr>
          <a:xfrm>
            <a:off x="5961888" y="2395728"/>
            <a:ext cx="1243584" cy="201168"/>
          </a:xfrm>
          <a:prstGeom prst="rect">
            <a:avLst/>
          </a:prstGeom>
          <a:solidFill>
            <a:srgbClr val="F0F8F4"/>
          </a:solidFill>
          <a:ln w="12700">
            <a:solidFill>
              <a:srgbClr val="1A6E42"/>
            </a:solidFill>
            <a:prstDash val="solid"/>
          </a:ln>
        </p:spPr>
      </p:sp>
      <p:sp>
        <p:nvSpPr>
          <p:cNvPr id="40" name="Text 38"/>
          <p:cNvSpPr/>
          <p:nvPr/>
        </p:nvSpPr>
        <p:spPr>
          <a:xfrm>
            <a:off x="5961888" y="2395728"/>
            <a:ext cx="1243584" cy="201168"/>
          </a:xfrm>
          <a:prstGeom prst="rect">
            <a:avLst/>
          </a:prstGeom>
          <a:noFill/>
          <a:ln/>
        </p:spPr>
        <p:txBody>
          <a:bodyPr wrap="square" lIns="0" tIns="0" rIns="0" bIns="0" rtlCol="0" anchor="ctr"/>
          <a:lstStyle/>
          <a:p>
            <a:pPr algn="ctr" indent="0" marL="0">
              <a:buNone/>
            </a:pPr>
            <a:r>
              <a:rPr lang="en-US" sz="650" dirty="0">
                <a:solidFill>
                  <a:srgbClr val="1A6E42"/>
                </a:solidFill>
                <a:latin typeface="Calibri" pitchFamily="34" charset="0"/>
                <a:ea typeface="Calibri" pitchFamily="34" charset="-122"/>
                <a:cs typeface="Calibri" pitchFamily="34" charset="-120"/>
              </a:rPr>
              <a:t>throughput</a:t>
            </a:r>
            <a:endParaRPr lang="en-US" sz="650" dirty="0"/>
          </a:p>
        </p:txBody>
      </p:sp>
      <p:sp>
        <p:nvSpPr>
          <p:cNvPr id="41" name="Shape 39"/>
          <p:cNvSpPr/>
          <p:nvPr/>
        </p:nvSpPr>
        <p:spPr>
          <a:xfrm>
            <a:off x="201168" y="3200400"/>
            <a:ext cx="8741664" cy="749808"/>
          </a:xfrm>
          <a:prstGeom prst="rect">
            <a:avLst/>
          </a:prstGeom>
          <a:solidFill>
            <a:srgbClr val="FDF8F0"/>
          </a:solidFill>
          <a:ln w="12700">
            <a:solidFill>
              <a:srgbClr val="E8C860"/>
            </a:solidFill>
            <a:prstDash val="solid"/>
          </a:ln>
          <a:effectLst>
            <a:outerShdw sx="100000" sy="100000" kx="0" ky="0" algn="bl" rotWithShape="0" blurRad="38100" dist="25400" dir="8100000">
              <a:srgbClr val="000000">
                <a:alpha val="10000"/>
              </a:srgbClr>
            </a:outerShdw>
          </a:effectLst>
        </p:spPr>
      </p:sp>
      <p:sp>
        <p:nvSpPr>
          <p:cNvPr id="42" name="Shape 40"/>
          <p:cNvSpPr/>
          <p:nvPr/>
        </p:nvSpPr>
        <p:spPr>
          <a:xfrm>
            <a:off x="201168" y="3200400"/>
            <a:ext cx="475488" cy="749808"/>
          </a:xfrm>
          <a:prstGeom prst="rect">
            <a:avLst/>
          </a:prstGeom>
          <a:solidFill>
            <a:srgbClr val="8A5A00"/>
          </a:solidFill>
          <a:ln w="12700">
            <a:solidFill>
              <a:srgbClr val="8A5A00"/>
            </a:solidFill>
            <a:prstDash val="solid"/>
          </a:ln>
        </p:spPr>
      </p:sp>
      <p:sp>
        <p:nvSpPr>
          <p:cNvPr id="43" name="Text 41"/>
          <p:cNvSpPr/>
          <p:nvPr/>
        </p:nvSpPr>
        <p:spPr>
          <a:xfrm>
            <a:off x="201168" y="3200400"/>
            <a:ext cx="475488" cy="749808"/>
          </a:xfrm>
          <a:prstGeom prst="rect">
            <a:avLst/>
          </a:prstGeom>
          <a:noFill/>
          <a:ln/>
        </p:spPr>
        <p:txBody>
          <a:bodyPr wrap="square" lIns="0" tIns="0" rIns="0" bIns="0" rtlCol="0" anchor="ctr"/>
          <a:lstStyle/>
          <a:p>
            <a:pPr algn="ctr" indent="0" marL="0">
              <a:buNone/>
            </a:pPr>
            <a:r>
              <a:rPr lang="en-US" sz="1000" b="1" dirty="0">
                <a:solidFill>
                  <a:srgbClr val="FFFFFF"/>
                </a:solidFill>
                <a:latin typeface="Georgia" pitchFamily="34" charset="0"/>
                <a:ea typeface="Georgia" pitchFamily="34" charset="-122"/>
                <a:cs typeface="Georgia" pitchFamily="34" charset="-120"/>
              </a:rPr>
              <a:t>L4</a:t>
            </a:r>
            <a:endParaRPr lang="en-US" sz="1000" dirty="0"/>
          </a:p>
        </p:txBody>
      </p:sp>
      <p:sp>
        <p:nvSpPr>
          <p:cNvPr id="44" name="Text 42"/>
          <p:cNvSpPr/>
          <p:nvPr/>
        </p:nvSpPr>
        <p:spPr>
          <a:xfrm>
            <a:off x="749808" y="3255264"/>
            <a:ext cx="2377440" cy="237744"/>
          </a:xfrm>
          <a:prstGeom prst="rect">
            <a:avLst/>
          </a:prstGeom>
          <a:noFill/>
          <a:ln/>
        </p:spPr>
        <p:txBody>
          <a:bodyPr wrap="square" lIns="0" tIns="0" rIns="0" bIns="0" rtlCol="0" anchor="ctr"/>
          <a:lstStyle/>
          <a:p>
            <a:pPr indent="0" marL="0">
              <a:buNone/>
            </a:pPr>
            <a:r>
              <a:rPr lang="en-US" sz="1000" b="1" dirty="0">
                <a:solidFill>
                  <a:srgbClr val="8A5A00"/>
                </a:solidFill>
                <a:latin typeface="Georgia" pitchFamily="34" charset="0"/>
                <a:ea typeface="Georgia" pitchFamily="34" charset="-122"/>
                <a:cs typeface="Georgia" pitchFamily="34" charset="-120"/>
              </a:rPr>
              <a:t>Ordonnanceur — SLURM / PBS</a:t>
            </a:r>
            <a:endParaRPr lang="en-US" sz="1000" dirty="0"/>
          </a:p>
        </p:txBody>
      </p:sp>
      <p:sp>
        <p:nvSpPr>
          <p:cNvPr id="45" name="Text 43"/>
          <p:cNvSpPr/>
          <p:nvPr/>
        </p:nvSpPr>
        <p:spPr>
          <a:xfrm>
            <a:off x="749808" y="3511296"/>
            <a:ext cx="6217920" cy="384048"/>
          </a:xfrm>
          <a:prstGeom prst="rect">
            <a:avLst/>
          </a:prstGeom>
          <a:noFill/>
          <a:ln/>
        </p:spPr>
        <p:txBody>
          <a:bodyPr wrap="square" lIns="0" tIns="0" rIns="0" bIns="0" rtlCol="0" anchor="ctr"/>
          <a:lstStyle/>
          <a:p>
            <a:pPr indent="0" marL="0">
              <a:lnSpc>
                <a:spcPct val="130000"/>
              </a:lnSpc>
              <a:buNone/>
            </a:pPr>
            <a:r>
              <a:rPr lang="en-US" sz="750" dirty="0">
                <a:solidFill>
                  <a:srgbClr val="3E3A36"/>
                </a:solidFill>
                <a:latin typeface="Calibri" pitchFamily="34" charset="0"/>
                <a:ea typeface="Calibri" pitchFamily="34" charset="-122"/>
                <a:cs typeface="Calibri" pitchFamily="34" charset="-120"/>
              </a:rPr>
              <a:t>Gere les files d'attente, l'allocation GPU, l'isolation entre jobs. Les scripts prolog/epilog permettent l'injection d'instrumentation.</a:t>
            </a:r>
            <a:endParaRPr lang="en-US" sz="750" dirty="0"/>
          </a:p>
        </p:txBody>
      </p:sp>
      <p:sp>
        <p:nvSpPr>
          <p:cNvPr id="46" name="Shape 44"/>
          <p:cNvSpPr/>
          <p:nvPr/>
        </p:nvSpPr>
        <p:spPr>
          <a:xfrm>
            <a:off x="3218688" y="3255264"/>
            <a:ext cx="1243584" cy="201168"/>
          </a:xfrm>
          <a:prstGeom prst="rect">
            <a:avLst/>
          </a:prstGeom>
          <a:solidFill>
            <a:srgbClr val="F0F5FB"/>
          </a:solidFill>
          <a:ln w="12700">
            <a:solidFill>
              <a:srgbClr val="1F5FA0"/>
            </a:solidFill>
            <a:prstDash val="solid"/>
          </a:ln>
        </p:spPr>
      </p:sp>
      <p:sp>
        <p:nvSpPr>
          <p:cNvPr id="47" name="Text 45"/>
          <p:cNvSpPr/>
          <p:nvPr/>
        </p:nvSpPr>
        <p:spPr>
          <a:xfrm>
            <a:off x="3218688" y="3255264"/>
            <a:ext cx="1243584" cy="201168"/>
          </a:xfrm>
          <a:prstGeom prst="rect">
            <a:avLst/>
          </a:prstGeom>
          <a:noFill/>
          <a:ln/>
        </p:spPr>
        <p:txBody>
          <a:bodyPr wrap="square" lIns="0" tIns="0" rIns="0" bIns="0" rtlCol="0" anchor="ctr"/>
          <a:lstStyle/>
          <a:p>
            <a:pPr algn="ctr" indent="0" marL="0">
              <a:buNone/>
            </a:pPr>
            <a:r>
              <a:rPr lang="en-US" sz="650" dirty="0">
                <a:solidFill>
                  <a:srgbClr val="1F5FA0"/>
                </a:solidFill>
                <a:latin typeface="Calibri" pitchFamily="34" charset="0"/>
                <a:ea typeface="Calibri" pitchFamily="34" charset="-122"/>
                <a:cs typeface="Calibri" pitchFamily="34" charset="-120"/>
              </a:rPr>
              <a:t>slurm-exporter</a:t>
            </a:r>
            <a:endParaRPr lang="en-US" sz="650" dirty="0"/>
          </a:p>
        </p:txBody>
      </p:sp>
      <p:sp>
        <p:nvSpPr>
          <p:cNvPr id="48" name="Shape 46"/>
          <p:cNvSpPr/>
          <p:nvPr/>
        </p:nvSpPr>
        <p:spPr>
          <a:xfrm>
            <a:off x="4590288" y="3255264"/>
            <a:ext cx="1243584" cy="201168"/>
          </a:xfrm>
          <a:prstGeom prst="rect">
            <a:avLst/>
          </a:prstGeom>
          <a:solidFill>
            <a:srgbClr val="FDF2F0"/>
          </a:solidFill>
          <a:ln w="12700">
            <a:solidFill>
              <a:srgbClr val="B83828"/>
            </a:solidFill>
            <a:prstDash val="solid"/>
          </a:ln>
        </p:spPr>
      </p:sp>
      <p:sp>
        <p:nvSpPr>
          <p:cNvPr id="49" name="Text 47"/>
          <p:cNvSpPr/>
          <p:nvPr/>
        </p:nvSpPr>
        <p:spPr>
          <a:xfrm>
            <a:off x="4590288" y="3255264"/>
            <a:ext cx="1243584" cy="201168"/>
          </a:xfrm>
          <a:prstGeom prst="rect">
            <a:avLst/>
          </a:prstGeom>
          <a:noFill/>
          <a:ln/>
        </p:spPr>
        <p:txBody>
          <a:bodyPr wrap="square" lIns="0" tIns="0" rIns="0" bIns="0" rtlCol="0" anchor="ctr"/>
          <a:lstStyle/>
          <a:p>
            <a:pPr algn="ctr" indent="0" marL="0">
              <a:buNone/>
            </a:pPr>
            <a:r>
              <a:rPr lang="en-US" sz="650" dirty="0">
                <a:solidFill>
                  <a:srgbClr val="B83828"/>
                </a:solidFill>
                <a:latin typeface="Calibri" pitchFamily="34" charset="0"/>
                <a:ea typeface="Calibri" pitchFamily="34" charset="-122"/>
                <a:cs typeface="Calibri" pitchFamily="34" charset="-120"/>
              </a:rPr>
              <a:t>isolation jobs</a:t>
            </a:r>
            <a:endParaRPr lang="en-US" sz="650" dirty="0"/>
          </a:p>
        </p:txBody>
      </p:sp>
      <p:sp>
        <p:nvSpPr>
          <p:cNvPr id="50" name="Shape 48"/>
          <p:cNvSpPr/>
          <p:nvPr/>
        </p:nvSpPr>
        <p:spPr>
          <a:xfrm>
            <a:off x="5961888" y="3255264"/>
            <a:ext cx="1243584" cy="201168"/>
          </a:xfrm>
          <a:prstGeom prst="rect">
            <a:avLst/>
          </a:prstGeom>
          <a:solidFill>
            <a:srgbClr val="F3F0EA"/>
          </a:solidFill>
          <a:ln w="12700">
            <a:solidFill>
              <a:srgbClr val="7A7268"/>
            </a:solidFill>
            <a:prstDash val="solid"/>
          </a:ln>
        </p:spPr>
      </p:sp>
      <p:sp>
        <p:nvSpPr>
          <p:cNvPr id="51" name="Text 49"/>
          <p:cNvSpPr/>
          <p:nvPr/>
        </p:nvSpPr>
        <p:spPr>
          <a:xfrm>
            <a:off x="5961888" y="3255264"/>
            <a:ext cx="1243584" cy="201168"/>
          </a:xfrm>
          <a:prstGeom prst="rect">
            <a:avLst/>
          </a:prstGeom>
          <a:noFill/>
          <a:ln/>
        </p:spPr>
        <p:txBody>
          <a:bodyPr wrap="square" lIns="0" tIns="0" rIns="0" bIns="0" rtlCol="0" anchor="ctr"/>
          <a:lstStyle/>
          <a:p>
            <a:pPr algn="ctr" indent="0" marL="0">
              <a:buNone/>
            </a:pPr>
            <a:r>
              <a:rPr lang="en-US" sz="650" dirty="0">
                <a:solidFill>
                  <a:srgbClr val="7A7268"/>
                </a:solidFill>
                <a:latin typeface="Calibri" pitchFamily="34" charset="0"/>
                <a:ea typeface="Calibri" pitchFamily="34" charset="-122"/>
                <a:cs typeface="Calibri" pitchFamily="34" charset="-120"/>
              </a:rPr>
              <a:t>ordonnancement</a:t>
            </a:r>
            <a:endParaRPr lang="en-US" sz="650" dirty="0"/>
          </a:p>
        </p:txBody>
      </p:sp>
      <p:sp>
        <p:nvSpPr>
          <p:cNvPr id="52" name="Shape 50"/>
          <p:cNvSpPr/>
          <p:nvPr/>
        </p:nvSpPr>
        <p:spPr>
          <a:xfrm>
            <a:off x="201168" y="4059936"/>
            <a:ext cx="8741664" cy="749808"/>
          </a:xfrm>
          <a:prstGeom prst="rect">
            <a:avLst/>
          </a:prstGeom>
          <a:solidFill>
            <a:srgbClr val="F3F0EA"/>
          </a:solidFill>
          <a:ln w="12700">
            <a:solidFill>
              <a:srgbClr val="C8C2B8"/>
            </a:solidFill>
            <a:prstDash val="solid"/>
          </a:ln>
          <a:effectLst>
            <a:outerShdw sx="100000" sy="100000" kx="0" ky="0" algn="bl" rotWithShape="0" blurRad="38100" dist="25400" dir="8100000">
              <a:srgbClr val="000000">
                <a:alpha val="10000"/>
              </a:srgbClr>
            </a:outerShdw>
          </a:effectLst>
        </p:spPr>
      </p:sp>
      <p:sp>
        <p:nvSpPr>
          <p:cNvPr id="53" name="Shape 51"/>
          <p:cNvSpPr/>
          <p:nvPr/>
        </p:nvSpPr>
        <p:spPr>
          <a:xfrm>
            <a:off x="201168" y="4059936"/>
            <a:ext cx="475488" cy="749808"/>
          </a:xfrm>
          <a:prstGeom prst="rect">
            <a:avLst/>
          </a:prstGeom>
          <a:solidFill>
            <a:srgbClr val="3E3A36"/>
          </a:solidFill>
          <a:ln w="12700">
            <a:solidFill>
              <a:srgbClr val="3E3A36"/>
            </a:solidFill>
            <a:prstDash val="solid"/>
          </a:ln>
        </p:spPr>
      </p:sp>
      <p:sp>
        <p:nvSpPr>
          <p:cNvPr id="54" name="Text 52"/>
          <p:cNvSpPr/>
          <p:nvPr/>
        </p:nvSpPr>
        <p:spPr>
          <a:xfrm>
            <a:off x="201168" y="4059936"/>
            <a:ext cx="475488" cy="749808"/>
          </a:xfrm>
          <a:prstGeom prst="rect">
            <a:avLst/>
          </a:prstGeom>
          <a:noFill/>
          <a:ln/>
        </p:spPr>
        <p:txBody>
          <a:bodyPr wrap="square" lIns="0" tIns="0" rIns="0" bIns="0" rtlCol="0" anchor="ctr"/>
          <a:lstStyle/>
          <a:p>
            <a:pPr algn="ctr" indent="0" marL="0">
              <a:buNone/>
            </a:pPr>
            <a:r>
              <a:rPr lang="en-US" sz="1000" b="1" dirty="0">
                <a:solidFill>
                  <a:srgbClr val="FFFFFF"/>
                </a:solidFill>
                <a:latin typeface="Georgia" pitchFamily="34" charset="0"/>
                <a:ea typeface="Georgia" pitchFamily="34" charset="-122"/>
                <a:cs typeface="Georgia" pitchFamily="34" charset="-120"/>
              </a:rPr>
              <a:t>L5</a:t>
            </a:r>
            <a:endParaRPr lang="en-US" sz="1000" dirty="0"/>
          </a:p>
        </p:txBody>
      </p:sp>
      <p:sp>
        <p:nvSpPr>
          <p:cNvPr id="55" name="Text 53"/>
          <p:cNvSpPr/>
          <p:nvPr/>
        </p:nvSpPr>
        <p:spPr>
          <a:xfrm>
            <a:off x="749808" y="4114800"/>
            <a:ext cx="2377440" cy="237744"/>
          </a:xfrm>
          <a:prstGeom prst="rect">
            <a:avLst/>
          </a:prstGeom>
          <a:noFill/>
          <a:ln/>
        </p:spPr>
        <p:txBody>
          <a:bodyPr wrap="square" lIns="0" tIns="0" rIns="0" bIns="0" rtlCol="0" anchor="ctr"/>
          <a:lstStyle/>
          <a:p>
            <a:pPr indent="0" marL="0">
              <a:buNone/>
            </a:pPr>
            <a:r>
              <a:rPr lang="en-US" sz="1000" b="1" dirty="0">
                <a:solidFill>
                  <a:srgbClr val="3E3A36"/>
                </a:solidFill>
                <a:latin typeface="Georgia" pitchFamily="34" charset="0"/>
                <a:ea typeface="Georgia" pitchFamily="34" charset="-122"/>
                <a:cs typeface="Georgia" pitchFamily="34" charset="-120"/>
              </a:rPr>
              <a:t>Couche logicielle ML — CUDA / PyTorch / NCCL</a:t>
            </a:r>
            <a:endParaRPr lang="en-US" sz="1000" dirty="0"/>
          </a:p>
        </p:txBody>
      </p:sp>
      <p:sp>
        <p:nvSpPr>
          <p:cNvPr id="56" name="Text 54"/>
          <p:cNvSpPr/>
          <p:nvPr/>
        </p:nvSpPr>
        <p:spPr>
          <a:xfrm>
            <a:off x="749808" y="4370832"/>
            <a:ext cx="6217920" cy="384048"/>
          </a:xfrm>
          <a:prstGeom prst="rect">
            <a:avLst/>
          </a:prstGeom>
          <a:noFill/>
          <a:ln/>
        </p:spPr>
        <p:txBody>
          <a:bodyPr wrap="square" lIns="0" tIns="0" rIns="0" bIns="0" rtlCol="0" anchor="ctr"/>
          <a:lstStyle/>
          <a:p>
            <a:pPr indent="0" marL="0">
              <a:lnSpc>
                <a:spcPct val="130000"/>
              </a:lnSpc>
              <a:buNone/>
            </a:pPr>
            <a:r>
              <a:rPr lang="en-US" sz="750" dirty="0">
                <a:solidFill>
                  <a:srgbClr val="3E3A36"/>
                </a:solidFill>
                <a:latin typeface="Calibri" pitchFamily="34" charset="0"/>
                <a:ea typeface="Calibri" pitchFamily="34" charset="-122"/>
                <a:cs typeface="Calibri" pitchFamily="34" charset="-120"/>
              </a:rPr>
              <a:t>Driver CUDA/ROCm, PyTorch ou JAX, NCCL pour les communications collectives. Tourne dans des conteneurs Docker ou Singularity.</a:t>
            </a:r>
            <a:endParaRPr lang="en-US" sz="750" dirty="0"/>
          </a:p>
        </p:txBody>
      </p:sp>
      <p:sp>
        <p:nvSpPr>
          <p:cNvPr id="57" name="Shape 55"/>
          <p:cNvSpPr/>
          <p:nvPr/>
        </p:nvSpPr>
        <p:spPr>
          <a:xfrm>
            <a:off x="3218688" y="4114800"/>
            <a:ext cx="1243584" cy="201168"/>
          </a:xfrm>
          <a:prstGeom prst="rect">
            <a:avLst/>
          </a:prstGeom>
          <a:solidFill>
            <a:srgbClr val="F0F5FB"/>
          </a:solidFill>
          <a:ln w="12700">
            <a:solidFill>
              <a:srgbClr val="1F5FA0"/>
            </a:solidFill>
            <a:prstDash val="solid"/>
          </a:ln>
        </p:spPr>
      </p:sp>
      <p:sp>
        <p:nvSpPr>
          <p:cNvPr id="58" name="Text 56"/>
          <p:cNvSpPr/>
          <p:nvPr/>
        </p:nvSpPr>
        <p:spPr>
          <a:xfrm>
            <a:off x="3218688" y="4114800"/>
            <a:ext cx="1243584" cy="201168"/>
          </a:xfrm>
          <a:prstGeom prst="rect">
            <a:avLst/>
          </a:prstGeom>
          <a:noFill/>
          <a:ln/>
        </p:spPr>
        <p:txBody>
          <a:bodyPr wrap="square" lIns="0" tIns="0" rIns="0" bIns="0" rtlCol="0" anchor="ctr"/>
          <a:lstStyle/>
          <a:p>
            <a:pPr algn="ctr" indent="0" marL="0">
              <a:buNone/>
            </a:pPr>
            <a:r>
              <a:rPr lang="en-US" sz="650" dirty="0">
                <a:solidFill>
                  <a:srgbClr val="1F5FA0"/>
                </a:solidFill>
                <a:latin typeface="Calibri" pitchFamily="34" charset="0"/>
                <a:ea typeface="Calibri" pitchFamily="34" charset="-122"/>
                <a:cs typeface="Calibri" pitchFamily="34" charset="-120"/>
              </a:rPr>
              <a:t>PyTorch profiler</a:t>
            </a:r>
            <a:endParaRPr lang="en-US" sz="650" dirty="0"/>
          </a:p>
        </p:txBody>
      </p:sp>
      <p:sp>
        <p:nvSpPr>
          <p:cNvPr id="59" name="Shape 57"/>
          <p:cNvSpPr/>
          <p:nvPr/>
        </p:nvSpPr>
        <p:spPr>
          <a:xfrm>
            <a:off x="4590288" y="4114800"/>
            <a:ext cx="1243584" cy="201168"/>
          </a:xfrm>
          <a:prstGeom prst="rect">
            <a:avLst/>
          </a:prstGeom>
          <a:solidFill>
            <a:srgbClr val="FDF2F0"/>
          </a:solidFill>
          <a:ln w="12700">
            <a:solidFill>
              <a:srgbClr val="B83828"/>
            </a:solidFill>
            <a:prstDash val="solid"/>
          </a:ln>
        </p:spPr>
      </p:sp>
      <p:sp>
        <p:nvSpPr>
          <p:cNvPr id="60" name="Text 58"/>
          <p:cNvSpPr/>
          <p:nvPr/>
        </p:nvSpPr>
        <p:spPr>
          <a:xfrm>
            <a:off x="4590288" y="4114800"/>
            <a:ext cx="1243584" cy="201168"/>
          </a:xfrm>
          <a:prstGeom prst="rect">
            <a:avLst/>
          </a:prstGeom>
          <a:noFill/>
          <a:ln/>
        </p:spPr>
        <p:txBody>
          <a:bodyPr wrap="square" lIns="0" tIns="0" rIns="0" bIns="0" rtlCol="0" anchor="ctr"/>
          <a:lstStyle/>
          <a:p>
            <a:pPr algn="ctr" indent="0" marL="0">
              <a:buNone/>
            </a:pPr>
            <a:r>
              <a:rPr lang="en-US" sz="650" dirty="0">
                <a:solidFill>
                  <a:srgbClr val="B83828"/>
                </a:solidFill>
                <a:latin typeface="Calibri" pitchFamily="34" charset="0"/>
                <a:ea typeface="Calibri" pitchFamily="34" charset="-122"/>
                <a:cs typeface="Calibri" pitchFamily="34" charset="-120"/>
              </a:rPr>
              <a:t>supply chain</a:t>
            </a:r>
            <a:endParaRPr lang="en-US" sz="650" dirty="0"/>
          </a:p>
        </p:txBody>
      </p:sp>
      <p:sp>
        <p:nvSpPr>
          <p:cNvPr id="61" name="Shape 59"/>
          <p:cNvSpPr/>
          <p:nvPr/>
        </p:nvSpPr>
        <p:spPr>
          <a:xfrm>
            <a:off x="5961888" y="4114800"/>
            <a:ext cx="1243584" cy="201168"/>
          </a:xfrm>
          <a:prstGeom prst="rect">
            <a:avLst/>
          </a:prstGeom>
          <a:solidFill>
            <a:srgbClr val="F0F8F4"/>
          </a:solidFill>
          <a:ln w="12700">
            <a:solidFill>
              <a:srgbClr val="1A6E42"/>
            </a:solidFill>
            <a:prstDash val="solid"/>
          </a:ln>
        </p:spPr>
      </p:sp>
      <p:sp>
        <p:nvSpPr>
          <p:cNvPr id="62" name="Text 60"/>
          <p:cNvSpPr/>
          <p:nvPr/>
        </p:nvSpPr>
        <p:spPr>
          <a:xfrm>
            <a:off x="5961888" y="4114800"/>
            <a:ext cx="1243584" cy="201168"/>
          </a:xfrm>
          <a:prstGeom prst="rect">
            <a:avLst/>
          </a:prstGeom>
          <a:noFill/>
          <a:ln/>
        </p:spPr>
        <p:txBody>
          <a:bodyPr wrap="square" lIns="0" tIns="0" rIns="0" bIns="0" rtlCol="0" anchor="ctr"/>
          <a:lstStyle/>
          <a:p>
            <a:pPr algn="ctr" indent="0" marL="0">
              <a:buNone/>
            </a:pPr>
            <a:r>
              <a:rPr lang="en-US" sz="650" dirty="0">
                <a:solidFill>
                  <a:srgbClr val="1A6E42"/>
                </a:solidFill>
                <a:latin typeface="Calibri" pitchFamily="34" charset="0"/>
                <a:ea typeface="Calibri" pitchFamily="34" charset="-122"/>
                <a:cs typeface="Calibri" pitchFamily="34" charset="-120"/>
              </a:rPr>
              <a:t>NCCL tuning</a:t>
            </a:r>
            <a:endParaRPr lang="en-US" sz="6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8F4"/>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FFFFFF"/>
          </a:solidFill>
          <a:ln w="12700">
            <a:solidFill>
              <a:srgbClr val="FFFFFF"/>
            </a:solidFill>
            <a:prstDash val="solid"/>
          </a:ln>
        </p:spPr>
      </p:sp>
      <p:sp>
        <p:nvSpPr>
          <p:cNvPr id="3" name="Shape 1"/>
          <p:cNvSpPr/>
          <p:nvPr/>
        </p:nvSpPr>
        <p:spPr>
          <a:xfrm>
            <a:off x="0" y="0"/>
            <a:ext cx="54864" cy="502920"/>
          </a:xfrm>
          <a:prstGeom prst="rect">
            <a:avLst/>
          </a:prstGeom>
          <a:solidFill>
            <a:srgbClr val="7D1C35"/>
          </a:solidFill>
          <a:ln w="12700">
            <a:solidFill>
              <a:srgbClr val="7D1C35"/>
            </a:solidFill>
            <a:prstDash val="solid"/>
          </a:ln>
        </p:spPr>
      </p:sp>
      <p:sp>
        <p:nvSpPr>
          <p:cNvPr id="4" name="Text 2"/>
          <p:cNvSpPr/>
          <p:nvPr/>
        </p:nvSpPr>
        <p:spPr>
          <a:xfrm>
            <a:off x="164592" y="54864"/>
            <a:ext cx="1371600" cy="164592"/>
          </a:xfrm>
          <a:prstGeom prst="rect">
            <a:avLst/>
          </a:prstGeom>
          <a:noFill/>
          <a:ln/>
        </p:spPr>
        <p:txBody>
          <a:bodyPr wrap="square" lIns="0" tIns="0" rIns="0" bIns="0" rtlCol="0" anchor="ctr"/>
          <a:lstStyle/>
          <a:p>
            <a:pPr indent="0" marL="0">
              <a:buNone/>
            </a:pPr>
            <a:r>
              <a:rPr lang="en-US" sz="700" b="1" spc="300" kern="0" dirty="0">
                <a:solidFill>
                  <a:srgbClr val="A8243F"/>
                </a:solidFill>
                <a:latin typeface="Calibri" pitchFamily="34" charset="0"/>
                <a:ea typeface="Calibri" pitchFamily="34" charset="-122"/>
                <a:cs typeface="Calibri" pitchFamily="34" charset="-120"/>
              </a:rPr>
              <a:t>CHAPITRE 03  |  FONCTIONNEMENT</a:t>
            </a:r>
            <a:endParaRPr lang="en-US" sz="700" dirty="0"/>
          </a:p>
        </p:txBody>
      </p:sp>
      <p:sp>
        <p:nvSpPr>
          <p:cNvPr id="5" name="Text 3"/>
          <p:cNvSpPr/>
          <p:nvPr/>
        </p:nvSpPr>
        <p:spPr>
          <a:xfrm>
            <a:off x="164592" y="201168"/>
            <a:ext cx="8814816" cy="256032"/>
          </a:xfrm>
          <a:prstGeom prst="rect">
            <a:avLst/>
          </a:prstGeom>
          <a:noFill/>
          <a:ln/>
        </p:spPr>
        <p:txBody>
          <a:bodyPr wrap="square" lIns="0" tIns="0" rIns="0" bIns="0" rtlCol="0" anchor="ctr"/>
          <a:lstStyle/>
          <a:p>
            <a:pPr indent="0" marL="0">
              <a:buNone/>
            </a:pPr>
            <a:r>
              <a:rPr lang="en-US" sz="1400" b="1" dirty="0">
                <a:solidFill>
                  <a:srgbClr val="1A1A1A"/>
                </a:solidFill>
                <a:latin typeface="Georgia" pitchFamily="34" charset="0"/>
                <a:ea typeface="Georgia" pitchFamily="34" charset="-122"/>
                <a:cs typeface="Georgia" pitchFamily="34" charset="-120"/>
              </a:rPr>
              <a:t>Ce qui se passe reellement pendant un entrainement distribue</a:t>
            </a:r>
            <a:endParaRPr lang="en-US" sz="1400" dirty="0"/>
          </a:p>
        </p:txBody>
      </p:sp>
      <p:sp>
        <p:nvSpPr>
          <p:cNvPr id="6" name="Shape 4"/>
          <p:cNvSpPr/>
          <p:nvPr/>
        </p:nvSpPr>
        <p:spPr>
          <a:xfrm>
            <a:off x="0" y="4887468"/>
            <a:ext cx="9144000" cy="256032"/>
          </a:xfrm>
          <a:prstGeom prst="rect">
            <a:avLst/>
          </a:prstGeom>
          <a:solidFill>
            <a:srgbClr val="F3F0EA"/>
          </a:solidFill>
          <a:ln w="12700">
            <a:solidFill>
              <a:srgbClr val="DDD8CF"/>
            </a:solidFill>
            <a:prstDash val="solid"/>
          </a:ln>
        </p:spPr>
      </p:sp>
      <p:sp>
        <p:nvSpPr>
          <p:cNvPr id="7" name="Text 5"/>
          <p:cNvSpPr/>
          <p:nvPr/>
        </p:nvSpPr>
        <p:spPr>
          <a:xfrm>
            <a:off x="137160" y="4924044"/>
            <a:ext cx="8869680" cy="182880"/>
          </a:xfrm>
          <a:prstGeom prst="rect">
            <a:avLst/>
          </a:prstGeom>
          <a:noFill/>
          <a:ln/>
        </p:spPr>
        <p:txBody>
          <a:bodyPr wrap="square" lIns="0" tIns="0" rIns="0" bIns="0" rtlCol="0" anchor="ctr"/>
          <a:lstStyle/>
          <a:p>
            <a:pPr indent="0" marL="0">
              <a:buNone/>
            </a:pPr>
            <a:r>
              <a:rPr lang="en-US" sz="650" dirty="0">
                <a:solidFill>
                  <a:srgbClr val="7A7268"/>
                </a:solidFill>
                <a:latin typeface="Calibri" pitchFamily="34" charset="0"/>
                <a:ea typeface="Calibri" pitchFamily="34" charset="-122"/>
                <a:cs typeface="Calibri" pitchFamily="34" charset="-120"/>
              </a:rPr>
              <a:t>Samuel Desseaux  |  Erythix / Aureonis  |  HPC AI Observability and Security</a:t>
            </a:r>
            <a:endParaRPr lang="en-US" sz="650" dirty="0"/>
          </a:p>
        </p:txBody>
      </p:sp>
      <p:sp>
        <p:nvSpPr>
          <p:cNvPr id="8" name="Shape 6"/>
          <p:cNvSpPr/>
          <p:nvPr/>
        </p:nvSpPr>
        <p:spPr>
          <a:xfrm>
            <a:off x="164592" y="640080"/>
            <a:ext cx="1664208" cy="3337560"/>
          </a:xfrm>
          <a:prstGeom prst="rect">
            <a:avLst/>
          </a:prstGeom>
          <a:solidFill>
            <a:srgbClr val="F0F5FB"/>
          </a:solidFill>
          <a:ln w="12700">
            <a:solidFill>
              <a:srgbClr val="90C0E8"/>
            </a:solidFill>
            <a:prstDash val="solid"/>
          </a:ln>
          <a:effectLst>
            <a:outerShdw sx="100000" sy="100000" kx="0" ky="0" algn="bl" rotWithShape="0" blurRad="38100" dist="25400" dir="8100000">
              <a:srgbClr val="000000">
                <a:alpha val="10000"/>
              </a:srgbClr>
            </a:outerShdw>
          </a:effectLst>
        </p:spPr>
      </p:sp>
      <p:sp>
        <p:nvSpPr>
          <p:cNvPr id="9" name="Shape 7"/>
          <p:cNvSpPr/>
          <p:nvPr/>
        </p:nvSpPr>
        <p:spPr>
          <a:xfrm>
            <a:off x="164592" y="640080"/>
            <a:ext cx="1664208" cy="329184"/>
          </a:xfrm>
          <a:prstGeom prst="rect">
            <a:avLst/>
          </a:prstGeom>
          <a:solidFill>
            <a:srgbClr val="1F5FA0"/>
          </a:solidFill>
          <a:ln w="12700">
            <a:solidFill>
              <a:srgbClr val="1F5FA0"/>
            </a:solidFill>
            <a:prstDash val="solid"/>
          </a:ln>
        </p:spPr>
      </p:sp>
      <p:sp>
        <p:nvSpPr>
          <p:cNvPr id="10" name="Text 8"/>
          <p:cNvSpPr/>
          <p:nvPr/>
        </p:nvSpPr>
        <p:spPr>
          <a:xfrm>
            <a:off x="164592" y="640080"/>
            <a:ext cx="329184" cy="329184"/>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1</a:t>
            </a:r>
            <a:endParaRPr lang="en-US" sz="1600" dirty="0"/>
          </a:p>
        </p:txBody>
      </p:sp>
      <p:sp>
        <p:nvSpPr>
          <p:cNvPr id="11" name="Text 9"/>
          <p:cNvSpPr/>
          <p:nvPr/>
        </p:nvSpPr>
        <p:spPr>
          <a:xfrm>
            <a:off x="512064" y="640080"/>
            <a:ext cx="1280160" cy="329184"/>
          </a:xfrm>
          <a:prstGeom prst="rect">
            <a:avLst/>
          </a:prstGeom>
          <a:noFill/>
          <a:ln/>
        </p:spPr>
        <p:txBody>
          <a:bodyPr wrap="square" lIns="0" tIns="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DataLoad + H2D</a:t>
            </a:r>
            <a:endParaRPr lang="en-US" sz="800" dirty="0"/>
          </a:p>
        </p:txBody>
      </p:sp>
      <p:sp>
        <p:nvSpPr>
          <p:cNvPr id="12" name="Text 10"/>
          <p:cNvSpPr/>
          <p:nvPr/>
        </p:nvSpPr>
        <p:spPr>
          <a:xfrm>
            <a:off x="256032" y="1042416"/>
            <a:ext cx="1481328" cy="2240280"/>
          </a:xfrm>
          <a:prstGeom prst="rect">
            <a:avLst/>
          </a:prstGeom>
          <a:noFill/>
          <a:ln/>
        </p:spPr>
        <p:txBody>
          <a:bodyPr wrap="square" lIns="0" tIns="0" rIns="0" bIns="0" rtlCol="0" anchor="ctr"/>
          <a:lstStyle/>
          <a:p>
            <a:pPr indent="0" marL="0">
              <a:lnSpc>
                <a:spcPct val="138000"/>
              </a:lnSpc>
              <a:buNone/>
            </a:pPr>
            <a:r>
              <a:rPr lang="en-US" sz="750" dirty="0">
                <a:solidFill>
                  <a:srgbClr val="3E3A36"/>
                </a:solidFill>
                <a:latin typeface="Calibri" pitchFamily="34" charset="0"/>
                <a:ea typeface="Calibri" pitchFamily="34" charset="-122"/>
                <a:cs typeface="Calibri" pitchFamily="34" charset="-120"/>
              </a:rPr>
              <a:t>Workers lisent depuis Lustre, tokenisent et normalisent les donnees, chargent en memoire CPU pinned. Transfert DMA vers GPU via PCIe (~8-16 Go/s). Doit etre overlappee avec le batch precedent. Si lent : workload I/O bound.</a:t>
            </a:r>
            <a:endParaRPr lang="en-US" sz="750" dirty="0"/>
          </a:p>
        </p:txBody>
      </p:sp>
      <p:sp>
        <p:nvSpPr>
          <p:cNvPr id="13" name="Shape 11"/>
          <p:cNvSpPr/>
          <p:nvPr/>
        </p:nvSpPr>
        <p:spPr>
          <a:xfrm rot="5400000">
            <a:off x="1837944" y="2244852"/>
            <a:ext cx="64008" cy="128016"/>
          </a:xfrm>
          <a:prstGeom prst="triangle">
            <a:avLst/>
          </a:prstGeom>
          <a:solidFill>
            <a:srgbClr val="C8C2B8"/>
          </a:solidFill>
          <a:ln w="12700">
            <a:solidFill>
              <a:srgbClr val="C8C2B8"/>
            </a:solidFill>
            <a:prstDash val="solid"/>
          </a:ln>
        </p:spPr>
      </p:sp>
      <p:sp>
        <p:nvSpPr>
          <p:cNvPr id="14" name="Shape 12"/>
          <p:cNvSpPr/>
          <p:nvPr/>
        </p:nvSpPr>
        <p:spPr>
          <a:xfrm>
            <a:off x="1901952" y="640080"/>
            <a:ext cx="1664208" cy="3337560"/>
          </a:xfrm>
          <a:prstGeom prst="rect">
            <a:avLst/>
          </a:prstGeom>
          <a:solidFill>
            <a:srgbClr val="FDF4F6"/>
          </a:solidFill>
          <a:ln w="12700">
            <a:solidFill>
              <a:srgbClr val="E8B0C0"/>
            </a:solidFill>
            <a:prstDash val="solid"/>
          </a:ln>
          <a:effectLst>
            <a:outerShdw sx="100000" sy="100000" kx="0" ky="0" algn="bl" rotWithShape="0" blurRad="38100" dist="25400" dir="8100000">
              <a:srgbClr val="000000">
                <a:alpha val="10000"/>
              </a:srgbClr>
            </a:outerShdw>
          </a:effectLst>
        </p:spPr>
      </p:sp>
      <p:sp>
        <p:nvSpPr>
          <p:cNvPr id="15" name="Shape 13"/>
          <p:cNvSpPr/>
          <p:nvPr/>
        </p:nvSpPr>
        <p:spPr>
          <a:xfrm>
            <a:off x="1901952" y="640080"/>
            <a:ext cx="1664208" cy="329184"/>
          </a:xfrm>
          <a:prstGeom prst="rect">
            <a:avLst/>
          </a:prstGeom>
          <a:solidFill>
            <a:srgbClr val="7D1C35"/>
          </a:solidFill>
          <a:ln w="12700">
            <a:solidFill>
              <a:srgbClr val="7D1C35"/>
            </a:solidFill>
            <a:prstDash val="solid"/>
          </a:ln>
        </p:spPr>
      </p:sp>
      <p:sp>
        <p:nvSpPr>
          <p:cNvPr id="16" name="Text 14"/>
          <p:cNvSpPr/>
          <p:nvPr/>
        </p:nvSpPr>
        <p:spPr>
          <a:xfrm>
            <a:off x="1901952" y="640080"/>
            <a:ext cx="329184" cy="329184"/>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2</a:t>
            </a:r>
            <a:endParaRPr lang="en-US" sz="1600" dirty="0"/>
          </a:p>
        </p:txBody>
      </p:sp>
      <p:sp>
        <p:nvSpPr>
          <p:cNvPr id="17" name="Text 15"/>
          <p:cNvSpPr/>
          <p:nvPr/>
        </p:nvSpPr>
        <p:spPr>
          <a:xfrm>
            <a:off x="2249424" y="640080"/>
            <a:ext cx="1280160" cy="329184"/>
          </a:xfrm>
          <a:prstGeom prst="rect">
            <a:avLst/>
          </a:prstGeom>
          <a:noFill/>
          <a:ln/>
        </p:spPr>
        <p:txBody>
          <a:bodyPr wrap="square" lIns="0" tIns="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Passe avant</a:t>
            </a:r>
            <a:endParaRPr lang="en-US" sz="800" dirty="0"/>
          </a:p>
        </p:txBody>
      </p:sp>
      <p:sp>
        <p:nvSpPr>
          <p:cNvPr id="18" name="Text 16"/>
          <p:cNvSpPr/>
          <p:nvPr/>
        </p:nvSpPr>
        <p:spPr>
          <a:xfrm>
            <a:off x="1993392" y="1042416"/>
            <a:ext cx="1481328" cy="2240280"/>
          </a:xfrm>
          <a:prstGeom prst="rect">
            <a:avLst/>
          </a:prstGeom>
          <a:noFill/>
          <a:ln/>
        </p:spPr>
        <p:txBody>
          <a:bodyPr wrap="square" lIns="0" tIns="0" rIns="0" bIns="0" rtlCol="0" anchor="ctr"/>
          <a:lstStyle/>
          <a:p>
            <a:pPr indent="0" marL="0">
              <a:lnSpc>
                <a:spcPct val="138000"/>
              </a:lnSpc>
              <a:buNone/>
            </a:pPr>
            <a:r>
              <a:rPr lang="en-US" sz="750" dirty="0">
                <a:solidFill>
                  <a:srgbClr val="3E3A36"/>
                </a:solidFill>
                <a:latin typeface="Calibri" pitchFamily="34" charset="0"/>
                <a:ea typeface="Calibri" pitchFamily="34" charset="-122"/>
                <a:cs typeface="Calibri" pitchFamily="34" charset="-120"/>
              </a:rPr>
              <a:t>Les donnees traversent le modele couche par couche. Chaque couche est principalement une multiplication de matrices. Le GPU decompose sur ses Streaming Multiprocessors. Les activations sont gardees en HBM pour la passe arriere.</a:t>
            </a:r>
            <a:endParaRPr lang="en-US" sz="750" dirty="0"/>
          </a:p>
        </p:txBody>
      </p:sp>
      <p:sp>
        <p:nvSpPr>
          <p:cNvPr id="19" name="Shape 17"/>
          <p:cNvSpPr/>
          <p:nvPr/>
        </p:nvSpPr>
        <p:spPr>
          <a:xfrm rot="5400000">
            <a:off x="3575304" y="2244852"/>
            <a:ext cx="64008" cy="128016"/>
          </a:xfrm>
          <a:prstGeom prst="triangle">
            <a:avLst/>
          </a:prstGeom>
          <a:solidFill>
            <a:srgbClr val="C8C2B8"/>
          </a:solidFill>
          <a:ln w="12700">
            <a:solidFill>
              <a:srgbClr val="C8C2B8"/>
            </a:solidFill>
            <a:prstDash val="solid"/>
          </a:ln>
        </p:spPr>
      </p:sp>
      <p:sp>
        <p:nvSpPr>
          <p:cNvPr id="20" name="Shape 18"/>
          <p:cNvSpPr/>
          <p:nvPr/>
        </p:nvSpPr>
        <p:spPr>
          <a:xfrm>
            <a:off x="3639312" y="640080"/>
            <a:ext cx="1664208" cy="3337560"/>
          </a:xfrm>
          <a:prstGeom prst="rect">
            <a:avLst/>
          </a:prstGeom>
          <a:solidFill>
            <a:srgbClr val="FDF4F6"/>
          </a:solidFill>
          <a:ln w="12700">
            <a:solidFill>
              <a:srgbClr val="E8B0C0"/>
            </a:solidFill>
            <a:prstDash val="solid"/>
          </a:ln>
          <a:effectLst>
            <a:outerShdw sx="100000" sy="100000" kx="0" ky="0" algn="bl" rotWithShape="0" blurRad="38100" dist="25400" dir="8100000">
              <a:srgbClr val="000000">
                <a:alpha val="10000"/>
              </a:srgbClr>
            </a:outerShdw>
          </a:effectLst>
        </p:spPr>
      </p:sp>
      <p:sp>
        <p:nvSpPr>
          <p:cNvPr id="21" name="Shape 19"/>
          <p:cNvSpPr/>
          <p:nvPr/>
        </p:nvSpPr>
        <p:spPr>
          <a:xfrm>
            <a:off x="3639312" y="640080"/>
            <a:ext cx="1664208" cy="329184"/>
          </a:xfrm>
          <a:prstGeom prst="rect">
            <a:avLst/>
          </a:prstGeom>
          <a:solidFill>
            <a:srgbClr val="7D1C35"/>
          </a:solidFill>
          <a:ln w="12700">
            <a:solidFill>
              <a:srgbClr val="7D1C35"/>
            </a:solidFill>
            <a:prstDash val="solid"/>
          </a:ln>
        </p:spPr>
      </p:sp>
      <p:sp>
        <p:nvSpPr>
          <p:cNvPr id="22" name="Text 20"/>
          <p:cNvSpPr/>
          <p:nvPr/>
        </p:nvSpPr>
        <p:spPr>
          <a:xfrm>
            <a:off x="3639312" y="640080"/>
            <a:ext cx="329184" cy="329184"/>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3</a:t>
            </a:r>
            <a:endParaRPr lang="en-US" sz="1600" dirty="0"/>
          </a:p>
        </p:txBody>
      </p:sp>
      <p:sp>
        <p:nvSpPr>
          <p:cNvPr id="23" name="Text 21"/>
          <p:cNvSpPr/>
          <p:nvPr/>
        </p:nvSpPr>
        <p:spPr>
          <a:xfrm>
            <a:off x="3986784" y="640080"/>
            <a:ext cx="1280160" cy="329184"/>
          </a:xfrm>
          <a:prstGeom prst="rect">
            <a:avLst/>
          </a:prstGeom>
          <a:noFill/>
          <a:ln/>
        </p:spPr>
        <p:txBody>
          <a:bodyPr wrap="square" lIns="0" tIns="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Passe arriere</a:t>
            </a:r>
            <a:endParaRPr lang="en-US" sz="800" dirty="0"/>
          </a:p>
        </p:txBody>
      </p:sp>
      <p:sp>
        <p:nvSpPr>
          <p:cNvPr id="24" name="Text 22"/>
          <p:cNvSpPr/>
          <p:nvPr/>
        </p:nvSpPr>
        <p:spPr>
          <a:xfrm>
            <a:off x="3730752" y="1042416"/>
            <a:ext cx="1481328" cy="2240280"/>
          </a:xfrm>
          <a:prstGeom prst="rect">
            <a:avLst/>
          </a:prstGeom>
          <a:noFill/>
          <a:ln/>
        </p:spPr>
        <p:txBody>
          <a:bodyPr wrap="square" lIns="0" tIns="0" rIns="0" bIns="0" rtlCol="0" anchor="ctr"/>
          <a:lstStyle/>
          <a:p>
            <a:pPr indent="0" marL="0">
              <a:lnSpc>
                <a:spcPct val="138000"/>
              </a:lnSpc>
              <a:buNone/>
            </a:pPr>
            <a:r>
              <a:rPr lang="en-US" sz="750" dirty="0">
                <a:solidFill>
                  <a:srgbClr val="3E3A36"/>
                </a:solidFill>
                <a:latin typeface="Calibri" pitchFamily="34" charset="0"/>
                <a:ea typeface="Calibri" pitchFamily="34" charset="-122"/>
                <a:cs typeface="Calibri" pitchFamily="34" charset="-120"/>
              </a:rPr>
              <a:t>Le modele calcule la loss et remonte l'erreur couche par couche via la regle de derivation en chaine. Chaque GPU calcule ses gradients locaux sur son propre sous-ensemble de donnees.</a:t>
            </a:r>
            <a:endParaRPr lang="en-US" sz="750" dirty="0"/>
          </a:p>
        </p:txBody>
      </p:sp>
      <p:sp>
        <p:nvSpPr>
          <p:cNvPr id="25" name="Shape 23"/>
          <p:cNvSpPr/>
          <p:nvPr/>
        </p:nvSpPr>
        <p:spPr>
          <a:xfrm rot="5400000">
            <a:off x="5312664" y="2244852"/>
            <a:ext cx="64008" cy="128016"/>
          </a:xfrm>
          <a:prstGeom prst="triangle">
            <a:avLst/>
          </a:prstGeom>
          <a:solidFill>
            <a:srgbClr val="C8C2B8"/>
          </a:solidFill>
          <a:ln w="12700">
            <a:solidFill>
              <a:srgbClr val="C8C2B8"/>
            </a:solidFill>
            <a:prstDash val="solid"/>
          </a:ln>
        </p:spPr>
      </p:sp>
      <p:sp>
        <p:nvSpPr>
          <p:cNvPr id="26" name="Shape 24"/>
          <p:cNvSpPr/>
          <p:nvPr/>
        </p:nvSpPr>
        <p:spPr>
          <a:xfrm>
            <a:off x="5376672" y="640080"/>
            <a:ext cx="1664208" cy="3337560"/>
          </a:xfrm>
          <a:prstGeom prst="rect">
            <a:avLst/>
          </a:prstGeom>
          <a:solidFill>
            <a:srgbClr val="FDF8F0"/>
          </a:solidFill>
          <a:ln w="12700">
            <a:solidFill>
              <a:srgbClr val="E8C860"/>
            </a:solidFill>
            <a:prstDash val="solid"/>
          </a:ln>
          <a:effectLst>
            <a:outerShdw sx="100000" sy="100000" kx="0" ky="0" algn="bl" rotWithShape="0" blurRad="38100" dist="25400" dir="8100000">
              <a:srgbClr val="000000">
                <a:alpha val="10000"/>
              </a:srgbClr>
            </a:outerShdw>
          </a:effectLst>
        </p:spPr>
      </p:sp>
      <p:sp>
        <p:nvSpPr>
          <p:cNvPr id="27" name="Shape 25"/>
          <p:cNvSpPr/>
          <p:nvPr/>
        </p:nvSpPr>
        <p:spPr>
          <a:xfrm>
            <a:off x="5376672" y="640080"/>
            <a:ext cx="1664208" cy="329184"/>
          </a:xfrm>
          <a:prstGeom prst="rect">
            <a:avLst/>
          </a:prstGeom>
          <a:solidFill>
            <a:srgbClr val="8A5A00"/>
          </a:solidFill>
          <a:ln w="12700">
            <a:solidFill>
              <a:srgbClr val="8A5A00"/>
            </a:solidFill>
            <a:prstDash val="solid"/>
          </a:ln>
        </p:spPr>
      </p:sp>
      <p:sp>
        <p:nvSpPr>
          <p:cNvPr id="28" name="Text 26"/>
          <p:cNvSpPr/>
          <p:nvPr/>
        </p:nvSpPr>
        <p:spPr>
          <a:xfrm>
            <a:off x="5376672" y="640080"/>
            <a:ext cx="329184" cy="329184"/>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4</a:t>
            </a:r>
            <a:endParaRPr lang="en-US" sz="1600" dirty="0"/>
          </a:p>
        </p:txBody>
      </p:sp>
      <p:sp>
        <p:nvSpPr>
          <p:cNvPr id="29" name="Text 27"/>
          <p:cNvSpPr/>
          <p:nvPr/>
        </p:nvSpPr>
        <p:spPr>
          <a:xfrm>
            <a:off x="5724144" y="640080"/>
            <a:ext cx="1280160" cy="329184"/>
          </a:xfrm>
          <a:prstGeom prst="rect">
            <a:avLst/>
          </a:prstGeom>
          <a:noFill/>
          <a:ln/>
        </p:spPr>
        <p:txBody>
          <a:bodyPr wrap="square" lIns="0" tIns="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AllReduce (NCCL)</a:t>
            </a:r>
            <a:endParaRPr lang="en-US" sz="800" dirty="0"/>
          </a:p>
        </p:txBody>
      </p:sp>
      <p:sp>
        <p:nvSpPr>
          <p:cNvPr id="30" name="Text 28"/>
          <p:cNvSpPr/>
          <p:nvPr/>
        </p:nvSpPr>
        <p:spPr>
          <a:xfrm>
            <a:off x="5468112" y="1042416"/>
            <a:ext cx="1481328" cy="2240280"/>
          </a:xfrm>
          <a:prstGeom prst="rect">
            <a:avLst/>
          </a:prstGeom>
          <a:noFill/>
          <a:ln/>
        </p:spPr>
        <p:txBody>
          <a:bodyPr wrap="square" lIns="0" tIns="0" rIns="0" bIns="0" rtlCol="0" anchor="ctr"/>
          <a:lstStyle/>
          <a:p>
            <a:pPr indent="0" marL="0">
              <a:lnSpc>
                <a:spcPct val="138000"/>
              </a:lnSpc>
              <a:buNone/>
            </a:pPr>
            <a:r>
              <a:rPr lang="en-US" sz="750" dirty="0">
                <a:solidFill>
                  <a:srgbClr val="3E3A36"/>
                </a:solidFill>
                <a:latin typeface="Calibri" pitchFamily="34" charset="0"/>
                <a:ea typeface="Calibri" pitchFamily="34" charset="-122"/>
                <a:cs typeface="Calibri" pitchFamily="34" charset="-120"/>
              </a:rPr>
              <a:t>Ring-AllReduce moyenne les gradients sur tous les GPU via InfiniBand. Apres N tours, chaque GPU possede la somme complete. 15-40% du temps de step. Le straggler fait attendre tout le monde a la barriere.</a:t>
            </a:r>
            <a:endParaRPr lang="en-US" sz="750" dirty="0"/>
          </a:p>
        </p:txBody>
      </p:sp>
      <p:sp>
        <p:nvSpPr>
          <p:cNvPr id="31" name="Shape 29"/>
          <p:cNvSpPr/>
          <p:nvPr/>
        </p:nvSpPr>
        <p:spPr>
          <a:xfrm rot="5400000">
            <a:off x="7050024" y="2244852"/>
            <a:ext cx="64008" cy="128016"/>
          </a:xfrm>
          <a:prstGeom prst="triangle">
            <a:avLst/>
          </a:prstGeom>
          <a:solidFill>
            <a:srgbClr val="C8C2B8"/>
          </a:solidFill>
          <a:ln w="12700">
            <a:solidFill>
              <a:srgbClr val="C8C2B8"/>
            </a:solidFill>
            <a:prstDash val="solid"/>
          </a:ln>
        </p:spPr>
      </p:sp>
      <p:sp>
        <p:nvSpPr>
          <p:cNvPr id="32" name="Shape 30"/>
          <p:cNvSpPr/>
          <p:nvPr/>
        </p:nvSpPr>
        <p:spPr>
          <a:xfrm>
            <a:off x="7114032" y="640080"/>
            <a:ext cx="1664208" cy="3337560"/>
          </a:xfrm>
          <a:prstGeom prst="rect">
            <a:avLst/>
          </a:prstGeom>
          <a:solidFill>
            <a:srgbClr val="F0F8F4"/>
          </a:solidFill>
          <a:ln w="12700">
            <a:solidFill>
              <a:srgbClr val="80C8A8"/>
            </a:solidFill>
            <a:prstDash val="solid"/>
          </a:ln>
          <a:effectLst>
            <a:outerShdw sx="100000" sy="100000" kx="0" ky="0" algn="bl" rotWithShape="0" blurRad="38100" dist="25400" dir="8100000">
              <a:srgbClr val="000000">
                <a:alpha val="10000"/>
              </a:srgbClr>
            </a:outerShdw>
          </a:effectLst>
        </p:spPr>
      </p:sp>
      <p:sp>
        <p:nvSpPr>
          <p:cNvPr id="33" name="Shape 31"/>
          <p:cNvSpPr/>
          <p:nvPr/>
        </p:nvSpPr>
        <p:spPr>
          <a:xfrm>
            <a:off x="7114032" y="640080"/>
            <a:ext cx="1664208" cy="329184"/>
          </a:xfrm>
          <a:prstGeom prst="rect">
            <a:avLst/>
          </a:prstGeom>
          <a:solidFill>
            <a:srgbClr val="1A6E42"/>
          </a:solidFill>
          <a:ln w="12700">
            <a:solidFill>
              <a:srgbClr val="1A6E42"/>
            </a:solidFill>
            <a:prstDash val="solid"/>
          </a:ln>
        </p:spPr>
      </p:sp>
      <p:sp>
        <p:nvSpPr>
          <p:cNvPr id="34" name="Text 32"/>
          <p:cNvSpPr/>
          <p:nvPr/>
        </p:nvSpPr>
        <p:spPr>
          <a:xfrm>
            <a:off x="7114032" y="640080"/>
            <a:ext cx="329184" cy="329184"/>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5</a:t>
            </a:r>
            <a:endParaRPr lang="en-US" sz="1600" dirty="0"/>
          </a:p>
        </p:txBody>
      </p:sp>
      <p:sp>
        <p:nvSpPr>
          <p:cNvPr id="35" name="Text 33"/>
          <p:cNvSpPr/>
          <p:nvPr/>
        </p:nvSpPr>
        <p:spPr>
          <a:xfrm>
            <a:off x="7461504" y="640080"/>
            <a:ext cx="1280160" cy="329184"/>
          </a:xfrm>
          <a:prstGeom prst="rect">
            <a:avLst/>
          </a:prstGeom>
          <a:noFill/>
          <a:ln/>
        </p:spPr>
        <p:txBody>
          <a:bodyPr wrap="square" lIns="0" tIns="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Optimizer step</a:t>
            </a:r>
            <a:endParaRPr lang="en-US" sz="800" dirty="0"/>
          </a:p>
        </p:txBody>
      </p:sp>
      <p:sp>
        <p:nvSpPr>
          <p:cNvPr id="36" name="Text 34"/>
          <p:cNvSpPr/>
          <p:nvPr/>
        </p:nvSpPr>
        <p:spPr>
          <a:xfrm>
            <a:off x="7205472" y="1042416"/>
            <a:ext cx="1481328" cy="2240280"/>
          </a:xfrm>
          <a:prstGeom prst="rect">
            <a:avLst/>
          </a:prstGeom>
          <a:noFill/>
          <a:ln/>
        </p:spPr>
        <p:txBody>
          <a:bodyPr wrap="square" lIns="0" tIns="0" rIns="0" bIns="0" rtlCol="0" anchor="ctr"/>
          <a:lstStyle/>
          <a:p>
            <a:pPr indent="0" marL="0">
              <a:lnSpc>
                <a:spcPct val="138000"/>
              </a:lnSpc>
              <a:buNone/>
            </a:pPr>
            <a:r>
              <a:rPr lang="en-US" sz="750" dirty="0">
                <a:solidFill>
                  <a:srgbClr val="3E3A36"/>
                </a:solidFill>
                <a:latin typeface="Calibri" pitchFamily="34" charset="0"/>
                <a:ea typeface="Calibri" pitchFamily="34" charset="-122"/>
                <a:cs typeface="Calibri" pitchFamily="34" charset="-120"/>
              </a:rPr>
              <a:t>AdamW met a jour tous les parametres en parallele avec les gradients moyennes et correction adaptative. 7 milliards de parametres mis a jour simultanement. Le cycle repart pour le batch suivant.</a:t>
            </a:r>
            <a:endParaRPr lang="en-US" sz="750" dirty="0"/>
          </a:p>
        </p:txBody>
      </p:sp>
      <p:sp>
        <p:nvSpPr>
          <p:cNvPr id="37" name="Shape 35"/>
          <p:cNvSpPr/>
          <p:nvPr/>
        </p:nvSpPr>
        <p:spPr>
          <a:xfrm>
            <a:off x="164592" y="4114800"/>
            <a:ext cx="8814816" cy="457200"/>
          </a:xfrm>
          <a:prstGeom prst="rect">
            <a:avLst/>
          </a:prstGeom>
          <a:solidFill>
            <a:srgbClr val="FDF4F6"/>
          </a:solidFill>
          <a:ln w="12700">
            <a:solidFill>
              <a:srgbClr val="E8B0C0"/>
            </a:solidFill>
            <a:prstDash val="solid"/>
          </a:ln>
        </p:spPr>
      </p:sp>
      <p:sp>
        <p:nvSpPr>
          <p:cNvPr id="38" name="Shape 36"/>
          <p:cNvSpPr/>
          <p:nvPr/>
        </p:nvSpPr>
        <p:spPr>
          <a:xfrm>
            <a:off x="164592" y="4114800"/>
            <a:ext cx="54864" cy="457200"/>
          </a:xfrm>
          <a:prstGeom prst="rect">
            <a:avLst/>
          </a:prstGeom>
          <a:solidFill>
            <a:srgbClr val="7D1C35"/>
          </a:solidFill>
          <a:ln w="12700">
            <a:solidFill>
              <a:srgbClr val="7D1C35"/>
            </a:solidFill>
            <a:prstDash val="solid"/>
          </a:ln>
        </p:spPr>
      </p:sp>
      <p:sp>
        <p:nvSpPr>
          <p:cNvPr id="39" name="Text 37"/>
          <p:cNvSpPr/>
          <p:nvPr/>
        </p:nvSpPr>
        <p:spPr>
          <a:xfrm>
            <a:off x="274320" y="4151376"/>
            <a:ext cx="8595360" cy="365760"/>
          </a:xfrm>
          <a:prstGeom prst="rect">
            <a:avLst/>
          </a:prstGeom>
          <a:noFill/>
          <a:ln/>
        </p:spPr>
        <p:txBody>
          <a:bodyPr wrap="square" lIns="0" tIns="0" rIns="0" bIns="0" rtlCol="0" anchor="ctr"/>
          <a:lstStyle/>
          <a:p>
            <a:pPr indent="0" marL="0">
              <a:lnSpc>
                <a:spcPct val="140000"/>
              </a:lnSpc>
              <a:buNone/>
            </a:pPr>
            <a:r>
              <a:rPr lang="en-US" sz="900" dirty="0">
                <a:solidFill>
                  <a:srgbClr val="3E3A36"/>
                </a:solidFill>
                <a:latin typeface="Calibri" pitchFamily="34" charset="0"/>
                <a:ea typeface="Calibri" pitchFamily="34" charset="-122"/>
                <a:cs typeface="Calibri" pitchFamily="34" charset="-120"/>
              </a:rPr>
              <a:t>Constat cle : GPU affiche 87% d'utilisation.  Calcul effectif : ~19% du temps.  NCCL AllReduce seul : 43%.  L'effet straggler peut faire chuter l'efficacite globale de 30% sans declencher aucune alerte.</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8F4"/>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FFFFFF"/>
          </a:solidFill>
          <a:ln w="12700">
            <a:solidFill>
              <a:srgbClr val="FFFFFF"/>
            </a:solidFill>
            <a:prstDash val="solid"/>
          </a:ln>
        </p:spPr>
      </p:sp>
      <p:sp>
        <p:nvSpPr>
          <p:cNvPr id="3" name="Shape 1"/>
          <p:cNvSpPr/>
          <p:nvPr/>
        </p:nvSpPr>
        <p:spPr>
          <a:xfrm>
            <a:off x="0" y="0"/>
            <a:ext cx="54864" cy="502920"/>
          </a:xfrm>
          <a:prstGeom prst="rect">
            <a:avLst/>
          </a:prstGeom>
          <a:solidFill>
            <a:srgbClr val="7D1C35"/>
          </a:solidFill>
          <a:ln w="12700">
            <a:solidFill>
              <a:srgbClr val="7D1C35"/>
            </a:solidFill>
            <a:prstDash val="solid"/>
          </a:ln>
        </p:spPr>
      </p:sp>
      <p:sp>
        <p:nvSpPr>
          <p:cNvPr id="4" name="Text 2"/>
          <p:cNvSpPr/>
          <p:nvPr/>
        </p:nvSpPr>
        <p:spPr>
          <a:xfrm>
            <a:off x="164592" y="54864"/>
            <a:ext cx="1371600" cy="164592"/>
          </a:xfrm>
          <a:prstGeom prst="rect">
            <a:avLst/>
          </a:prstGeom>
          <a:noFill/>
          <a:ln/>
        </p:spPr>
        <p:txBody>
          <a:bodyPr wrap="square" lIns="0" tIns="0" rIns="0" bIns="0" rtlCol="0" anchor="ctr"/>
          <a:lstStyle/>
          <a:p>
            <a:pPr indent="0" marL="0">
              <a:buNone/>
            </a:pPr>
            <a:r>
              <a:rPr lang="en-US" sz="700" b="1" spc="300" kern="0" dirty="0">
                <a:solidFill>
                  <a:srgbClr val="A8243F"/>
                </a:solidFill>
                <a:latin typeface="Calibri" pitchFamily="34" charset="0"/>
                <a:ea typeface="Calibri" pitchFamily="34" charset="-122"/>
                <a:cs typeface="Calibri" pitchFamily="34" charset="-120"/>
              </a:rPr>
              <a:t>CHAPITRE 04  |  OBSERVABILITE</a:t>
            </a:r>
            <a:endParaRPr lang="en-US" sz="700" dirty="0"/>
          </a:p>
        </p:txBody>
      </p:sp>
      <p:sp>
        <p:nvSpPr>
          <p:cNvPr id="5" name="Text 3"/>
          <p:cNvSpPr/>
          <p:nvPr/>
        </p:nvSpPr>
        <p:spPr>
          <a:xfrm>
            <a:off x="164592" y="201168"/>
            <a:ext cx="8814816" cy="256032"/>
          </a:xfrm>
          <a:prstGeom prst="rect">
            <a:avLst/>
          </a:prstGeom>
          <a:noFill/>
          <a:ln/>
        </p:spPr>
        <p:txBody>
          <a:bodyPr wrap="square" lIns="0" tIns="0" rIns="0" bIns="0" rtlCol="0" anchor="ctr"/>
          <a:lstStyle/>
          <a:p>
            <a:pPr indent="0" marL="0">
              <a:buNone/>
            </a:pPr>
            <a:r>
              <a:rPr lang="en-US" sz="1400" b="1" dirty="0">
                <a:solidFill>
                  <a:srgbClr val="1A1A1A"/>
                </a:solidFill>
                <a:latin typeface="Georgia" pitchFamily="34" charset="0"/>
                <a:ea typeface="Georgia" pitchFamily="34" charset="-122"/>
                <a:cs typeface="Georgia" pitchFamily="34" charset="-120"/>
              </a:rPr>
              <a:t>Observabilite : voir ce qui se passe vraiment, a chaque couche</a:t>
            </a:r>
            <a:endParaRPr lang="en-US" sz="1400" dirty="0"/>
          </a:p>
        </p:txBody>
      </p:sp>
      <p:sp>
        <p:nvSpPr>
          <p:cNvPr id="6" name="Shape 4"/>
          <p:cNvSpPr/>
          <p:nvPr/>
        </p:nvSpPr>
        <p:spPr>
          <a:xfrm>
            <a:off x="0" y="4887468"/>
            <a:ext cx="9144000" cy="256032"/>
          </a:xfrm>
          <a:prstGeom prst="rect">
            <a:avLst/>
          </a:prstGeom>
          <a:solidFill>
            <a:srgbClr val="F3F0EA"/>
          </a:solidFill>
          <a:ln w="12700">
            <a:solidFill>
              <a:srgbClr val="DDD8CF"/>
            </a:solidFill>
            <a:prstDash val="solid"/>
          </a:ln>
        </p:spPr>
      </p:sp>
      <p:sp>
        <p:nvSpPr>
          <p:cNvPr id="7" name="Text 5"/>
          <p:cNvSpPr/>
          <p:nvPr/>
        </p:nvSpPr>
        <p:spPr>
          <a:xfrm>
            <a:off x="137160" y="4924044"/>
            <a:ext cx="8869680" cy="182880"/>
          </a:xfrm>
          <a:prstGeom prst="rect">
            <a:avLst/>
          </a:prstGeom>
          <a:noFill/>
          <a:ln/>
        </p:spPr>
        <p:txBody>
          <a:bodyPr wrap="square" lIns="0" tIns="0" rIns="0" bIns="0" rtlCol="0" anchor="ctr"/>
          <a:lstStyle/>
          <a:p>
            <a:pPr indent="0" marL="0">
              <a:buNone/>
            </a:pPr>
            <a:r>
              <a:rPr lang="en-US" sz="650" dirty="0">
                <a:solidFill>
                  <a:srgbClr val="7A7268"/>
                </a:solidFill>
                <a:latin typeface="Calibri" pitchFamily="34" charset="0"/>
                <a:ea typeface="Calibri" pitchFamily="34" charset="-122"/>
                <a:cs typeface="Calibri" pitchFamily="34" charset="-120"/>
              </a:rPr>
              <a:t>Samuel Desseaux  |  Erythix / Aureonis  |  HPC AI Observability and Security</a:t>
            </a:r>
            <a:endParaRPr lang="en-US" sz="650" dirty="0"/>
          </a:p>
        </p:txBody>
      </p:sp>
      <p:sp>
        <p:nvSpPr>
          <p:cNvPr id="8" name="Shape 6"/>
          <p:cNvSpPr/>
          <p:nvPr/>
        </p:nvSpPr>
        <p:spPr>
          <a:xfrm>
            <a:off x="201168" y="621792"/>
            <a:ext cx="2761488" cy="1627632"/>
          </a:xfrm>
          <a:prstGeom prst="rect">
            <a:avLst/>
          </a:prstGeom>
          <a:solidFill>
            <a:srgbClr val="FDF4F6"/>
          </a:solidFill>
          <a:ln w="12700">
            <a:solidFill>
              <a:srgbClr val="E8B0C0"/>
            </a:solidFill>
            <a:prstDash val="solid"/>
          </a:ln>
          <a:effectLst>
            <a:outerShdw sx="100000" sy="100000" kx="0" ky="0" algn="bl" rotWithShape="0" blurRad="38100" dist="25400" dir="8100000">
              <a:srgbClr val="000000">
                <a:alpha val="10000"/>
              </a:srgbClr>
            </a:outerShdw>
          </a:effectLst>
        </p:spPr>
      </p:sp>
      <p:sp>
        <p:nvSpPr>
          <p:cNvPr id="9" name="Text 7"/>
          <p:cNvSpPr/>
          <p:nvPr/>
        </p:nvSpPr>
        <p:spPr>
          <a:xfrm>
            <a:off x="201168" y="694944"/>
            <a:ext cx="2761488" cy="566928"/>
          </a:xfrm>
          <a:prstGeom prst="rect">
            <a:avLst/>
          </a:prstGeom>
          <a:noFill/>
          <a:ln/>
        </p:spPr>
        <p:txBody>
          <a:bodyPr wrap="square" lIns="0" tIns="0" rIns="0" bIns="0" rtlCol="0" anchor="ctr"/>
          <a:lstStyle/>
          <a:p>
            <a:pPr algn="ctr" indent="0" marL="0">
              <a:buNone/>
            </a:pPr>
            <a:r>
              <a:rPr lang="en-US" sz="4000" b="1" dirty="0">
                <a:solidFill>
                  <a:srgbClr val="7D1C35"/>
                </a:solidFill>
                <a:latin typeface="Georgia" pitchFamily="34" charset="0"/>
                <a:ea typeface="Georgia" pitchFamily="34" charset="-122"/>
                <a:cs typeface="Georgia" pitchFamily="34" charset="-120"/>
              </a:rPr>
              <a:t>M</a:t>
            </a:r>
            <a:endParaRPr lang="en-US" sz="4000" dirty="0"/>
          </a:p>
        </p:txBody>
      </p:sp>
      <p:sp>
        <p:nvSpPr>
          <p:cNvPr id="10" name="Text 8"/>
          <p:cNvSpPr/>
          <p:nvPr/>
        </p:nvSpPr>
        <p:spPr>
          <a:xfrm>
            <a:off x="292608" y="1280160"/>
            <a:ext cx="2578608" cy="256032"/>
          </a:xfrm>
          <a:prstGeom prst="rect">
            <a:avLst/>
          </a:prstGeom>
          <a:noFill/>
          <a:ln/>
        </p:spPr>
        <p:txBody>
          <a:bodyPr wrap="square" lIns="0" tIns="0" rIns="0" bIns="0" rtlCol="0" anchor="ctr"/>
          <a:lstStyle/>
          <a:p>
            <a:pPr algn="ctr" indent="0" marL="0">
              <a:buNone/>
            </a:pPr>
            <a:r>
              <a:rPr lang="en-US" sz="1100" b="1" dirty="0">
                <a:solidFill>
                  <a:srgbClr val="7D1C35"/>
                </a:solidFill>
                <a:latin typeface="Georgia" pitchFamily="34" charset="0"/>
                <a:ea typeface="Georgia" pitchFamily="34" charset="-122"/>
                <a:cs typeface="Georgia" pitchFamily="34" charset="-120"/>
              </a:rPr>
              <a:t>Metriques</a:t>
            </a:r>
            <a:endParaRPr lang="en-US" sz="1100" dirty="0"/>
          </a:p>
        </p:txBody>
      </p:sp>
      <p:sp>
        <p:nvSpPr>
          <p:cNvPr id="11" name="Text 9"/>
          <p:cNvSpPr/>
          <p:nvPr/>
        </p:nvSpPr>
        <p:spPr>
          <a:xfrm>
            <a:off x="310896" y="1572768"/>
            <a:ext cx="2542032" cy="621792"/>
          </a:xfrm>
          <a:prstGeom prst="rect">
            <a:avLst/>
          </a:prstGeom>
          <a:noFill/>
          <a:ln/>
        </p:spPr>
        <p:txBody>
          <a:bodyPr wrap="square" lIns="0" tIns="0" rIns="0" bIns="0" rtlCol="0" anchor="ctr"/>
          <a:lstStyle/>
          <a:p>
            <a:pPr indent="0" marL="0">
              <a:lnSpc>
                <a:spcPct val="135000"/>
              </a:lnSpc>
              <a:buNone/>
            </a:pPr>
            <a:r>
              <a:rPr lang="en-US" sz="800" dirty="0">
                <a:solidFill>
                  <a:srgbClr val="3E3A36"/>
                </a:solidFill>
                <a:latin typeface="Calibri" pitchFamily="34" charset="0"/>
                <a:ea typeface="Calibri" pitchFamily="34" charset="-122"/>
                <a:cs typeface="Calibri" pitchFamily="34" charset="-120"/>
              </a:rPr>
              <a:t>Time-series numeriques : utilisation SM GPU, bande passante HBM, step time, latence NCCL, retransmissions IB. Stockees dans VictoriaMetrics. Permettent les alertes et l'analyse de tendances.</a:t>
            </a:r>
            <a:endParaRPr lang="en-US" sz="800" dirty="0"/>
          </a:p>
        </p:txBody>
      </p:sp>
      <p:sp>
        <p:nvSpPr>
          <p:cNvPr id="12" name="Shape 10"/>
          <p:cNvSpPr/>
          <p:nvPr/>
        </p:nvSpPr>
        <p:spPr>
          <a:xfrm>
            <a:off x="3127248" y="621792"/>
            <a:ext cx="2761488" cy="1627632"/>
          </a:xfrm>
          <a:prstGeom prst="rect">
            <a:avLst/>
          </a:prstGeom>
          <a:solidFill>
            <a:srgbClr val="F0F5FB"/>
          </a:solidFill>
          <a:ln w="12700">
            <a:solidFill>
              <a:srgbClr val="90C0E8"/>
            </a:solidFill>
            <a:prstDash val="solid"/>
          </a:ln>
          <a:effectLst>
            <a:outerShdw sx="100000" sy="100000" kx="0" ky="0" algn="bl" rotWithShape="0" blurRad="38100" dist="25400" dir="8100000">
              <a:srgbClr val="000000">
                <a:alpha val="10000"/>
              </a:srgbClr>
            </a:outerShdw>
          </a:effectLst>
        </p:spPr>
      </p:sp>
      <p:sp>
        <p:nvSpPr>
          <p:cNvPr id="13" name="Text 11"/>
          <p:cNvSpPr/>
          <p:nvPr/>
        </p:nvSpPr>
        <p:spPr>
          <a:xfrm>
            <a:off x="3127248" y="694944"/>
            <a:ext cx="2761488" cy="566928"/>
          </a:xfrm>
          <a:prstGeom prst="rect">
            <a:avLst/>
          </a:prstGeom>
          <a:noFill/>
          <a:ln/>
        </p:spPr>
        <p:txBody>
          <a:bodyPr wrap="square" lIns="0" tIns="0" rIns="0" bIns="0" rtlCol="0" anchor="ctr"/>
          <a:lstStyle/>
          <a:p>
            <a:pPr algn="ctr" indent="0" marL="0">
              <a:buNone/>
            </a:pPr>
            <a:r>
              <a:rPr lang="en-US" sz="4000" b="1" dirty="0">
                <a:solidFill>
                  <a:srgbClr val="1F5FA0"/>
                </a:solidFill>
                <a:latin typeface="Georgia" pitchFamily="34" charset="0"/>
                <a:ea typeface="Georgia" pitchFamily="34" charset="-122"/>
                <a:cs typeface="Georgia" pitchFamily="34" charset="-120"/>
              </a:rPr>
              <a:t>L</a:t>
            </a:r>
            <a:endParaRPr lang="en-US" sz="4000" dirty="0"/>
          </a:p>
        </p:txBody>
      </p:sp>
      <p:sp>
        <p:nvSpPr>
          <p:cNvPr id="14" name="Text 12"/>
          <p:cNvSpPr/>
          <p:nvPr/>
        </p:nvSpPr>
        <p:spPr>
          <a:xfrm>
            <a:off x="3218688" y="1280160"/>
            <a:ext cx="2578608" cy="256032"/>
          </a:xfrm>
          <a:prstGeom prst="rect">
            <a:avLst/>
          </a:prstGeom>
          <a:noFill/>
          <a:ln/>
        </p:spPr>
        <p:txBody>
          <a:bodyPr wrap="square" lIns="0" tIns="0" rIns="0" bIns="0" rtlCol="0" anchor="ctr"/>
          <a:lstStyle/>
          <a:p>
            <a:pPr algn="ctr" indent="0" marL="0">
              <a:buNone/>
            </a:pPr>
            <a:r>
              <a:rPr lang="en-US" sz="1100" b="1" dirty="0">
                <a:solidFill>
                  <a:srgbClr val="1F5FA0"/>
                </a:solidFill>
                <a:latin typeface="Georgia" pitchFamily="34" charset="0"/>
                <a:ea typeface="Georgia" pitchFamily="34" charset="-122"/>
                <a:cs typeface="Georgia" pitchFamily="34" charset="-120"/>
              </a:rPr>
              <a:t>Logs</a:t>
            </a:r>
            <a:endParaRPr lang="en-US" sz="1100" dirty="0"/>
          </a:p>
        </p:txBody>
      </p:sp>
      <p:sp>
        <p:nvSpPr>
          <p:cNvPr id="15" name="Text 13"/>
          <p:cNvSpPr/>
          <p:nvPr/>
        </p:nvSpPr>
        <p:spPr>
          <a:xfrm>
            <a:off x="3236976" y="1572768"/>
            <a:ext cx="2542032" cy="621792"/>
          </a:xfrm>
          <a:prstGeom prst="rect">
            <a:avLst/>
          </a:prstGeom>
          <a:noFill/>
          <a:ln/>
        </p:spPr>
        <p:txBody>
          <a:bodyPr wrap="square" lIns="0" tIns="0" rIns="0" bIns="0" rtlCol="0" anchor="ctr"/>
          <a:lstStyle/>
          <a:p>
            <a:pPr indent="0" marL="0">
              <a:lnSpc>
                <a:spcPct val="135000"/>
              </a:lnSpc>
              <a:buNone/>
            </a:pPr>
            <a:r>
              <a:rPr lang="en-US" sz="800" dirty="0">
                <a:solidFill>
                  <a:srgbClr val="3E3A36"/>
                </a:solidFill>
                <a:latin typeface="Calibri" pitchFamily="34" charset="0"/>
                <a:ea typeface="Calibri" pitchFamily="34" charset="-122"/>
                <a:cs typeface="Calibri" pitchFamily="34" charset="-120"/>
              </a:rPr>
              <a:t>Evenements horodates avec contexte : erreurs CUDA, warnings NCCL, interruptions SLURM, OOM kills. Aggreges dans Loki. Contexte qualitatif que les metriques ne capturent pas.</a:t>
            </a:r>
            <a:endParaRPr lang="en-US" sz="800" dirty="0"/>
          </a:p>
        </p:txBody>
      </p:sp>
      <p:sp>
        <p:nvSpPr>
          <p:cNvPr id="16" name="Shape 14"/>
          <p:cNvSpPr/>
          <p:nvPr/>
        </p:nvSpPr>
        <p:spPr>
          <a:xfrm>
            <a:off x="6053328" y="621792"/>
            <a:ext cx="2761488" cy="1627632"/>
          </a:xfrm>
          <a:prstGeom prst="rect">
            <a:avLst/>
          </a:prstGeom>
          <a:solidFill>
            <a:srgbClr val="F0F8F4"/>
          </a:solidFill>
          <a:ln w="12700">
            <a:solidFill>
              <a:srgbClr val="80C8A8"/>
            </a:solidFill>
            <a:prstDash val="solid"/>
          </a:ln>
          <a:effectLst>
            <a:outerShdw sx="100000" sy="100000" kx="0" ky="0" algn="bl" rotWithShape="0" blurRad="38100" dist="25400" dir="8100000">
              <a:srgbClr val="000000">
                <a:alpha val="10000"/>
              </a:srgbClr>
            </a:outerShdw>
          </a:effectLst>
        </p:spPr>
      </p:sp>
      <p:sp>
        <p:nvSpPr>
          <p:cNvPr id="17" name="Text 15"/>
          <p:cNvSpPr/>
          <p:nvPr/>
        </p:nvSpPr>
        <p:spPr>
          <a:xfrm>
            <a:off x="6053328" y="694944"/>
            <a:ext cx="2761488" cy="566928"/>
          </a:xfrm>
          <a:prstGeom prst="rect">
            <a:avLst/>
          </a:prstGeom>
          <a:noFill/>
          <a:ln/>
        </p:spPr>
        <p:txBody>
          <a:bodyPr wrap="square" lIns="0" tIns="0" rIns="0" bIns="0" rtlCol="0" anchor="ctr"/>
          <a:lstStyle/>
          <a:p>
            <a:pPr algn="ctr" indent="0" marL="0">
              <a:buNone/>
            </a:pPr>
            <a:r>
              <a:rPr lang="en-US" sz="4000" b="1" dirty="0">
                <a:solidFill>
                  <a:srgbClr val="1A6E42"/>
                </a:solidFill>
                <a:latin typeface="Georgia" pitchFamily="34" charset="0"/>
                <a:ea typeface="Georgia" pitchFamily="34" charset="-122"/>
                <a:cs typeface="Georgia" pitchFamily="34" charset="-120"/>
              </a:rPr>
              <a:t>T</a:t>
            </a:r>
            <a:endParaRPr lang="en-US" sz="4000" dirty="0"/>
          </a:p>
        </p:txBody>
      </p:sp>
      <p:sp>
        <p:nvSpPr>
          <p:cNvPr id="18" name="Text 16"/>
          <p:cNvSpPr/>
          <p:nvPr/>
        </p:nvSpPr>
        <p:spPr>
          <a:xfrm>
            <a:off x="6144768" y="1280160"/>
            <a:ext cx="2578608" cy="256032"/>
          </a:xfrm>
          <a:prstGeom prst="rect">
            <a:avLst/>
          </a:prstGeom>
          <a:noFill/>
          <a:ln/>
        </p:spPr>
        <p:txBody>
          <a:bodyPr wrap="square" lIns="0" tIns="0" rIns="0" bIns="0" rtlCol="0" anchor="ctr"/>
          <a:lstStyle/>
          <a:p>
            <a:pPr algn="ctr" indent="0" marL="0">
              <a:buNone/>
            </a:pPr>
            <a:r>
              <a:rPr lang="en-US" sz="1100" b="1" dirty="0">
                <a:solidFill>
                  <a:srgbClr val="1A6E42"/>
                </a:solidFill>
                <a:latin typeface="Georgia" pitchFamily="34" charset="0"/>
                <a:ea typeface="Georgia" pitchFamily="34" charset="-122"/>
                <a:cs typeface="Georgia" pitchFamily="34" charset="-120"/>
              </a:rPr>
              <a:t>Traces</a:t>
            </a:r>
            <a:endParaRPr lang="en-US" sz="1100" dirty="0"/>
          </a:p>
        </p:txBody>
      </p:sp>
      <p:sp>
        <p:nvSpPr>
          <p:cNvPr id="19" name="Text 17"/>
          <p:cNvSpPr/>
          <p:nvPr/>
        </p:nvSpPr>
        <p:spPr>
          <a:xfrm>
            <a:off x="6163056" y="1572768"/>
            <a:ext cx="2542032" cy="621792"/>
          </a:xfrm>
          <a:prstGeom prst="rect">
            <a:avLst/>
          </a:prstGeom>
          <a:noFill/>
          <a:ln/>
        </p:spPr>
        <p:txBody>
          <a:bodyPr wrap="square" lIns="0" tIns="0" rIns="0" bIns="0" rtlCol="0" anchor="ctr"/>
          <a:lstStyle/>
          <a:p>
            <a:pPr indent="0" marL="0">
              <a:lnSpc>
                <a:spcPct val="135000"/>
              </a:lnSpc>
              <a:buNone/>
            </a:pPr>
            <a:r>
              <a:rPr lang="en-US" sz="800" dirty="0">
                <a:solidFill>
                  <a:srgbClr val="3E3A36"/>
                </a:solidFill>
                <a:latin typeface="Calibri" pitchFamily="34" charset="0"/>
                <a:ea typeface="Calibri" pitchFamily="34" charset="-122"/>
                <a:cs typeface="Calibri" pitchFamily="34" charset="-120"/>
              </a:rPr>
              <a:t>Suivi de bout en bout sur tous les noeuds et processus. Identifier exactement sur quel noeud et dans quelle fonction le temps est perdu. Indispensable pour les stragglers.</a:t>
            </a:r>
            <a:endParaRPr lang="en-US" sz="800" dirty="0"/>
          </a:p>
        </p:txBody>
      </p:sp>
      <p:sp>
        <p:nvSpPr>
          <p:cNvPr id="20" name="Shape 18"/>
          <p:cNvSpPr/>
          <p:nvPr/>
        </p:nvSpPr>
        <p:spPr>
          <a:xfrm>
            <a:off x="201168" y="2359152"/>
            <a:ext cx="8741664" cy="658368"/>
          </a:xfrm>
          <a:prstGeom prst="rect">
            <a:avLst/>
          </a:prstGeom>
          <a:solidFill>
            <a:srgbClr val="F0F5FB"/>
          </a:solidFill>
          <a:ln w="12700">
            <a:solidFill>
              <a:srgbClr val="90C0E8"/>
            </a:solidFill>
            <a:prstDash val="solid"/>
          </a:ln>
        </p:spPr>
      </p:sp>
      <p:sp>
        <p:nvSpPr>
          <p:cNvPr id="21" name="Shape 19"/>
          <p:cNvSpPr/>
          <p:nvPr/>
        </p:nvSpPr>
        <p:spPr>
          <a:xfrm>
            <a:off x="201168" y="2359152"/>
            <a:ext cx="1005840" cy="658368"/>
          </a:xfrm>
          <a:prstGeom prst="rect">
            <a:avLst/>
          </a:prstGeom>
          <a:solidFill>
            <a:srgbClr val="1F5FA0"/>
          </a:solidFill>
          <a:ln w="12700">
            <a:solidFill>
              <a:srgbClr val="1F5FA0"/>
            </a:solidFill>
            <a:prstDash val="solid"/>
          </a:ln>
        </p:spPr>
      </p:sp>
      <p:sp>
        <p:nvSpPr>
          <p:cNvPr id="22" name="Text 20"/>
          <p:cNvSpPr/>
          <p:nvPr/>
        </p:nvSpPr>
        <p:spPr>
          <a:xfrm>
            <a:off x="201168" y="2359152"/>
            <a:ext cx="1005840" cy="658368"/>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COLLECTE</a:t>
            </a:r>
            <a:endParaRPr lang="en-US" sz="750" dirty="0"/>
          </a:p>
          <a:p>
            <a:pPr algn="ctr" indent="0" marL="0">
              <a:buNone/>
            </a:pPr>
            <a:r>
              <a:rPr lang="en-US" sz="750" b="1" dirty="0">
                <a:solidFill>
                  <a:srgbClr val="FFFFFF"/>
                </a:solidFill>
                <a:latin typeface="Calibri" pitchFamily="34" charset="0"/>
                <a:ea typeface="Calibri" pitchFamily="34" charset="-122"/>
                <a:cs typeface="Calibri" pitchFamily="34" charset="-120"/>
              </a:rPr>
              <a:t>(par noeud)</a:t>
            </a:r>
            <a:endParaRPr lang="en-US" sz="750" dirty="0"/>
          </a:p>
        </p:txBody>
      </p:sp>
      <p:sp>
        <p:nvSpPr>
          <p:cNvPr id="23" name="Text 21"/>
          <p:cNvSpPr/>
          <p:nvPr/>
        </p:nvSpPr>
        <p:spPr>
          <a:xfrm>
            <a:off x="1280160" y="2468880"/>
            <a:ext cx="7534656" cy="438912"/>
          </a:xfrm>
          <a:prstGeom prst="rect">
            <a:avLst/>
          </a:prstGeom>
          <a:noFill/>
          <a:ln/>
        </p:spPr>
        <p:txBody>
          <a:bodyPr wrap="square" lIns="0" tIns="0" rIns="0" bIns="0" rtlCol="0" anchor="ctr"/>
          <a:lstStyle/>
          <a:p>
            <a:pPr indent="0" marL="0">
              <a:buNone/>
            </a:pPr>
            <a:r>
              <a:rPr lang="en-US" sz="850" dirty="0">
                <a:solidFill>
                  <a:srgbClr val="3E3A36"/>
                </a:solidFill>
                <a:latin typeface="Calibri" pitchFamily="34" charset="0"/>
                <a:ea typeface="Calibri" pitchFamily="34" charset="-122"/>
                <a:cs typeface="Calibri" pitchFamily="34" charset="-120"/>
              </a:rPr>
              <a:t>dcgm-exporter  |  node-exporter  |  OTel Collector  |  Falco / Tetragon  |  slurm-exporter  |  scripts ibstat</a:t>
            </a:r>
            <a:endParaRPr lang="en-US" sz="850" dirty="0"/>
          </a:p>
        </p:txBody>
      </p:sp>
      <p:sp>
        <p:nvSpPr>
          <p:cNvPr id="24" name="Shape 22"/>
          <p:cNvSpPr/>
          <p:nvPr/>
        </p:nvSpPr>
        <p:spPr>
          <a:xfrm rot="10800000">
            <a:off x="4507992" y="2240280"/>
            <a:ext cx="128016" cy="109728"/>
          </a:xfrm>
          <a:prstGeom prst="triangle">
            <a:avLst/>
          </a:prstGeom>
          <a:solidFill>
            <a:srgbClr val="C8C2B8"/>
          </a:solidFill>
          <a:ln w="12700">
            <a:solidFill>
              <a:srgbClr val="C8C2B8"/>
            </a:solidFill>
            <a:prstDash val="solid"/>
          </a:ln>
        </p:spPr>
      </p:sp>
      <p:sp>
        <p:nvSpPr>
          <p:cNvPr id="25" name="Shape 23"/>
          <p:cNvSpPr/>
          <p:nvPr/>
        </p:nvSpPr>
        <p:spPr>
          <a:xfrm>
            <a:off x="201168" y="3127248"/>
            <a:ext cx="8741664" cy="658368"/>
          </a:xfrm>
          <a:prstGeom prst="rect">
            <a:avLst/>
          </a:prstGeom>
          <a:solidFill>
            <a:srgbClr val="F3F0EA"/>
          </a:solidFill>
          <a:ln w="12700">
            <a:solidFill>
              <a:srgbClr val="C8C2B8"/>
            </a:solidFill>
            <a:prstDash val="solid"/>
          </a:ln>
        </p:spPr>
      </p:sp>
      <p:sp>
        <p:nvSpPr>
          <p:cNvPr id="26" name="Shape 24"/>
          <p:cNvSpPr/>
          <p:nvPr/>
        </p:nvSpPr>
        <p:spPr>
          <a:xfrm>
            <a:off x="201168" y="3127248"/>
            <a:ext cx="1005840" cy="658368"/>
          </a:xfrm>
          <a:prstGeom prst="rect">
            <a:avLst/>
          </a:prstGeom>
          <a:solidFill>
            <a:srgbClr val="3E3A36"/>
          </a:solidFill>
          <a:ln w="12700">
            <a:solidFill>
              <a:srgbClr val="3E3A36"/>
            </a:solidFill>
            <a:prstDash val="solid"/>
          </a:ln>
        </p:spPr>
      </p:sp>
      <p:sp>
        <p:nvSpPr>
          <p:cNvPr id="27" name="Text 25"/>
          <p:cNvSpPr/>
          <p:nvPr/>
        </p:nvSpPr>
        <p:spPr>
          <a:xfrm>
            <a:off x="201168" y="3127248"/>
            <a:ext cx="1005840" cy="658368"/>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STOCKAGE</a:t>
            </a:r>
            <a:endParaRPr lang="en-US" sz="750" dirty="0"/>
          </a:p>
          <a:p>
            <a:pPr algn="ctr" indent="0" marL="0">
              <a:buNone/>
            </a:pPr>
            <a:r>
              <a:rPr lang="en-US" sz="750" b="1" dirty="0">
                <a:solidFill>
                  <a:srgbClr val="FFFFFF"/>
                </a:solidFill>
                <a:latin typeface="Calibri" pitchFamily="34" charset="0"/>
                <a:ea typeface="Calibri" pitchFamily="34" charset="-122"/>
                <a:cs typeface="Calibri" pitchFamily="34" charset="-120"/>
              </a:rPr>
              <a:t>(centralise)</a:t>
            </a:r>
            <a:endParaRPr lang="en-US" sz="750" dirty="0"/>
          </a:p>
        </p:txBody>
      </p:sp>
      <p:sp>
        <p:nvSpPr>
          <p:cNvPr id="28" name="Text 26"/>
          <p:cNvSpPr/>
          <p:nvPr/>
        </p:nvSpPr>
        <p:spPr>
          <a:xfrm>
            <a:off x="1280160" y="3236976"/>
            <a:ext cx="7534656" cy="438912"/>
          </a:xfrm>
          <a:prstGeom prst="rect">
            <a:avLst/>
          </a:prstGeom>
          <a:noFill/>
          <a:ln/>
        </p:spPr>
        <p:txBody>
          <a:bodyPr wrap="square" lIns="0" tIns="0" rIns="0" bIns="0" rtlCol="0" anchor="ctr"/>
          <a:lstStyle/>
          <a:p>
            <a:pPr indent="0" marL="0">
              <a:buNone/>
            </a:pPr>
            <a:r>
              <a:rPr lang="en-US" sz="850" dirty="0">
                <a:solidFill>
                  <a:srgbClr val="3E3A36"/>
                </a:solidFill>
                <a:latin typeface="Calibri" pitchFamily="34" charset="0"/>
                <a:ea typeface="Calibri" pitchFamily="34" charset="-122"/>
                <a:cs typeface="Calibri" pitchFamily="34" charset="-120"/>
              </a:rPr>
              <a:t>VictoriaMetrics  (metriques, 90j)  |  Loki  (logs, 30j)  |  Tempo / Jaeger  (traces, 7j)  |  AlertManager</a:t>
            </a:r>
            <a:endParaRPr lang="en-US" sz="850" dirty="0"/>
          </a:p>
        </p:txBody>
      </p:sp>
      <p:sp>
        <p:nvSpPr>
          <p:cNvPr id="29" name="Shape 27"/>
          <p:cNvSpPr/>
          <p:nvPr/>
        </p:nvSpPr>
        <p:spPr>
          <a:xfrm rot="10800000">
            <a:off x="4507992" y="3008376"/>
            <a:ext cx="128016" cy="109728"/>
          </a:xfrm>
          <a:prstGeom prst="triangle">
            <a:avLst/>
          </a:prstGeom>
          <a:solidFill>
            <a:srgbClr val="C8C2B8"/>
          </a:solidFill>
          <a:ln w="12700">
            <a:solidFill>
              <a:srgbClr val="C8C2B8"/>
            </a:solidFill>
            <a:prstDash val="solid"/>
          </a:ln>
        </p:spPr>
      </p:sp>
      <p:sp>
        <p:nvSpPr>
          <p:cNvPr id="30" name="Shape 28"/>
          <p:cNvSpPr/>
          <p:nvPr/>
        </p:nvSpPr>
        <p:spPr>
          <a:xfrm>
            <a:off x="201168" y="3895344"/>
            <a:ext cx="8741664" cy="658368"/>
          </a:xfrm>
          <a:prstGeom prst="rect">
            <a:avLst/>
          </a:prstGeom>
          <a:solidFill>
            <a:srgbClr val="F0F8F4"/>
          </a:solidFill>
          <a:ln w="12700">
            <a:solidFill>
              <a:srgbClr val="80C8A8"/>
            </a:solidFill>
            <a:prstDash val="solid"/>
          </a:ln>
        </p:spPr>
      </p:sp>
      <p:sp>
        <p:nvSpPr>
          <p:cNvPr id="31" name="Shape 29"/>
          <p:cNvSpPr/>
          <p:nvPr/>
        </p:nvSpPr>
        <p:spPr>
          <a:xfrm>
            <a:off x="201168" y="3895344"/>
            <a:ext cx="1005840" cy="658368"/>
          </a:xfrm>
          <a:prstGeom prst="rect">
            <a:avLst/>
          </a:prstGeom>
          <a:solidFill>
            <a:srgbClr val="1A6E42"/>
          </a:solidFill>
          <a:ln w="12700">
            <a:solidFill>
              <a:srgbClr val="1A6E42"/>
            </a:solidFill>
            <a:prstDash val="solid"/>
          </a:ln>
        </p:spPr>
      </p:sp>
      <p:sp>
        <p:nvSpPr>
          <p:cNvPr id="32" name="Text 30"/>
          <p:cNvSpPr/>
          <p:nvPr/>
        </p:nvSpPr>
        <p:spPr>
          <a:xfrm>
            <a:off x="201168" y="3895344"/>
            <a:ext cx="1005840" cy="658368"/>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VISUALISATION</a:t>
            </a:r>
            <a:endParaRPr lang="en-US" sz="750" dirty="0"/>
          </a:p>
          <a:p>
            <a:pPr algn="ctr" indent="0" marL="0">
              <a:buNone/>
            </a:pPr>
            <a:r>
              <a:rPr lang="en-US" sz="750" b="1" dirty="0">
                <a:solidFill>
                  <a:srgbClr val="FFFFFF"/>
                </a:solidFill>
                <a:latin typeface="Calibri" pitchFamily="34" charset="0"/>
                <a:ea typeface="Calibri" pitchFamily="34" charset="-122"/>
                <a:cs typeface="Calibri" pitchFamily="34" charset="-120"/>
              </a:rPr>
              <a:t>(Grafana)</a:t>
            </a:r>
            <a:endParaRPr lang="en-US" sz="750" dirty="0"/>
          </a:p>
        </p:txBody>
      </p:sp>
      <p:sp>
        <p:nvSpPr>
          <p:cNvPr id="33" name="Text 31"/>
          <p:cNvSpPr/>
          <p:nvPr/>
        </p:nvSpPr>
        <p:spPr>
          <a:xfrm>
            <a:off x="1280160" y="4005072"/>
            <a:ext cx="7534656" cy="438912"/>
          </a:xfrm>
          <a:prstGeom prst="rect">
            <a:avLst/>
          </a:prstGeom>
          <a:noFill/>
          <a:ln/>
        </p:spPr>
        <p:txBody>
          <a:bodyPr wrap="square" lIns="0" tIns="0" rIns="0" bIns="0" rtlCol="0" anchor="ctr"/>
          <a:lstStyle/>
          <a:p>
            <a:pPr indent="0" marL="0">
              <a:buNone/>
            </a:pPr>
            <a:r>
              <a:rPr lang="en-US" sz="850" dirty="0">
                <a:solidFill>
                  <a:srgbClr val="3E3A36"/>
                </a:solidFill>
                <a:latin typeface="Calibri" pitchFamily="34" charset="0"/>
                <a:ea typeface="Calibri" pitchFamily="34" charset="-122"/>
                <a:cs typeface="Calibri" pitchFamily="34" charset="-120"/>
              </a:rPr>
              <a:t>Dashboard GPU Cluster  |  Reseau + Stockage  |  Metriques ML  |  Evenements Securite  |  Jobs SLURM</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8F4"/>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FFFFFF"/>
          </a:solidFill>
          <a:ln w="12700">
            <a:solidFill>
              <a:srgbClr val="FFFFFF"/>
            </a:solidFill>
            <a:prstDash val="solid"/>
          </a:ln>
        </p:spPr>
      </p:sp>
      <p:sp>
        <p:nvSpPr>
          <p:cNvPr id="3" name="Shape 1"/>
          <p:cNvSpPr/>
          <p:nvPr/>
        </p:nvSpPr>
        <p:spPr>
          <a:xfrm>
            <a:off x="0" y="0"/>
            <a:ext cx="54864" cy="502920"/>
          </a:xfrm>
          <a:prstGeom prst="rect">
            <a:avLst/>
          </a:prstGeom>
          <a:solidFill>
            <a:srgbClr val="7D1C35"/>
          </a:solidFill>
          <a:ln w="12700">
            <a:solidFill>
              <a:srgbClr val="7D1C35"/>
            </a:solidFill>
            <a:prstDash val="solid"/>
          </a:ln>
        </p:spPr>
      </p:sp>
      <p:sp>
        <p:nvSpPr>
          <p:cNvPr id="4" name="Text 2"/>
          <p:cNvSpPr/>
          <p:nvPr/>
        </p:nvSpPr>
        <p:spPr>
          <a:xfrm>
            <a:off x="164592" y="54864"/>
            <a:ext cx="1371600" cy="164592"/>
          </a:xfrm>
          <a:prstGeom prst="rect">
            <a:avLst/>
          </a:prstGeom>
          <a:noFill/>
          <a:ln/>
        </p:spPr>
        <p:txBody>
          <a:bodyPr wrap="square" lIns="0" tIns="0" rIns="0" bIns="0" rtlCol="0" anchor="ctr"/>
          <a:lstStyle/>
          <a:p>
            <a:pPr indent="0" marL="0">
              <a:buNone/>
            </a:pPr>
            <a:r>
              <a:rPr lang="en-US" sz="700" b="1" spc="300" kern="0" dirty="0">
                <a:solidFill>
                  <a:srgbClr val="A8243F"/>
                </a:solidFill>
                <a:latin typeface="Calibri" pitchFamily="34" charset="0"/>
                <a:ea typeface="Calibri" pitchFamily="34" charset="-122"/>
                <a:cs typeface="Calibri" pitchFamily="34" charset="-120"/>
              </a:rPr>
              <a:t>CHAPITRE 04  |  eBPF</a:t>
            </a:r>
            <a:endParaRPr lang="en-US" sz="700" dirty="0"/>
          </a:p>
        </p:txBody>
      </p:sp>
      <p:sp>
        <p:nvSpPr>
          <p:cNvPr id="5" name="Text 3"/>
          <p:cNvSpPr/>
          <p:nvPr/>
        </p:nvSpPr>
        <p:spPr>
          <a:xfrm>
            <a:off x="164592" y="201168"/>
            <a:ext cx="8814816" cy="256032"/>
          </a:xfrm>
          <a:prstGeom prst="rect">
            <a:avLst/>
          </a:prstGeom>
          <a:noFill/>
          <a:ln/>
        </p:spPr>
        <p:txBody>
          <a:bodyPr wrap="square" lIns="0" tIns="0" rIns="0" bIns="0" rtlCol="0" anchor="ctr"/>
          <a:lstStyle/>
          <a:p>
            <a:pPr indent="0" marL="0">
              <a:buNone/>
            </a:pPr>
            <a:r>
              <a:rPr lang="en-US" sz="1400" b="1" dirty="0">
                <a:solidFill>
                  <a:srgbClr val="1A1A1A"/>
                </a:solidFill>
                <a:latin typeface="Georgia" pitchFamily="34" charset="0"/>
                <a:ea typeface="Georgia" pitchFamily="34" charset="-122"/>
                <a:cs typeface="Georgia" pitchFamily="34" charset="-120"/>
              </a:rPr>
              <a:t>eBPF : observer sans instrumenter</a:t>
            </a:r>
            <a:endParaRPr lang="en-US" sz="1400" dirty="0"/>
          </a:p>
        </p:txBody>
      </p:sp>
      <p:sp>
        <p:nvSpPr>
          <p:cNvPr id="6" name="Shape 4"/>
          <p:cNvSpPr/>
          <p:nvPr/>
        </p:nvSpPr>
        <p:spPr>
          <a:xfrm>
            <a:off x="0" y="4887468"/>
            <a:ext cx="9144000" cy="256032"/>
          </a:xfrm>
          <a:prstGeom prst="rect">
            <a:avLst/>
          </a:prstGeom>
          <a:solidFill>
            <a:srgbClr val="F3F0EA"/>
          </a:solidFill>
          <a:ln w="12700">
            <a:solidFill>
              <a:srgbClr val="DDD8CF"/>
            </a:solidFill>
            <a:prstDash val="solid"/>
          </a:ln>
        </p:spPr>
      </p:sp>
      <p:sp>
        <p:nvSpPr>
          <p:cNvPr id="7" name="Text 5"/>
          <p:cNvSpPr/>
          <p:nvPr/>
        </p:nvSpPr>
        <p:spPr>
          <a:xfrm>
            <a:off x="137160" y="4924044"/>
            <a:ext cx="8869680" cy="182880"/>
          </a:xfrm>
          <a:prstGeom prst="rect">
            <a:avLst/>
          </a:prstGeom>
          <a:noFill/>
          <a:ln/>
        </p:spPr>
        <p:txBody>
          <a:bodyPr wrap="square" lIns="0" tIns="0" rIns="0" bIns="0" rtlCol="0" anchor="ctr"/>
          <a:lstStyle/>
          <a:p>
            <a:pPr indent="0" marL="0">
              <a:buNone/>
            </a:pPr>
            <a:r>
              <a:rPr lang="en-US" sz="650" dirty="0">
                <a:solidFill>
                  <a:srgbClr val="7A7268"/>
                </a:solidFill>
                <a:latin typeface="Calibri" pitchFamily="34" charset="0"/>
                <a:ea typeface="Calibri" pitchFamily="34" charset="-122"/>
                <a:cs typeface="Calibri" pitchFamily="34" charset="-120"/>
              </a:rPr>
              <a:t>Samuel Desseaux  |  Erythix / Aureonis  |  HPC AI Observability and Security</a:t>
            </a:r>
            <a:endParaRPr lang="en-US" sz="650" dirty="0"/>
          </a:p>
        </p:txBody>
      </p:sp>
      <p:sp>
        <p:nvSpPr>
          <p:cNvPr id="8" name="Text 6"/>
          <p:cNvSpPr/>
          <p:nvPr/>
        </p:nvSpPr>
        <p:spPr>
          <a:xfrm>
            <a:off x="201168" y="594360"/>
            <a:ext cx="8741664" cy="621792"/>
          </a:xfrm>
          <a:prstGeom prst="rect">
            <a:avLst/>
          </a:prstGeom>
          <a:noFill/>
          <a:ln/>
        </p:spPr>
        <p:txBody>
          <a:bodyPr wrap="square" lIns="0" tIns="0" rIns="0" bIns="0" rtlCol="0" anchor="ctr"/>
          <a:lstStyle/>
          <a:p>
            <a:pPr indent="0" marL="0">
              <a:lnSpc>
                <a:spcPct val="140000"/>
              </a:lnSpc>
              <a:buNone/>
            </a:pPr>
            <a:r>
              <a:rPr lang="en-US" sz="1000" dirty="0">
                <a:solidFill>
                  <a:srgbClr val="3E3A36"/>
                </a:solidFill>
                <a:latin typeface="Calibri" pitchFamily="34" charset="0"/>
                <a:ea typeface="Calibri" pitchFamily="34" charset="-122"/>
                <a:cs typeface="Calibri" pitchFamily="34" charset="-120"/>
              </a:rPr>
              <a:t>eBPF permet d'attacher des programmes verifies a des milliers de points d'instrumentation kernel : appels systeme, ioctls du driver CUDA, evenements reseau, acces fichiers — avec un impact negligeable. Observer les processus d'entrainement depuis l'exterieur, sans modifier le code.</a:t>
            </a:r>
            <a:endParaRPr lang="en-US" sz="1000" dirty="0"/>
          </a:p>
        </p:txBody>
      </p:sp>
      <p:sp>
        <p:nvSpPr>
          <p:cNvPr id="9" name="Shape 7"/>
          <p:cNvSpPr/>
          <p:nvPr/>
        </p:nvSpPr>
        <p:spPr>
          <a:xfrm>
            <a:off x="201168" y="1298448"/>
            <a:ext cx="8741664" cy="2542032"/>
          </a:xfrm>
          <a:prstGeom prst="rect">
            <a:avLst/>
          </a:prstGeom>
          <a:solidFill>
            <a:srgbClr val="F3F0EA"/>
          </a:solidFill>
          <a:ln w="12700">
            <a:solidFill>
              <a:srgbClr val="C8C2B8"/>
            </a:solidFill>
            <a:prstDash val="solid"/>
          </a:ln>
        </p:spPr>
      </p:sp>
      <p:sp>
        <p:nvSpPr>
          <p:cNvPr id="10" name="Shape 8"/>
          <p:cNvSpPr/>
          <p:nvPr/>
        </p:nvSpPr>
        <p:spPr>
          <a:xfrm>
            <a:off x="201168" y="1298448"/>
            <a:ext cx="45720" cy="2542032"/>
          </a:xfrm>
          <a:prstGeom prst="rect">
            <a:avLst/>
          </a:prstGeom>
          <a:solidFill>
            <a:srgbClr val="C8C2B8"/>
          </a:solidFill>
          <a:ln w="12700">
            <a:solidFill>
              <a:srgbClr val="C8C2B8"/>
            </a:solidFill>
            <a:prstDash val="solid"/>
          </a:ln>
        </p:spPr>
      </p:sp>
      <p:sp>
        <p:nvSpPr>
          <p:cNvPr id="11" name="Text 9"/>
          <p:cNvSpPr/>
          <p:nvPr/>
        </p:nvSpPr>
        <p:spPr>
          <a:xfrm>
            <a:off x="292608" y="1389888"/>
            <a:ext cx="8412480" cy="201168"/>
          </a:xfrm>
          <a:prstGeom prst="rect">
            <a:avLst/>
          </a:prstGeom>
          <a:noFill/>
          <a:ln/>
        </p:spPr>
        <p:txBody>
          <a:bodyPr wrap="square" lIns="0" tIns="0" rIns="0" bIns="0" rtlCol="0" anchor="ctr"/>
          <a:lstStyle/>
          <a:p>
            <a:pPr indent="0" marL="0">
              <a:buNone/>
            </a:pPr>
            <a:r>
              <a:rPr lang="en-US" sz="750" b="1" dirty="0">
                <a:solidFill>
                  <a:srgbClr val="A8243F"/>
                </a:solidFill>
                <a:latin typeface="Courier New" pitchFamily="34" charset="0"/>
                <a:ea typeface="Courier New" pitchFamily="34" charset="-122"/>
                <a:cs typeface="Courier New" pitchFamily="34" charset="-120"/>
              </a:rPr>
              <a:t>Tracer les allocations CUDA d'un processus Python</a:t>
            </a:r>
            <a:endParaRPr lang="en-US" sz="750" dirty="0"/>
          </a:p>
        </p:txBody>
      </p:sp>
      <p:sp>
        <p:nvSpPr>
          <p:cNvPr id="12" name="Text 10"/>
          <p:cNvSpPr/>
          <p:nvPr/>
        </p:nvSpPr>
        <p:spPr>
          <a:xfrm>
            <a:off x="292608" y="1609344"/>
            <a:ext cx="8412480" cy="201168"/>
          </a:xfrm>
          <a:prstGeom prst="rect">
            <a:avLst/>
          </a:prstGeom>
          <a:noFill/>
          <a:ln/>
        </p:spPr>
        <p:txBody>
          <a:bodyPr wrap="square" lIns="0" tIns="0" rIns="0" bIns="0" rtlCol="0" anchor="ctr"/>
          <a:lstStyle/>
          <a:p>
            <a:pPr indent="0" marL="0">
              <a:buNone/>
            </a:pPr>
            <a:r>
              <a:rPr lang="en-US" sz="800" dirty="0">
                <a:solidFill>
                  <a:srgbClr val="3E3A36"/>
                </a:solidFill>
                <a:latin typeface="Courier New" pitchFamily="34" charset="0"/>
                <a:ea typeface="Courier New" pitchFamily="34" charset="-122"/>
                <a:cs typeface="Courier New" pitchFamily="34" charset="-120"/>
              </a:rPr>
              <a:t>bpftrace -e 'kprobe:cuMemAlloc /pid == $1/ { printf("alloc %d bytes\n", arg1); }'</a:t>
            </a:r>
            <a:endParaRPr lang="en-US" sz="800" dirty="0"/>
          </a:p>
        </p:txBody>
      </p:sp>
      <p:sp>
        <p:nvSpPr>
          <p:cNvPr id="13" name="Text 11"/>
          <p:cNvSpPr/>
          <p:nvPr/>
        </p:nvSpPr>
        <p:spPr>
          <a:xfrm>
            <a:off x="292608" y="1828800"/>
            <a:ext cx="8412480" cy="201168"/>
          </a:xfrm>
          <a:prstGeom prst="rect">
            <a:avLst/>
          </a:prstGeom>
          <a:noFill/>
          <a:ln/>
        </p:spPr>
        <p:txBody>
          <a:bodyPr wrap="square" lIns="0" tIns="0" rIns="0" bIns="0" rtlCol="0" anchor="ctr"/>
          <a:lstStyle/>
          <a:p>
            <a:pPr indent="0" marL="0">
              <a:buNone/>
            </a:pPr>
            <a:endParaRPr lang="en-US" sz="800" dirty="0"/>
          </a:p>
        </p:txBody>
      </p:sp>
      <p:sp>
        <p:nvSpPr>
          <p:cNvPr id="14" name="Text 12"/>
          <p:cNvSpPr/>
          <p:nvPr/>
        </p:nvSpPr>
        <p:spPr>
          <a:xfrm>
            <a:off x="292608" y="2048256"/>
            <a:ext cx="8412480" cy="201168"/>
          </a:xfrm>
          <a:prstGeom prst="rect">
            <a:avLst/>
          </a:prstGeom>
          <a:noFill/>
          <a:ln/>
        </p:spPr>
        <p:txBody>
          <a:bodyPr wrap="square" lIns="0" tIns="0" rIns="0" bIns="0" rtlCol="0" anchor="ctr"/>
          <a:lstStyle/>
          <a:p>
            <a:pPr indent="0" marL="0">
              <a:buNone/>
            </a:pPr>
            <a:r>
              <a:rPr lang="en-US" sz="750" b="1" dirty="0">
                <a:solidFill>
                  <a:srgbClr val="A8243F"/>
                </a:solidFill>
                <a:latin typeface="Courier New" pitchFamily="34" charset="0"/>
                <a:ea typeface="Courier New" pitchFamily="34" charset="-122"/>
                <a:cs typeface="Courier New" pitchFamily="34" charset="-120"/>
              </a:rPr>
              <a:t>Detecter les connexions reseau sortantes inattendues</a:t>
            </a:r>
            <a:endParaRPr lang="en-US" sz="750" dirty="0"/>
          </a:p>
        </p:txBody>
      </p:sp>
      <p:sp>
        <p:nvSpPr>
          <p:cNvPr id="15" name="Text 13"/>
          <p:cNvSpPr/>
          <p:nvPr/>
        </p:nvSpPr>
        <p:spPr>
          <a:xfrm>
            <a:off x="292608" y="2267712"/>
            <a:ext cx="8412480" cy="201168"/>
          </a:xfrm>
          <a:prstGeom prst="rect">
            <a:avLst/>
          </a:prstGeom>
          <a:noFill/>
          <a:ln/>
        </p:spPr>
        <p:txBody>
          <a:bodyPr wrap="square" lIns="0" tIns="0" rIns="0" bIns="0" rtlCol="0" anchor="ctr"/>
          <a:lstStyle/>
          <a:p>
            <a:pPr indent="0" marL="0">
              <a:buNone/>
            </a:pPr>
            <a:r>
              <a:rPr lang="en-US" sz="800" dirty="0">
                <a:solidFill>
                  <a:srgbClr val="3E3A36"/>
                </a:solidFill>
                <a:latin typeface="Courier New" pitchFamily="34" charset="0"/>
                <a:ea typeface="Courier New" pitchFamily="34" charset="-122"/>
                <a:cs typeface="Courier New" pitchFamily="34" charset="-120"/>
              </a:rPr>
              <a:t>bpftrace -e 'tracepoint:syscalls:sys_enter_connect</a:t>
            </a:r>
            <a:endParaRPr lang="en-US" sz="800" dirty="0"/>
          </a:p>
        </p:txBody>
      </p:sp>
      <p:sp>
        <p:nvSpPr>
          <p:cNvPr id="16" name="Text 14"/>
          <p:cNvSpPr/>
          <p:nvPr/>
        </p:nvSpPr>
        <p:spPr>
          <a:xfrm>
            <a:off x="292608" y="2487168"/>
            <a:ext cx="8412480" cy="201168"/>
          </a:xfrm>
          <a:prstGeom prst="rect">
            <a:avLst/>
          </a:prstGeom>
          <a:noFill/>
          <a:ln/>
        </p:spPr>
        <p:txBody>
          <a:bodyPr wrap="square" lIns="0" tIns="0" rIns="0" bIns="0" rtlCol="0" anchor="ctr"/>
          <a:lstStyle/>
          <a:p>
            <a:pPr indent="0" marL="0">
              <a:buNone/>
            </a:pPr>
            <a:r>
              <a:rPr lang="en-US" sz="800" dirty="0">
                <a:solidFill>
                  <a:srgbClr val="3E3A36"/>
                </a:solidFill>
                <a:latin typeface="Courier New" pitchFamily="34" charset="0"/>
                <a:ea typeface="Courier New" pitchFamily="34" charset="-122"/>
                <a:cs typeface="Courier New" pitchFamily="34" charset="-120"/>
              </a:rPr>
              <a:t>  /comm == "python3"/ { printf("connexion: %s\n", ntop(args-&gt;uservaddr)); }'</a:t>
            </a:r>
            <a:endParaRPr lang="en-US" sz="800" dirty="0"/>
          </a:p>
        </p:txBody>
      </p:sp>
      <p:sp>
        <p:nvSpPr>
          <p:cNvPr id="17" name="Text 15"/>
          <p:cNvSpPr/>
          <p:nvPr/>
        </p:nvSpPr>
        <p:spPr>
          <a:xfrm>
            <a:off x="292608" y="2706624"/>
            <a:ext cx="8412480" cy="201168"/>
          </a:xfrm>
          <a:prstGeom prst="rect">
            <a:avLst/>
          </a:prstGeom>
          <a:noFill/>
          <a:ln/>
        </p:spPr>
        <p:txBody>
          <a:bodyPr wrap="square" lIns="0" tIns="0" rIns="0" bIns="0" rtlCol="0" anchor="ctr"/>
          <a:lstStyle/>
          <a:p>
            <a:pPr indent="0" marL="0">
              <a:buNone/>
            </a:pPr>
            <a:endParaRPr lang="en-US" sz="800" dirty="0"/>
          </a:p>
        </p:txBody>
      </p:sp>
      <p:sp>
        <p:nvSpPr>
          <p:cNvPr id="18" name="Text 16"/>
          <p:cNvSpPr/>
          <p:nvPr/>
        </p:nvSpPr>
        <p:spPr>
          <a:xfrm>
            <a:off x="292608" y="2926080"/>
            <a:ext cx="8412480" cy="201168"/>
          </a:xfrm>
          <a:prstGeom prst="rect">
            <a:avLst/>
          </a:prstGeom>
          <a:noFill/>
          <a:ln/>
        </p:spPr>
        <p:txBody>
          <a:bodyPr wrap="square" lIns="0" tIns="0" rIns="0" bIns="0" rtlCol="0" anchor="ctr"/>
          <a:lstStyle/>
          <a:p>
            <a:pPr indent="0" marL="0">
              <a:buNone/>
            </a:pPr>
            <a:r>
              <a:rPr lang="en-US" sz="750" b="1" dirty="0">
                <a:solidFill>
                  <a:srgbClr val="A8243F"/>
                </a:solidFill>
                <a:latin typeface="Courier New" pitchFamily="34" charset="0"/>
                <a:ea typeface="Courier New" pitchFamily="34" charset="-122"/>
                <a:cs typeface="Courier New" pitchFamily="34" charset="-120"/>
              </a:rPr>
              <a:t>Observer les lectures sur le repertoire de checkpoints</a:t>
            </a:r>
            <a:endParaRPr lang="en-US" sz="750" dirty="0"/>
          </a:p>
        </p:txBody>
      </p:sp>
      <p:sp>
        <p:nvSpPr>
          <p:cNvPr id="19" name="Text 17"/>
          <p:cNvSpPr/>
          <p:nvPr/>
        </p:nvSpPr>
        <p:spPr>
          <a:xfrm>
            <a:off x="292608" y="3145536"/>
            <a:ext cx="8412480" cy="201168"/>
          </a:xfrm>
          <a:prstGeom prst="rect">
            <a:avLst/>
          </a:prstGeom>
          <a:noFill/>
          <a:ln/>
        </p:spPr>
        <p:txBody>
          <a:bodyPr wrap="square" lIns="0" tIns="0" rIns="0" bIns="0" rtlCol="0" anchor="ctr"/>
          <a:lstStyle/>
          <a:p>
            <a:pPr indent="0" marL="0">
              <a:buNone/>
            </a:pPr>
            <a:r>
              <a:rPr lang="en-US" sz="800" dirty="0">
                <a:solidFill>
                  <a:srgbClr val="3E3A36"/>
                </a:solidFill>
                <a:latin typeface="Courier New" pitchFamily="34" charset="0"/>
                <a:ea typeface="Courier New" pitchFamily="34" charset="-122"/>
                <a:cs typeface="Courier New" pitchFamily="34" charset="-120"/>
              </a:rPr>
              <a:t>bpftrace -e 'tracepoint:syscalls:sys_enter_openat</a:t>
            </a:r>
            <a:endParaRPr lang="en-US" sz="800" dirty="0"/>
          </a:p>
        </p:txBody>
      </p:sp>
      <p:sp>
        <p:nvSpPr>
          <p:cNvPr id="20" name="Text 18"/>
          <p:cNvSpPr/>
          <p:nvPr/>
        </p:nvSpPr>
        <p:spPr>
          <a:xfrm>
            <a:off x="292608" y="3364992"/>
            <a:ext cx="8412480" cy="201168"/>
          </a:xfrm>
          <a:prstGeom prst="rect">
            <a:avLst/>
          </a:prstGeom>
          <a:noFill/>
          <a:ln/>
        </p:spPr>
        <p:txBody>
          <a:bodyPr wrap="square" lIns="0" tIns="0" rIns="0" bIns="0" rtlCol="0" anchor="ctr"/>
          <a:lstStyle/>
          <a:p>
            <a:pPr indent="0" marL="0">
              <a:buNone/>
            </a:pPr>
            <a:r>
              <a:rPr lang="en-US" sz="800" dirty="0">
                <a:solidFill>
                  <a:srgbClr val="3E3A36"/>
                </a:solidFill>
                <a:latin typeface="Courier New" pitchFamily="34" charset="0"/>
                <a:ea typeface="Courier New" pitchFamily="34" charset="-122"/>
                <a:cs typeface="Courier New" pitchFamily="34" charset="-120"/>
              </a:rPr>
              <a:t>  /str(args-&gt;filename) startswith "/checkpoints"/</a:t>
            </a:r>
            <a:endParaRPr lang="en-US" sz="800" dirty="0"/>
          </a:p>
        </p:txBody>
      </p:sp>
      <p:sp>
        <p:nvSpPr>
          <p:cNvPr id="21" name="Text 19"/>
          <p:cNvSpPr/>
          <p:nvPr/>
        </p:nvSpPr>
        <p:spPr>
          <a:xfrm>
            <a:off x="292608" y="3584448"/>
            <a:ext cx="8412480" cy="201168"/>
          </a:xfrm>
          <a:prstGeom prst="rect">
            <a:avLst/>
          </a:prstGeom>
          <a:noFill/>
          <a:ln/>
        </p:spPr>
        <p:txBody>
          <a:bodyPr wrap="square" lIns="0" tIns="0" rIns="0" bIns="0" rtlCol="0" anchor="ctr"/>
          <a:lstStyle/>
          <a:p>
            <a:pPr indent="0" marL="0">
              <a:buNone/>
            </a:pPr>
            <a:r>
              <a:rPr lang="en-US" sz="800" dirty="0">
                <a:solidFill>
                  <a:srgbClr val="3E3A36"/>
                </a:solidFill>
                <a:latin typeface="Courier New" pitchFamily="34" charset="0"/>
                <a:ea typeface="Courier New" pitchFamily="34" charset="-122"/>
                <a:cs typeface="Courier New" pitchFamily="34" charset="-120"/>
              </a:rPr>
              <a:t>  { printf("[%s] lit %s\n", comm, str(args-&gt;filename)); }'</a:t>
            </a:r>
            <a:endParaRPr lang="en-US" sz="800" dirty="0"/>
          </a:p>
        </p:txBody>
      </p:sp>
      <p:sp>
        <p:nvSpPr>
          <p:cNvPr id="22" name="Shape 20"/>
          <p:cNvSpPr/>
          <p:nvPr/>
        </p:nvSpPr>
        <p:spPr>
          <a:xfrm>
            <a:off x="201168" y="3931920"/>
            <a:ext cx="8741664" cy="877824"/>
          </a:xfrm>
          <a:prstGeom prst="rect">
            <a:avLst/>
          </a:prstGeom>
          <a:solidFill>
            <a:srgbClr val="F0F8F4"/>
          </a:solidFill>
          <a:ln w="12700">
            <a:solidFill>
              <a:srgbClr val="80C8A8"/>
            </a:solidFill>
            <a:prstDash val="solid"/>
          </a:ln>
        </p:spPr>
      </p:sp>
      <p:sp>
        <p:nvSpPr>
          <p:cNvPr id="23" name="Shape 21"/>
          <p:cNvSpPr/>
          <p:nvPr/>
        </p:nvSpPr>
        <p:spPr>
          <a:xfrm>
            <a:off x="201168" y="3931920"/>
            <a:ext cx="54864" cy="877824"/>
          </a:xfrm>
          <a:prstGeom prst="rect">
            <a:avLst/>
          </a:prstGeom>
          <a:solidFill>
            <a:srgbClr val="1A6E42"/>
          </a:solidFill>
          <a:ln w="12700">
            <a:solidFill>
              <a:srgbClr val="1A6E42"/>
            </a:solidFill>
            <a:prstDash val="solid"/>
          </a:ln>
        </p:spPr>
      </p:sp>
      <p:sp>
        <p:nvSpPr>
          <p:cNvPr id="24" name="Text 22"/>
          <p:cNvSpPr/>
          <p:nvPr/>
        </p:nvSpPr>
        <p:spPr>
          <a:xfrm>
            <a:off x="329184" y="3968496"/>
            <a:ext cx="8522208" cy="804672"/>
          </a:xfrm>
          <a:prstGeom prst="rect">
            <a:avLst/>
          </a:prstGeom>
          <a:noFill/>
          <a:ln/>
        </p:spPr>
        <p:txBody>
          <a:bodyPr wrap="square" lIns="0" tIns="0" rIns="0" bIns="0" rtlCol="0" anchor="ctr"/>
          <a:lstStyle/>
          <a:p>
            <a:pPr indent="0" marL="0">
              <a:lnSpc>
                <a:spcPct val="138000"/>
              </a:lnSpc>
              <a:buNone/>
            </a:pPr>
            <a:r>
              <a:rPr lang="en-US" sz="850" dirty="0">
                <a:solidFill>
                  <a:srgbClr val="3E3A36"/>
                </a:solidFill>
                <a:latin typeface="Calibri" pitchFamily="34" charset="0"/>
                <a:ea typeface="Calibri" pitchFamily="34" charset="-122"/>
                <a:cs typeface="Calibri" pitchFamily="34" charset="-120"/>
              </a:rPr>
              <a:t>Falco et Tetragon s'appuient sur eBPF pour la securite en production : Falco detecte et alerte sur les comportements suspects du noyau en temps reel. Tetragon applique des politiques de syscalls par processus — bloquant les ioctls CUDA non autorises, les connexions reseau ou les lectures de checkpoints avant qu'elles se completent.</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8F4"/>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FFFFFF"/>
          </a:solidFill>
          <a:ln w="12700">
            <a:solidFill>
              <a:srgbClr val="FFFFFF"/>
            </a:solidFill>
            <a:prstDash val="solid"/>
          </a:ln>
        </p:spPr>
      </p:sp>
      <p:sp>
        <p:nvSpPr>
          <p:cNvPr id="3" name="Shape 1"/>
          <p:cNvSpPr/>
          <p:nvPr/>
        </p:nvSpPr>
        <p:spPr>
          <a:xfrm>
            <a:off x="0" y="0"/>
            <a:ext cx="54864" cy="502920"/>
          </a:xfrm>
          <a:prstGeom prst="rect">
            <a:avLst/>
          </a:prstGeom>
          <a:solidFill>
            <a:srgbClr val="7D1C35"/>
          </a:solidFill>
          <a:ln w="12700">
            <a:solidFill>
              <a:srgbClr val="7D1C35"/>
            </a:solidFill>
            <a:prstDash val="solid"/>
          </a:ln>
        </p:spPr>
      </p:sp>
      <p:sp>
        <p:nvSpPr>
          <p:cNvPr id="4" name="Text 2"/>
          <p:cNvSpPr/>
          <p:nvPr/>
        </p:nvSpPr>
        <p:spPr>
          <a:xfrm>
            <a:off x="164592" y="54864"/>
            <a:ext cx="1371600" cy="164592"/>
          </a:xfrm>
          <a:prstGeom prst="rect">
            <a:avLst/>
          </a:prstGeom>
          <a:noFill/>
          <a:ln/>
        </p:spPr>
        <p:txBody>
          <a:bodyPr wrap="square" lIns="0" tIns="0" rIns="0" bIns="0" rtlCol="0" anchor="ctr"/>
          <a:lstStyle/>
          <a:p>
            <a:pPr indent="0" marL="0">
              <a:buNone/>
            </a:pPr>
            <a:r>
              <a:rPr lang="en-US" sz="700" b="1" spc="300" kern="0" dirty="0">
                <a:solidFill>
                  <a:srgbClr val="A8243F"/>
                </a:solidFill>
                <a:latin typeface="Calibri" pitchFamily="34" charset="0"/>
                <a:ea typeface="Calibri" pitchFamily="34" charset="-122"/>
                <a:cs typeface="Calibri" pitchFamily="34" charset="-120"/>
              </a:rPr>
              <a:t>CHAPITRE 05  |  SECURITE</a:t>
            </a:r>
            <a:endParaRPr lang="en-US" sz="700" dirty="0"/>
          </a:p>
        </p:txBody>
      </p:sp>
      <p:sp>
        <p:nvSpPr>
          <p:cNvPr id="5" name="Text 3"/>
          <p:cNvSpPr/>
          <p:nvPr/>
        </p:nvSpPr>
        <p:spPr>
          <a:xfrm>
            <a:off x="164592" y="201168"/>
            <a:ext cx="8814816" cy="256032"/>
          </a:xfrm>
          <a:prstGeom prst="rect">
            <a:avLst/>
          </a:prstGeom>
          <a:noFill/>
          <a:ln/>
        </p:spPr>
        <p:txBody>
          <a:bodyPr wrap="square" lIns="0" tIns="0" rIns="0" bIns="0" rtlCol="0" anchor="ctr"/>
          <a:lstStyle/>
          <a:p>
            <a:pPr indent="0" marL="0">
              <a:buNone/>
            </a:pPr>
            <a:r>
              <a:rPr lang="en-US" sz="1400" b="1" dirty="0">
                <a:solidFill>
                  <a:srgbClr val="1A1A1A"/>
                </a:solidFill>
                <a:latin typeface="Georgia" pitchFamily="34" charset="0"/>
                <a:ea typeface="Georgia" pitchFamily="34" charset="-122"/>
                <a:cs typeface="Georgia" pitchFamily="34" charset="-120"/>
              </a:rPr>
              <a:t>Securite des workloads IA sur HPC : 6 vecteurs de menace</a:t>
            </a:r>
            <a:endParaRPr lang="en-US" sz="1400" dirty="0"/>
          </a:p>
        </p:txBody>
      </p:sp>
      <p:sp>
        <p:nvSpPr>
          <p:cNvPr id="6" name="Shape 4"/>
          <p:cNvSpPr/>
          <p:nvPr/>
        </p:nvSpPr>
        <p:spPr>
          <a:xfrm>
            <a:off x="0" y="4887468"/>
            <a:ext cx="9144000" cy="256032"/>
          </a:xfrm>
          <a:prstGeom prst="rect">
            <a:avLst/>
          </a:prstGeom>
          <a:solidFill>
            <a:srgbClr val="F3F0EA"/>
          </a:solidFill>
          <a:ln w="12700">
            <a:solidFill>
              <a:srgbClr val="DDD8CF"/>
            </a:solidFill>
            <a:prstDash val="solid"/>
          </a:ln>
        </p:spPr>
      </p:sp>
      <p:sp>
        <p:nvSpPr>
          <p:cNvPr id="7" name="Text 5"/>
          <p:cNvSpPr/>
          <p:nvPr/>
        </p:nvSpPr>
        <p:spPr>
          <a:xfrm>
            <a:off x="137160" y="4924044"/>
            <a:ext cx="8869680" cy="182880"/>
          </a:xfrm>
          <a:prstGeom prst="rect">
            <a:avLst/>
          </a:prstGeom>
          <a:noFill/>
          <a:ln/>
        </p:spPr>
        <p:txBody>
          <a:bodyPr wrap="square" lIns="0" tIns="0" rIns="0" bIns="0" rtlCol="0" anchor="ctr"/>
          <a:lstStyle/>
          <a:p>
            <a:pPr indent="0" marL="0">
              <a:buNone/>
            </a:pPr>
            <a:r>
              <a:rPr lang="en-US" sz="650" dirty="0">
                <a:solidFill>
                  <a:srgbClr val="7A7268"/>
                </a:solidFill>
                <a:latin typeface="Calibri" pitchFamily="34" charset="0"/>
                <a:ea typeface="Calibri" pitchFamily="34" charset="-122"/>
                <a:cs typeface="Calibri" pitchFamily="34" charset="-120"/>
              </a:rPr>
              <a:t>Samuel Desseaux  |  Erythix / Aureonis  |  HPC AI Observability and Security</a:t>
            </a:r>
            <a:endParaRPr lang="en-US" sz="650" dirty="0"/>
          </a:p>
        </p:txBody>
      </p:sp>
      <p:sp>
        <p:nvSpPr>
          <p:cNvPr id="8" name="Text 6"/>
          <p:cNvSpPr/>
          <p:nvPr/>
        </p:nvSpPr>
        <p:spPr>
          <a:xfrm>
            <a:off x="201168" y="594360"/>
            <a:ext cx="8741664" cy="438912"/>
          </a:xfrm>
          <a:prstGeom prst="rect">
            <a:avLst/>
          </a:prstGeom>
          <a:noFill/>
          <a:ln/>
        </p:spPr>
        <p:txBody>
          <a:bodyPr wrap="square" lIns="0" tIns="0" rIns="0" bIns="0" rtlCol="0" anchor="ctr"/>
          <a:lstStyle/>
          <a:p>
            <a:pPr indent="0" marL="0">
              <a:lnSpc>
                <a:spcPct val="135000"/>
              </a:lnSpc>
              <a:buNone/>
            </a:pPr>
            <a:r>
              <a:rPr lang="en-US" sz="950" dirty="0">
                <a:solidFill>
                  <a:srgbClr val="3E3A36"/>
                </a:solidFill>
                <a:latin typeface="Calibri" pitchFamily="34" charset="0"/>
                <a:ea typeface="Calibri" pitchFamily="34" charset="-122"/>
                <a:cs typeface="Calibri" pitchFamily="34" charset="-120"/>
              </a:rPr>
              <a:t>Actifs critiques : poids du modele (PI), donnees d'entrainement (confidentielles), infrastructure (multi-tenant). Le GPU exige des acces privileges au noyau — ouvrant des surfaces d'attaque absentes des datacenters classiques.</a:t>
            </a:r>
            <a:endParaRPr lang="en-US" sz="950" dirty="0"/>
          </a:p>
        </p:txBody>
      </p:sp>
      <p:sp>
        <p:nvSpPr>
          <p:cNvPr id="9" name="Shape 7"/>
          <p:cNvSpPr/>
          <p:nvPr/>
        </p:nvSpPr>
        <p:spPr>
          <a:xfrm>
            <a:off x="201168" y="1097280"/>
            <a:ext cx="2852928" cy="1627632"/>
          </a:xfrm>
          <a:prstGeom prst="rect">
            <a:avLst/>
          </a:prstGeom>
          <a:solidFill>
            <a:srgbClr val="FDF2F0"/>
          </a:solidFill>
          <a:ln w="12700">
            <a:solidFill>
              <a:srgbClr val="E0A090"/>
            </a:solidFill>
            <a:prstDash val="solid"/>
          </a:ln>
          <a:effectLst>
            <a:outerShdw sx="100000" sy="100000" kx="0" ky="0" algn="bl" rotWithShape="0" blurRad="38100" dist="25400" dir="8100000">
              <a:srgbClr val="000000">
                <a:alpha val="10000"/>
              </a:srgbClr>
            </a:outerShdw>
          </a:effectLst>
        </p:spPr>
      </p:sp>
      <p:sp>
        <p:nvSpPr>
          <p:cNvPr id="10" name="Shape 8"/>
          <p:cNvSpPr/>
          <p:nvPr/>
        </p:nvSpPr>
        <p:spPr>
          <a:xfrm>
            <a:off x="201168" y="1097280"/>
            <a:ext cx="2852928" cy="237744"/>
          </a:xfrm>
          <a:prstGeom prst="rect">
            <a:avLst/>
          </a:prstGeom>
          <a:solidFill>
            <a:srgbClr val="B83828"/>
          </a:solidFill>
          <a:ln w="12700">
            <a:solidFill>
              <a:srgbClr val="B83828"/>
            </a:solidFill>
            <a:prstDash val="solid"/>
          </a:ln>
        </p:spPr>
      </p:sp>
      <p:sp>
        <p:nvSpPr>
          <p:cNvPr id="11" name="Text 9"/>
          <p:cNvSpPr/>
          <p:nvPr/>
        </p:nvSpPr>
        <p:spPr>
          <a:xfrm>
            <a:off x="201168" y="1097280"/>
            <a:ext cx="2852928"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Chaine d'appro. PyPI</a:t>
            </a:r>
            <a:endParaRPr lang="en-US" sz="850" dirty="0"/>
          </a:p>
        </p:txBody>
      </p:sp>
      <p:sp>
        <p:nvSpPr>
          <p:cNvPr id="12" name="Text 10"/>
          <p:cNvSpPr/>
          <p:nvPr/>
        </p:nvSpPr>
        <p:spPr>
          <a:xfrm>
            <a:off x="274320" y="1371600"/>
            <a:ext cx="2706624" cy="475488"/>
          </a:xfrm>
          <a:prstGeom prst="rect">
            <a:avLst/>
          </a:prstGeom>
          <a:noFill/>
          <a:ln/>
        </p:spPr>
        <p:txBody>
          <a:bodyPr wrap="square" lIns="0" tIns="0" rIns="0" bIns="0" rtlCol="0" anchor="ctr"/>
          <a:lstStyle/>
          <a:p>
            <a:pPr indent="0" marL="0">
              <a:buNone/>
            </a:pPr>
            <a:r>
              <a:rPr lang="en-US" sz="750" dirty="0">
                <a:solidFill>
                  <a:srgbClr val="3E3A36"/>
                </a:solidFill>
                <a:latin typeface="Calibri" pitchFamily="34" charset="0"/>
                <a:ea typeface="Calibri" pitchFamily="34" charset="-122"/>
                <a:cs typeface="Calibri" pitchFamily="34" charset="-120"/>
              </a:rPr>
              <a:t>Noyau CUDA malicieux dans un package Python. Exfiltre les poids pendant la passe arriere.</a:t>
            </a:r>
            <a:endParaRPr lang="en-US" sz="750" dirty="0"/>
          </a:p>
        </p:txBody>
      </p:sp>
      <p:sp>
        <p:nvSpPr>
          <p:cNvPr id="13" name="Shape 11"/>
          <p:cNvSpPr/>
          <p:nvPr/>
        </p:nvSpPr>
        <p:spPr>
          <a:xfrm>
            <a:off x="256032" y="1883664"/>
            <a:ext cx="2743200" cy="384048"/>
          </a:xfrm>
          <a:prstGeom prst="rect">
            <a:avLst/>
          </a:prstGeom>
          <a:solidFill>
            <a:srgbClr val="F0F8F4"/>
          </a:solidFill>
          <a:ln w="12700">
            <a:solidFill>
              <a:srgbClr val="80C8A8"/>
            </a:solidFill>
            <a:prstDash val="solid"/>
          </a:ln>
        </p:spPr>
      </p:sp>
      <p:sp>
        <p:nvSpPr>
          <p:cNvPr id="14" name="Text 12"/>
          <p:cNvSpPr/>
          <p:nvPr/>
        </p:nvSpPr>
        <p:spPr>
          <a:xfrm>
            <a:off x="292608" y="1901952"/>
            <a:ext cx="2670048" cy="329184"/>
          </a:xfrm>
          <a:prstGeom prst="rect">
            <a:avLst/>
          </a:prstGeom>
          <a:noFill/>
          <a:ln/>
        </p:spPr>
        <p:txBody>
          <a:bodyPr wrap="square" lIns="0" tIns="0" rIns="0" bIns="0" rtlCol="0" anchor="ctr"/>
          <a:lstStyle/>
          <a:p>
            <a:pPr indent="0" marL="0">
              <a:lnSpc>
                <a:spcPct val="130000"/>
              </a:lnSpc>
              <a:buNone/>
            </a:pPr>
            <a:r>
              <a:rPr lang="en-US" sz="650" dirty="0">
                <a:solidFill>
                  <a:srgbClr val="1A6E42"/>
                </a:solidFill>
                <a:latin typeface="Calibri" pitchFamily="34" charset="0"/>
                <a:ea typeface="Calibri" pitchFamily="34" charset="-122"/>
                <a:cs typeface="Calibri" pitchFamily="34" charset="-120"/>
              </a:rPr>
              <a:t>DETECTION : Registre prive + hash de chaque dependance</a:t>
            </a:r>
            <a:endParaRPr lang="en-US" sz="650" dirty="0"/>
          </a:p>
        </p:txBody>
      </p:sp>
      <p:sp>
        <p:nvSpPr>
          <p:cNvPr id="15" name="Shape 13"/>
          <p:cNvSpPr/>
          <p:nvPr/>
        </p:nvSpPr>
        <p:spPr>
          <a:xfrm>
            <a:off x="3118104" y="1097280"/>
            <a:ext cx="2852928" cy="1627632"/>
          </a:xfrm>
          <a:prstGeom prst="rect">
            <a:avLst/>
          </a:prstGeom>
          <a:solidFill>
            <a:srgbClr val="FDF2F0"/>
          </a:solidFill>
          <a:ln w="12700">
            <a:solidFill>
              <a:srgbClr val="E0A090"/>
            </a:solidFill>
            <a:prstDash val="solid"/>
          </a:ln>
          <a:effectLst>
            <a:outerShdw sx="100000" sy="100000" kx="0" ky="0" algn="bl" rotWithShape="0" blurRad="38100" dist="25400" dir="8100000">
              <a:srgbClr val="000000">
                <a:alpha val="10000"/>
              </a:srgbClr>
            </a:outerShdw>
          </a:effectLst>
        </p:spPr>
      </p:sp>
      <p:sp>
        <p:nvSpPr>
          <p:cNvPr id="16" name="Shape 14"/>
          <p:cNvSpPr/>
          <p:nvPr/>
        </p:nvSpPr>
        <p:spPr>
          <a:xfrm>
            <a:off x="3118104" y="1097280"/>
            <a:ext cx="2852928" cy="237744"/>
          </a:xfrm>
          <a:prstGeom prst="rect">
            <a:avLst/>
          </a:prstGeom>
          <a:solidFill>
            <a:srgbClr val="B83828"/>
          </a:solidFill>
          <a:ln w="12700">
            <a:solidFill>
              <a:srgbClr val="B83828"/>
            </a:solidFill>
            <a:prstDash val="solid"/>
          </a:ln>
        </p:spPr>
      </p:sp>
      <p:sp>
        <p:nvSpPr>
          <p:cNvPr id="17" name="Text 15"/>
          <p:cNvSpPr/>
          <p:nvPr/>
        </p:nvSpPr>
        <p:spPr>
          <a:xfrm>
            <a:off x="3118104" y="1097280"/>
            <a:ext cx="2852928"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Data Poisoning</a:t>
            </a:r>
            <a:endParaRPr lang="en-US" sz="850" dirty="0"/>
          </a:p>
        </p:txBody>
      </p:sp>
      <p:sp>
        <p:nvSpPr>
          <p:cNvPr id="18" name="Text 16"/>
          <p:cNvSpPr/>
          <p:nvPr/>
        </p:nvSpPr>
        <p:spPr>
          <a:xfrm>
            <a:off x="3191256" y="1371600"/>
            <a:ext cx="2706624" cy="475488"/>
          </a:xfrm>
          <a:prstGeom prst="rect">
            <a:avLst/>
          </a:prstGeom>
          <a:noFill/>
          <a:ln/>
        </p:spPr>
        <p:txBody>
          <a:bodyPr wrap="square" lIns="0" tIns="0" rIns="0" bIns="0" rtlCol="0" anchor="ctr"/>
          <a:lstStyle/>
          <a:p>
            <a:pPr indent="0" marL="0">
              <a:buNone/>
            </a:pPr>
            <a:r>
              <a:rPr lang="en-US" sz="750" dirty="0">
                <a:solidFill>
                  <a:srgbClr val="3E3A36"/>
                </a:solidFill>
                <a:latin typeface="Calibri" pitchFamily="34" charset="0"/>
                <a:ea typeface="Calibri" pitchFamily="34" charset="-122"/>
                <a:cs typeface="Calibri" pitchFamily="34" charset="-120"/>
              </a:rPr>
              <a:t>Modification Lustre entre verification d'integrite et lecture DataLoader. Insertion de backdoor.</a:t>
            </a:r>
            <a:endParaRPr lang="en-US" sz="750" dirty="0"/>
          </a:p>
        </p:txBody>
      </p:sp>
      <p:sp>
        <p:nvSpPr>
          <p:cNvPr id="19" name="Shape 17"/>
          <p:cNvSpPr/>
          <p:nvPr/>
        </p:nvSpPr>
        <p:spPr>
          <a:xfrm>
            <a:off x="3172968" y="1883664"/>
            <a:ext cx="2743200" cy="384048"/>
          </a:xfrm>
          <a:prstGeom prst="rect">
            <a:avLst/>
          </a:prstGeom>
          <a:solidFill>
            <a:srgbClr val="F0F8F4"/>
          </a:solidFill>
          <a:ln w="12700">
            <a:solidFill>
              <a:srgbClr val="80C8A8"/>
            </a:solidFill>
            <a:prstDash val="solid"/>
          </a:ln>
        </p:spPr>
      </p:sp>
      <p:sp>
        <p:nvSpPr>
          <p:cNvPr id="20" name="Text 18"/>
          <p:cNvSpPr/>
          <p:nvPr/>
        </p:nvSpPr>
        <p:spPr>
          <a:xfrm>
            <a:off x="3209544" y="1901952"/>
            <a:ext cx="2670048" cy="329184"/>
          </a:xfrm>
          <a:prstGeom prst="rect">
            <a:avLst/>
          </a:prstGeom>
          <a:noFill/>
          <a:ln/>
        </p:spPr>
        <p:txBody>
          <a:bodyPr wrap="square" lIns="0" tIns="0" rIns="0" bIns="0" rtlCol="0" anchor="ctr"/>
          <a:lstStyle/>
          <a:p>
            <a:pPr indent="0" marL="0">
              <a:lnSpc>
                <a:spcPct val="130000"/>
              </a:lnSpc>
              <a:buNone/>
            </a:pPr>
            <a:r>
              <a:rPr lang="en-US" sz="650" dirty="0">
                <a:solidFill>
                  <a:srgbClr val="1A6E42"/>
                </a:solidFill>
                <a:latin typeface="Calibri" pitchFamily="34" charset="0"/>
                <a:ea typeface="Calibri" pitchFamily="34" charset="-122"/>
                <a:cs typeface="Calibri" pitchFamily="34" charset="-120"/>
              </a:rPr>
              <a:t>DETECTION : SHA-256 par shard au moment de la lecture</a:t>
            </a:r>
            <a:endParaRPr lang="en-US" sz="650" dirty="0"/>
          </a:p>
        </p:txBody>
      </p:sp>
      <p:sp>
        <p:nvSpPr>
          <p:cNvPr id="21" name="Shape 19"/>
          <p:cNvSpPr/>
          <p:nvPr/>
        </p:nvSpPr>
        <p:spPr>
          <a:xfrm>
            <a:off x="6035040" y="1097280"/>
            <a:ext cx="2852928" cy="1627632"/>
          </a:xfrm>
          <a:prstGeom prst="rect">
            <a:avLst/>
          </a:prstGeom>
          <a:solidFill>
            <a:srgbClr val="FDF8F0"/>
          </a:solidFill>
          <a:ln w="12700">
            <a:solidFill>
              <a:srgbClr val="E8C860"/>
            </a:solidFill>
            <a:prstDash val="solid"/>
          </a:ln>
          <a:effectLst>
            <a:outerShdw sx="100000" sy="100000" kx="0" ky="0" algn="bl" rotWithShape="0" blurRad="38100" dist="25400" dir="8100000">
              <a:srgbClr val="000000">
                <a:alpha val="10000"/>
              </a:srgbClr>
            </a:outerShdw>
          </a:effectLst>
        </p:spPr>
      </p:sp>
      <p:sp>
        <p:nvSpPr>
          <p:cNvPr id="22" name="Shape 20"/>
          <p:cNvSpPr/>
          <p:nvPr/>
        </p:nvSpPr>
        <p:spPr>
          <a:xfrm>
            <a:off x="6035040" y="1097280"/>
            <a:ext cx="2852928" cy="237744"/>
          </a:xfrm>
          <a:prstGeom prst="rect">
            <a:avLst/>
          </a:prstGeom>
          <a:solidFill>
            <a:srgbClr val="8A5A00"/>
          </a:solidFill>
          <a:ln w="12700">
            <a:solidFill>
              <a:srgbClr val="8A5A00"/>
            </a:solidFill>
            <a:prstDash val="solid"/>
          </a:ln>
        </p:spPr>
      </p:sp>
      <p:sp>
        <p:nvSpPr>
          <p:cNvPr id="23" name="Text 21"/>
          <p:cNvSpPr/>
          <p:nvPr/>
        </p:nvSpPr>
        <p:spPr>
          <a:xfrm>
            <a:off x="6035040" y="1097280"/>
            <a:ext cx="2852928"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Angle mort RDMA</a:t>
            </a:r>
            <a:endParaRPr lang="en-US" sz="850" dirty="0"/>
          </a:p>
        </p:txBody>
      </p:sp>
      <p:sp>
        <p:nvSpPr>
          <p:cNvPr id="24" name="Text 22"/>
          <p:cNvSpPr/>
          <p:nvPr/>
        </p:nvSpPr>
        <p:spPr>
          <a:xfrm>
            <a:off x="6108192" y="1371600"/>
            <a:ext cx="2706624" cy="475488"/>
          </a:xfrm>
          <a:prstGeom prst="rect">
            <a:avLst/>
          </a:prstGeom>
          <a:noFill/>
          <a:ln/>
        </p:spPr>
        <p:txBody>
          <a:bodyPr wrap="square" lIns="0" tIns="0" rIns="0" bIns="0" rtlCol="0" anchor="ctr"/>
          <a:lstStyle/>
          <a:p>
            <a:pPr indent="0" marL="0">
              <a:buNone/>
            </a:pPr>
            <a:r>
              <a:rPr lang="en-US" sz="750" dirty="0">
                <a:solidFill>
                  <a:srgbClr val="3E3A36"/>
                </a:solidFill>
                <a:latin typeface="Calibri" pitchFamily="34" charset="0"/>
                <a:ea typeface="Calibri" pitchFamily="34" charset="-122"/>
                <a:cs typeface="Calibri" pitchFamily="34" charset="-120"/>
              </a:rPr>
              <a:t>Lecture memoire pair via RDMA. Aucun pare-feu, IDS ou iptables ne voit ce trafic.</a:t>
            </a:r>
            <a:endParaRPr lang="en-US" sz="750" dirty="0"/>
          </a:p>
        </p:txBody>
      </p:sp>
      <p:sp>
        <p:nvSpPr>
          <p:cNvPr id="25" name="Shape 23"/>
          <p:cNvSpPr/>
          <p:nvPr/>
        </p:nvSpPr>
        <p:spPr>
          <a:xfrm>
            <a:off x="6089904" y="1883664"/>
            <a:ext cx="2743200" cy="384048"/>
          </a:xfrm>
          <a:prstGeom prst="rect">
            <a:avLst/>
          </a:prstGeom>
          <a:solidFill>
            <a:srgbClr val="F0F8F4"/>
          </a:solidFill>
          <a:ln w="12700">
            <a:solidFill>
              <a:srgbClr val="80C8A8"/>
            </a:solidFill>
            <a:prstDash val="solid"/>
          </a:ln>
        </p:spPr>
      </p:sp>
      <p:sp>
        <p:nvSpPr>
          <p:cNvPr id="26" name="Text 24"/>
          <p:cNvSpPr/>
          <p:nvPr/>
        </p:nvSpPr>
        <p:spPr>
          <a:xfrm>
            <a:off x="6126480" y="1901952"/>
            <a:ext cx="2670048" cy="329184"/>
          </a:xfrm>
          <a:prstGeom prst="rect">
            <a:avLst/>
          </a:prstGeom>
          <a:noFill/>
          <a:ln/>
        </p:spPr>
        <p:txBody>
          <a:bodyPr wrap="square" lIns="0" tIns="0" rIns="0" bIns="0" rtlCol="0" anchor="ctr"/>
          <a:lstStyle/>
          <a:p>
            <a:pPr indent="0" marL="0">
              <a:lnSpc>
                <a:spcPct val="130000"/>
              </a:lnSpc>
              <a:buNone/>
            </a:pPr>
            <a:r>
              <a:rPr lang="en-US" sz="650" dirty="0">
                <a:solidFill>
                  <a:srgbClr val="1A6E42"/>
                </a:solidFill>
                <a:latin typeface="Calibri" pitchFamily="34" charset="0"/>
                <a:ea typeface="Calibri" pitchFamily="34" charset="-122"/>
                <a:cs typeface="Calibri" pitchFamily="34" charset="-120"/>
              </a:rPr>
              <a:t>DETECTION : Metriques anomalie IB + baseline comportementale</a:t>
            </a:r>
            <a:endParaRPr lang="en-US" sz="650" dirty="0"/>
          </a:p>
        </p:txBody>
      </p:sp>
      <p:sp>
        <p:nvSpPr>
          <p:cNvPr id="27" name="Shape 25"/>
          <p:cNvSpPr/>
          <p:nvPr/>
        </p:nvSpPr>
        <p:spPr>
          <a:xfrm>
            <a:off x="201168" y="2816352"/>
            <a:ext cx="2852928" cy="1627632"/>
          </a:xfrm>
          <a:prstGeom prst="rect">
            <a:avLst/>
          </a:prstGeom>
          <a:solidFill>
            <a:srgbClr val="FDF8F0"/>
          </a:solidFill>
          <a:ln w="12700">
            <a:solidFill>
              <a:srgbClr val="E8C860"/>
            </a:solidFill>
            <a:prstDash val="solid"/>
          </a:ln>
          <a:effectLst>
            <a:outerShdw sx="100000" sy="100000" kx="0" ky="0" algn="bl" rotWithShape="0" blurRad="38100" dist="25400" dir="8100000">
              <a:srgbClr val="000000">
                <a:alpha val="10000"/>
              </a:srgbClr>
            </a:outerShdw>
          </a:effectLst>
        </p:spPr>
      </p:sp>
      <p:sp>
        <p:nvSpPr>
          <p:cNvPr id="28" name="Shape 26"/>
          <p:cNvSpPr/>
          <p:nvPr/>
        </p:nvSpPr>
        <p:spPr>
          <a:xfrm>
            <a:off x="201168" y="2816352"/>
            <a:ext cx="2852928" cy="237744"/>
          </a:xfrm>
          <a:prstGeom prst="rect">
            <a:avLst/>
          </a:prstGeom>
          <a:solidFill>
            <a:srgbClr val="8A5A00"/>
          </a:solidFill>
          <a:ln w="12700">
            <a:solidFill>
              <a:srgbClr val="8A5A00"/>
            </a:solidFill>
            <a:prstDash val="solid"/>
          </a:ln>
        </p:spPr>
      </p:sp>
      <p:sp>
        <p:nvSpPr>
          <p:cNvPr id="29" name="Text 27"/>
          <p:cNvSpPr/>
          <p:nvPr/>
        </p:nvSpPr>
        <p:spPr>
          <a:xfrm>
            <a:off x="201168" y="2816352"/>
            <a:ext cx="2852928"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Injection de gradients</a:t>
            </a:r>
            <a:endParaRPr lang="en-US" sz="850" dirty="0"/>
          </a:p>
        </p:txBody>
      </p:sp>
      <p:sp>
        <p:nvSpPr>
          <p:cNvPr id="30" name="Text 28"/>
          <p:cNvSpPr/>
          <p:nvPr/>
        </p:nvSpPr>
        <p:spPr>
          <a:xfrm>
            <a:off x="274320" y="3090672"/>
            <a:ext cx="2706624" cy="475488"/>
          </a:xfrm>
          <a:prstGeom prst="rect">
            <a:avLst/>
          </a:prstGeom>
          <a:noFill/>
          <a:ln/>
        </p:spPr>
        <p:txBody>
          <a:bodyPr wrap="square" lIns="0" tIns="0" rIns="0" bIns="0" rtlCol="0" anchor="ctr"/>
          <a:lstStyle/>
          <a:p>
            <a:pPr indent="0" marL="0">
              <a:buNone/>
            </a:pPr>
            <a:r>
              <a:rPr lang="en-US" sz="750" dirty="0">
                <a:solidFill>
                  <a:srgbClr val="3E3A36"/>
                </a:solidFill>
                <a:latin typeface="Calibri" pitchFamily="34" charset="0"/>
                <a:ea typeface="Calibri" pitchFamily="34" charset="-122"/>
                <a:cs typeface="Calibri" pitchFamily="34" charset="-120"/>
              </a:rPr>
              <a:t>Entrainement federe : gradients fabriques pour introduire un backdoor dans le modele final.</a:t>
            </a:r>
            <a:endParaRPr lang="en-US" sz="750" dirty="0"/>
          </a:p>
        </p:txBody>
      </p:sp>
      <p:sp>
        <p:nvSpPr>
          <p:cNvPr id="31" name="Shape 29"/>
          <p:cNvSpPr/>
          <p:nvPr/>
        </p:nvSpPr>
        <p:spPr>
          <a:xfrm>
            <a:off x="256032" y="3602736"/>
            <a:ext cx="2743200" cy="384048"/>
          </a:xfrm>
          <a:prstGeom prst="rect">
            <a:avLst/>
          </a:prstGeom>
          <a:solidFill>
            <a:srgbClr val="F0F8F4"/>
          </a:solidFill>
          <a:ln w="12700">
            <a:solidFill>
              <a:srgbClr val="80C8A8"/>
            </a:solidFill>
            <a:prstDash val="solid"/>
          </a:ln>
        </p:spPr>
      </p:sp>
      <p:sp>
        <p:nvSpPr>
          <p:cNvPr id="32" name="Text 30"/>
          <p:cNvSpPr/>
          <p:nvPr/>
        </p:nvSpPr>
        <p:spPr>
          <a:xfrm>
            <a:off x="292608" y="3621024"/>
            <a:ext cx="2670048" cy="329184"/>
          </a:xfrm>
          <a:prstGeom prst="rect">
            <a:avLst/>
          </a:prstGeom>
          <a:noFill/>
          <a:ln/>
        </p:spPr>
        <p:txBody>
          <a:bodyPr wrap="square" lIns="0" tIns="0" rIns="0" bIns="0" rtlCol="0" anchor="ctr"/>
          <a:lstStyle/>
          <a:p>
            <a:pPr indent="0" marL="0">
              <a:lnSpc>
                <a:spcPct val="130000"/>
              </a:lnSpc>
              <a:buNone/>
            </a:pPr>
            <a:r>
              <a:rPr lang="en-US" sz="650" dirty="0">
                <a:solidFill>
                  <a:srgbClr val="1A6E42"/>
                </a:solidFill>
                <a:latin typeface="Calibri" pitchFamily="34" charset="0"/>
                <a:ea typeface="Calibri" pitchFamily="34" charset="-122"/>
                <a:cs typeface="Calibri" pitchFamily="34" charset="-120"/>
              </a:rPr>
              <a:t>DETECTION : Distribution norme gradients + divergence KL</a:t>
            </a:r>
            <a:endParaRPr lang="en-US" sz="650" dirty="0"/>
          </a:p>
        </p:txBody>
      </p:sp>
      <p:sp>
        <p:nvSpPr>
          <p:cNvPr id="33" name="Shape 31"/>
          <p:cNvSpPr/>
          <p:nvPr/>
        </p:nvSpPr>
        <p:spPr>
          <a:xfrm>
            <a:off x="3118104" y="2816352"/>
            <a:ext cx="2852928" cy="1627632"/>
          </a:xfrm>
          <a:prstGeom prst="rect">
            <a:avLst/>
          </a:prstGeom>
          <a:solidFill>
            <a:srgbClr val="FDF4F6"/>
          </a:solidFill>
          <a:ln w="12700">
            <a:solidFill>
              <a:srgbClr val="E8B0C0"/>
            </a:solidFill>
            <a:prstDash val="solid"/>
          </a:ln>
          <a:effectLst>
            <a:outerShdw sx="100000" sy="100000" kx="0" ky="0" algn="bl" rotWithShape="0" blurRad="38100" dist="25400" dir="8100000">
              <a:srgbClr val="000000">
                <a:alpha val="10000"/>
              </a:srgbClr>
            </a:outerShdw>
          </a:effectLst>
        </p:spPr>
      </p:sp>
      <p:sp>
        <p:nvSpPr>
          <p:cNvPr id="34" name="Shape 32"/>
          <p:cNvSpPr/>
          <p:nvPr/>
        </p:nvSpPr>
        <p:spPr>
          <a:xfrm>
            <a:off x="3118104" y="2816352"/>
            <a:ext cx="2852928" cy="237744"/>
          </a:xfrm>
          <a:prstGeom prst="rect">
            <a:avLst/>
          </a:prstGeom>
          <a:solidFill>
            <a:srgbClr val="A8243F"/>
          </a:solidFill>
          <a:ln w="12700">
            <a:solidFill>
              <a:srgbClr val="A8243F"/>
            </a:solidFill>
            <a:prstDash val="solid"/>
          </a:ln>
        </p:spPr>
      </p:sp>
      <p:sp>
        <p:nvSpPr>
          <p:cNvPr id="35" name="Text 33"/>
          <p:cNvSpPr/>
          <p:nvPr/>
        </p:nvSpPr>
        <p:spPr>
          <a:xfrm>
            <a:off x="3118104" y="2816352"/>
            <a:ext cx="2852928"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Fuite VRAM</a:t>
            </a:r>
            <a:endParaRPr lang="en-US" sz="850" dirty="0"/>
          </a:p>
        </p:txBody>
      </p:sp>
      <p:sp>
        <p:nvSpPr>
          <p:cNvPr id="36" name="Text 34"/>
          <p:cNvSpPr/>
          <p:nvPr/>
        </p:nvSpPr>
        <p:spPr>
          <a:xfrm>
            <a:off x="3191256" y="3090672"/>
            <a:ext cx="2706624" cy="475488"/>
          </a:xfrm>
          <a:prstGeom prst="rect">
            <a:avLst/>
          </a:prstGeom>
          <a:noFill/>
          <a:ln/>
        </p:spPr>
        <p:txBody>
          <a:bodyPr wrap="square" lIns="0" tIns="0" rIns="0" bIns="0" rtlCol="0" anchor="ctr"/>
          <a:lstStyle/>
          <a:p>
            <a:pPr indent="0" marL="0">
              <a:buNone/>
            </a:pPr>
            <a:r>
              <a:rPr lang="en-US" sz="750" dirty="0">
                <a:solidFill>
                  <a:srgbClr val="3E3A36"/>
                </a:solidFill>
                <a:latin typeface="Calibri" pitchFamily="34" charset="0"/>
                <a:ea typeface="Calibri" pitchFamily="34" charset="-122"/>
                <a:cs typeface="Calibri" pitchFamily="34" charset="-120"/>
              </a:rPr>
              <a:t>Memoire GPU non remise a zero entre jobs SLURM. Poids du tenant precedent lisibles.</a:t>
            </a:r>
            <a:endParaRPr lang="en-US" sz="750" dirty="0"/>
          </a:p>
        </p:txBody>
      </p:sp>
      <p:sp>
        <p:nvSpPr>
          <p:cNvPr id="37" name="Shape 35"/>
          <p:cNvSpPr/>
          <p:nvPr/>
        </p:nvSpPr>
        <p:spPr>
          <a:xfrm>
            <a:off x="3172968" y="3602736"/>
            <a:ext cx="2743200" cy="384048"/>
          </a:xfrm>
          <a:prstGeom prst="rect">
            <a:avLst/>
          </a:prstGeom>
          <a:solidFill>
            <a:srgbClr val="F0F8F4"/>
          </a:solidFill>
          <a:ln w="12700">
            <a:solidFill>
              <a:srgbClr val="80C8A8"/>
            </a:solidFill>
            <a:prstDash val="solid"/>
          </a:ln>
        </p:spPr>
      </p:sp>
      <p:sp>
        <p:nvSpPr>
          <p:cNvPr id="38" name="Text 36"/>
          <p:cNvSpPr/>
          <p:nvPr/>
        </p:nvSpPr>
        <p:spPr>
          <a:xfrm>
            <a:off x="3209544" y="3621024"/>
            <a:ext cx="2670048" cy="329184"/>
          </a:xfrm>
          <a:prstGeom prst="rect">
            <a:avLst/>
          </a:prstGeom>
          <a:noFill/>
          <a:ln/>
        </p:spPr>
        <p:txBody>
          <a:bodyPr wrap="square" lIns="0" tIns="0" rIns="0" bIns="0" rtlCol="0" anchor="ctr"/>
          <a:lstStyle/>
          <a:p>
            <a:pPr indent="0" marL="0">
              <a:lnSpc>
                <a:spcPct val="130000"/>
              </a:lnSpc>
              <a:buNone/>
            </a:pPr>
            <a:r>
              <a:rPr lang="en-US" sz="650" dirty="0">
                <a:solidFill>
                  <a:srgbClr val="1A6E42"/>
                </a:solidFill>
                <a:latin typeface="Calibri" pitchFamily="34" charset="0"/>
                <a:ea typeface="Calibri" pitchFamily="34" charset="-122"/>
                <a:cs typeface="Calibri" pitchFamily="34" charset="-120"/>
              </a:rPr>
              <a:t>DETECTION : Effacement GPU pre-job + config driver</a:t>
            </a:r>
            <a:endParaRPr lang="en-US" sz="650" dirty="0"/>
          </a:p>
        </p:txBody>
      </p:sp>
      <p:sp>
        <p:nvSpPr>
          <p:cNvPr id="39" name="Shape 37"/>
          <p:cNvSpPr/>
          <p:nvPr/>
        </p:nvSpPr>
        <p:spPr>
          <a:xfrm>
            <a:off x="6035040" y="2816352"/>
            <a:ext cx="2852928" cy="1627632"/>
          </a:xfrm>
          <a:prstGeom prst="rect">
            <a:avLst/>
          </a:prstGeom>
          <a:solidFill>
            <a:srgbClr val="FDF4F6"/>
          </a:solidFill>
          <a:ln w="12700">
            <a:solidFill>
              <a:srgbClr val="E8B0C0"/>
            </a:solidFill>
            <a:prstDash val="solid"/>
          </a:ln>
          <a:effectLst>
            <a:outerShdw sx="100000" sy="100000" kx="0" ky="0" algn="bl" rotWithShape="0" blurRad="38100" dist="25400" dir="8100000">
              <a:srgbClr val="000000">
                <a:alpha val="10000"/>
              </a:srgbClr>
            </a:outerShdw>
          </a:effectLst>
        </p:spPr>
      </p:sp>
      <p:sp>
        <p:nvSpPr>
          <p:cNvPr id="40" name="Shape 38"/>
          <p:cNvSpPr/>
          <p:nvPr/>
        </p:nvSpPr>
        <p:spPr>
          <a:xfrm>
            <a:off x="6035040" y="2816352"/>
            <a:ext cx="2852928" cy="237744"/>
          </a:xfrm>
          <a:prstGeom prst="rect">
            <a:avLst/>
          </a:prstGeom>
          <a:solidFill>
            <a:srgbClr val="A8243F"/>
          </a:solidFill>
          <a:ln w="12700">
            <a:solidFill>
              <a:srgbClr val="A8243F"/>
            </a:solidFill>
            <a:prstDash val="solid"/>
          </a:ln>
        </p:spPr>
      </p:sp>
      <p:sp>
        <p:nvSpPr>
          <p:cNvPr id="41" name="Text 39"/>
          <p:cNvSpPr/>
          <p:nvPr/>
        </p:nvSpPr>
        <p:spPr>
          <a:xfrm>
            <a:off x="6035040" y="2816352"/>
            <a:ext cx="2852928"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Escape conteneur</a:t>
            </a:r>
            <a:endParaRPr lang="en-US" sz="850" dirty="0"/>
          </a:p>
        </p:txBody>
      </p:sp>
      <p:sp>
        <p:nvSpPr>
          <p:cNvPr id="42" name="Text 40"/>
          <p:cNvSpPr/>
          <p:nvPr/>
        </p:nvSpPr>
        <p:spPr>
          <a:xfrm>
            <a:off x="6108192" y="3090672"/>
            <a:ext cx="2706624" cy="475488"/>
          </a:xfrm>
          <a:prstGeom prst="rect">
            <a:avLst/>
          </a:prstGeom>
          <a:noFill/>
          <a:ln/>
        </p:spPr>
        <p:txBody>
          <a:bodyPr wrap="square" lIns="0" tIns="0" rIns="0" bIns="0" rtlCol="0" anchor="ctr"/>
          <a:lstStyle/>
          <a:p>
            <a:pPr indent="0" marL="0">
              <a:buNone/>
            </a:pPr>
            <a:r>
              <a:rPr lang="en-US" sz="750" dirty="0">
                <a:solidFill>
                  <a:srgbClr val="3E3A36"/>
                </a:solidFill>
                <a:latin typeface="Calibri" pitchFamily="34" charset="0"/>
                <a:ea typeface="Calibri" pitchFamily="34" charset="-122"/>
                <a:cs typeface="Calibri" pitchFamily="34" charset="-120"/>
              </a:rPr>
              <a:t>CVE-2024-0132 dans nvidia-container-toolkit. Acces au noeud hote et tous les workloads.</a:t>
            </a:r>
            <a:endParaRPr lang="en-US" sz="750" dirty="0"/>
          </a:p>
        </p:txBody>
      </p:sp>
      <p:sp>
        <p:nvSpPr>
          <p:cNvPr id="43" name="Shape 41"/>
          <p:cNvSpPr/>
          <p:nvPr/>
        </p:nvSpPr>
        <p:spPr>
          <a:xfrm>
            <a:off x="6089904" y="3602736"/>
            <a:ext cx="2743200" cy="384048"/>
          </a:xfrm>
          <a:prstGeom prst="rect">
            <a:avLst/>
          </a:prstGeom>
          <a:solidFill>
            <a:srgbClr val="F0F8F4"/>
          </a:solidFill>
          <a:ln w="12700">
            <a:solidFill>
              <a:srgbClr val="80C8A8"/>
            </a:solidFill>
            <a:prstDash val="solid"/>
          </a:ln>
        </p:spPr>
      </p:sp>
      <p:sp>
        <p:nvSpPr>
          <p:cNvPr id="44" name="Text 42"/>
          <p:cNvSpPr/>
          <p:nvPr/>
        </p:nvSpPr>
        <p:spPr>
          <a:xfrm>
            <a:off x="6126480" y="3621024"/>
            <a:ext cx="2670048" cy="329184"/>
          </a:xfrm>
          <a:prstGeom prst="rect">
            <a:avLst/>
          </a:prstGeom>
          <a:noFill/>
          <a:ln/>
        </p:spPr>
        <p:txBody>
          <a:bodyPr wrap="square" lIns="0" tIns="0" rIns="0" bIns="0" rtlCol="0" anchor="ctr"/>
          <a:lstStyle/>
          <a:p>
            <a:pPr indent="0" marL="0">
              <a:lnSpc>
                <a:spcPct val="130000"/>
              </a:lnSpc>
              <a:buNone/>
            </a:pPr>
            <a:r>
              <a:rPr lang="en-US" sz="650" dirty="0">
                <a:solidFill>
                  <a:srgbClr val="1A6E42"/>
                </a:solidFill>
                <a:latin typeface="Calibri" pitchFamily="34" charset="0"/>
                <a:ea typeface="Calibri" pitchFamily="34" charset="-122"/>
                <a:cs typeface="Calibri" pitchFamily="34" charset="-120"/>
              </a:rPr>
              <a:t>DETECTION : Regles Falco + politique syscall Tetragon</a:t>
            </a:r>
            <a:endParaRPr lang="en-US" sz="6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8F4"/>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FFFFFF"/>
          </a:solidFill>
          <a:ln w="12700">
            <a:solidFill>
              <a:srgbClr val="FFFFFF"/>
            </a:solidFill>
            <a:prstDash val="solid"/>
          </a:ln>
        </p:spPr>
      </p:sp>
      <p:sp>
        <p:nvSpPr>
          <p:cNvPr id="3" name="Shape 1"/>
          <p:cNvSpPr/>
          <p:nvPr/>
        </p:nvSpPr>
        <p:spPr>
          <a:xfrm>
            <a:off x="0" y="0"/>
            <a:ext cx="54864" cy="502920"/>
          </a:xfrm>
          <a:prstGeom prst="rect">
            <a:avLst/>
          </a:prstGeom>
          <a:solidFill>
            <a:srgbClr val="7D1C35"/>
          </a:solidFill>
          <a:ln w="12700">
            <a:solidFill>
              <a:srgbClr val="7D1C35"/>
            </a:solidFill>
            <a:prstDash val="solid"/>
          </a:ln>
        </p:spPr>
      </p:sp>
      <p:sp>
        <p:nvSpPr>
          <p:cNvPr id="4" name="Text 2"/>
          <p:cNvSpPr/>
          <p:nvPr/>
        </p:nvSpPr>
        <p:spPr>
          <a:xfrm>
            <a:off x="164592" y="54864"/>
            <a:ext cx="1371600" cy="164592"/>
          </a:xfrm>
          <a:prstGeom prst="rect">
            <a:avLst/>
          </a:prstGeom>
          <a:noFill/>
          <a:ln/>
        </p:spPr>
        <p:txBody>
          <a:bodyPr wrap="square" lIns="0" tIns="0" rIns="0" bIns="0" rtlCol="0" anchor="ctr"/>
          <a:lstStyle/>
          <a:p>
            <a:pPr indent="0" marL="0">
              <a:buNone/>
            </a:pPr>
            <a:r>
              <a:rPr lang="en-US" sz="700" b="1" spc="300" kern="0" dirty="0">
                <a:solidFill>
                  <a:srgbClr val="A8243F"/>
                </a:solidFill>
                <a:latin typeface="Calibri" pitchFamily="34" charset="0"/>
                <a:ea typeface="Calibri" pitchFamily="34" charset="-122"/>
                <a:cs typeface="Calibri" pitchFamily="34" charset="-120"/>
              </a:rPr>
              <a:t>CHAPITRE 06  |  REFERENCE</a:t>
            </a:r>
            <a:endParaRPr lang="en-US" sz="700" dirty="0"/>
          </a:p>
        </p:txBody>
      </p:sp>
      <p:sp>
        <p:nvSpPr>
          <p:cNvPr id="5" name="Text 3"/>
          <p:cNvSpPr/>
          <p:nvPr/>
        </p:nvSpPr>
        <p:spPr>
          <a:xfrm>
            <a:off x="164592" y="201168"/>
            <a:ext cx="8814816" cy="256032"/>
          </a:xfrm>
          <a:prstGeom prst="rect">
            <a:avLst/>
          </a:prstGeom>
          <a:noFill/>
          <a:ln/>
        </p:spPr>
        <p:txBody>
          <a:bodyPr wrap="square" lIns="0" tIns="0" rIns="0" bIns="0" rtlCol="0" anchor="ctr"/>
          <a:lstStyle/>
          <a:p>
            <a:pPr indent="0" marL="0">
              <a:buNone/>
            </a:pPr>
            <a:r>
              <a:rPr lang="en-US" sz="1400" b="1" dirty="0">
                <a:solidFill>
                  <a:srgbClr val="1A1A1A"/>
                </a:solidFill>
                <a:latin typeface="Georgia" pitchFamily="34" charset="0"/>
                <a:ea typeface="Georgia" pitchFamily="34" charset="-122"/>
                <a:cs typeface="Georgia" pitchFamily="34" charset="-120"/>
              </a:rPr>
              <a:t>Outils open source : la stack souveraine</a:t>
            </a:r>
            <a:endParaRPr lang="en-US" sz="1400" dirty="0"/>
          </a:p>
        </p:txBody>
      </p:sp>
      <p:sp>
        <p:nvSpPr>
          <p:cNvPr id="6" name="Shape 4"/>
          <p:cNvSpPr/>
          <p:nvPr/>
        </p:nvSpPr>
        <p:spPr>
          <a:xfrm>
            <a:off x="0" y="4887468"/>
            <a:ext cx="9144000" cy="256032"/>
          </a:xfrm>
          <a:prstGeom prst="rect">
            <a:avLst/>
          </a:prstGeom>
          <a:solidFill>
            <a:srgbClr val="F3F0EA"/>
          </a:solidFill>
          <a:ln w="12700">
            <a:solidFill>
              <a:srgbClr val="DDD8CF"/>
            </a:solidFill>
            <a:prstDash val="solid"/>
          </a:ln>
        </p:spPr>
      </p:sp>
      <p:sp>
        <p:nvSpPr>
          <p:cNvPr id="7" name="Text 5"/>
          <p:cNvSpPr/>
          <p:nvPr/>
        </p:nvSpPr>
        <p:spPr>
          <a:xfrm>
            <a:off x="137160" y="4924044"/>
            <a:ext cx="8869680" cy="182880"/>
          </a:xfrm>
          <a:prstGeom prst="rect">
            <a:avLst/>
          </a:prstGeom>
          <a:noFill/>
          <a:ln/>
        </p:spPr>
        <p:txBody>
          <a:bodyPr wrap="square" lIns="0" tIns="0" rIns="0" bIns="0" rtlCol="0" anchor="ctr"/>
          <a:lstStyle/>
          <a:p>
            <a:pPr indent="0" marL="0">
              <a:buNone/>
            </a:pPr>
            <a:r>
              <a:rPr lang="en-US" sz="650" dirty="0">
                <a:solidFill>
                  <a:srgbClr val="7A7268"/>
                </a:solidFill>
                <a:latin typeface="Calibri" pitchFamily="34" charset="0"/>
                <a:ea typeface="Calibri" pitchFamily="34" charset="-122"/>
                <a:cs typeface="Calibri" pitchFamily="34" charset="-120"/>
              </a:rPr>
              <a:t>Samuel Desseaux  |  Erythix / Aureonis  |  HPC AI Observability and Security</a:t>
            </a:r>
            <a:endParaRPr lang="en-US" sz="650" dirty="0"/>
          </a:p>
        </p:txBody>
      </p:sp>
      <p:sp>
        <p:nvSpPr>
          <p:cNvPr id="8" name="Shape 6"/>
          <p:cNvSpPr/>
          <p:nvPr/>
        </p:nvSpPr>
        <p:spPr>
          <a:xfrm>
            <a:off x="164592" y="621792"/>
            <a:ext cx="2157984" cy="1920240"/>
          </a:xfrm>
          <a:prstGeom prst="rect">
            <a:avLst/>
          </a:prstGeom>
          <a:solidFill>
            <a:srgbClr val="FDF4F6"/>
          </a:solidFill>
          <a:ln w="12700">
            <a:solidFill>
              <a:srgbClr val="E8B0C0"/>
            </a:solidFill>
            <a:prstDash val="solid"/>
          </a:ln>
          <a:effectLst>
            <a:outerShdw sx="100000" sy="100000" kx="0" ky="0" algn="bl" rotWithShape="0" blurRad="38100" dist="25400" dir="8100000">
              <a:srgbClr val="000000">
                <a:alpha val="10000"/>
              </a:srgbClr>
            </a:outerShdw>
          </a:effectLst>
        </p:spPr>
      </p:sp>
      <p:sp>
        <p:nvSpPr>
          <p:cNvPr id="9" name="Shape 7"/>
          <p:cNvSpPr/>
          <p:nvPr/>
        </p:nvSpPr>
        <p:spPr>
          <a:xfrm>
            <a:off x="164592" y="621792"/>
            <a:ext cx="2157984" cy="256032"/>
          </a:xfrm>
          <a:prstGeom prst="rect">
            <a:avLst/>
          </a:prstGeom>
          <a:solidFill>
            <a:srgbClr val="7D1C35"/>
          </a:solidFill>
          <a:ln w="12700">
            <a:solidFill>
              <a:srgbClr val="7D1C35"/>
            </a:solidFill>
            <a:prstDash val="solid"/>
          </a:ln>
        </p:spPr>
      </p:sp>
      <p:sp>
        <p:nvSpPr>
          <p:cNvPr id="10" name="Text 8"/>
          <p:cNvSpPr/>
          <p:nvPr/>
        </p:nvSpPr>
        <p:spPr>
          <a:xfrm>
            <a:off x="219456" y="621792"/>
            <a:ext cx="2048256" cy="256032"/>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VictoriaMetrics</a:t>
            </a:r>
            <a:endParaRPr lang="en-US" sz="900" dirty="0"/>
          </a:p>
        </p:txBody>
      </p:sp>
      <p:sp>
        <p:nvSpPr>
          <p:cNvPr id="11" name="Shape 9"/>
          <p:cNvSpPr/>
          <p:nvPr/>
        </p:nvSpPr>
        <p:spPr>
          <a:xfrm>
            <a:off x="219456" y="932688"/>
            <a:ext cx="2048256" cy="164592"/>
          </a:xfrm>
          <a:prstGeom prst="rect">
            <a:avLst/>
          </a:prstGeom>
          <a:solidFill>
            <a:srgbClr val="FFFFFF"/>
          </a:solidFill>
          <a:ln w="12700">
            <a:solidFill>
              <a:srgbClr val="E8B0C0"/>
            </a:solidFill>
            <a:prstDash val="solid"/>
          </a:ln>
        </p:spPr>
      </p:sp>
      <p:sp>
        <p:nvSpPr>
          <p:cNvPr id="12" name="Text 10"/>
          <p:cNvSpPr/>
          <p:nvPr/>
        </p:nvSpPr>
        <p:spPr>
          <a:xfrm>
            <a:off x="219456" y="932688"/>
            <a:ext cx="2048256" cy="164592"/>
          </a:xfrm>
          <a:prstGeom prst="rect">
            <a:avLst/>
          </a:prstGeom>
          <a:noFill/>
          <a:ln/>
        </p:spPr>
        <p:txBody>
          <a:bodyPr wrap="square" lIns="0" tIns="0" rIns="0" bIns="0" rtlCol="0" anchor="ctr"/>
          <a:lstStyle/>
          <a:p>
            <a:pPr algn="ctr" indent="0" marL="0">
              <a:buNone/>
            </a:pPr>
            <a:r>
              <a:rPr lang="en-US" sz="600" b="1" dirty="0">
                <a:solidFill>
                  <a:srgbClr val="7D1C35"/>
                </a:solidFill>
                <a:latin typeface="Calibri" pitchFamily="34" charset="0"/>
                <a:ea typeface="Calibri" pitchFamily="34" charset="-122"/>
                <a:cs typeface="Calibri" pitchFamily="34" charset="-120"/>
              </a:rPr>
              <a:t>METRIQUES</a:t>
            </a:r>
            <a:endParaRPr lang="en-US" sz="600" dirty="0"/>
          </a:p>
        </p:txBody>
      </p:sp>
      <p:sp>
        <p:nvSpPr>
          <p:cNvPr id="13" name="Text 11"/>
          <p:cNvSpPr/>
          <p:nvPr/>
        </p:nvSpPr>
        <p:spPr>
          <a:xfrm>
            <a:off x="237744" y="1152144"/>
            <a:ext cx="2011680" cy="877824"/>
          </a:xfrm>
          <a:prstGeom prst="rect">
            <a:avLst/>
          </a:prstGeom>
          <a:noFill/>
          <a:ln/>
        </p:spPr>
        <p:txBody>
          <a:bodyPr wrap="square" lIns="0" tIns="0" rIns="0" bIns="0" rtlCol="0" anchor="ctr"/>
          <a:lstStyle/>
          <a:p>
            <a:pPr indent="0" marL="0">
              <a:lnSpc>
                <a:spcPct val="135000"/>
              </a:lnSpc>
              <a:buNone/>
            </a:pPr>
            <a:r>
              <a:rPr lang="en-US" sz="750" dirty="0">
                <a:solidFill>
                  <a:srgbClr val="3E3A36"/>
                </a:solidFill>
                <a:latin typeface="Calibri" pitchFamily="34" charset="0"/>
                <a:ea typeface="Calibri" pitchFamily="34" charset="-122"/>
                <a:cs typeface="Calibri" pitchFamily="34" charset="-120"/>
              </a:rPr>
              <a:t>Base time-series haute perf, compatible Prometheus. Gere des centaines de millions de series actives avec 5 a 10x moins de memoire.</a:t>
            </a:r>
            <a:endParaRPr lang="en-US" sz="750" dirty="0"/>
          </a:p>
        </p:txBody>
      </p:sp>
      <p:sp>
        <p:nvSpPr>
          <p:cNvPr id="14" name="Shape 12"/>
          <p:cNvSpPr/>
          <p:nvPr/>
        </p:nvSpPr>
        <p:spPr>
          <a:xfrm>
            <a:off x="2404872" y="621792"/>
            <a:ext cx="2157984" cy="1920240"/>
          </a:xfrm>
          <a:prstGeom prst="rect">
            <a:avLst/>
          </a:prstGeom>
          <a:solidFill>
            <a:srgbClr val="FDF4F6"/>
          </a:solidFill>
          <a:ln w="12700">
            <a:solidFill>
              <a:srgbClr val="E8B0C0"/>
            </a:solidFill>
            <a:prstDash val="solid"/>
          </a:ln>
          <a:effectLst>
            <a:outerShdw sx="100000" sy="100000" kx="0" ky="0" algn="bl" rotWithShape="0" blurRad="38100" dist="25400" dir="8100000">
              <a:srgbClr val="000000">
                <a:alpha val="10000"/>
              </a:srgbClr>
            </a:outerShdw>
          </a:effectLst>
        </p:spPr>
      </p:sp>
      <p:sp>
        <p:nvSpPr>
          <p:cNvPr id="15" name="Shape 13"/>
          <p:cNvSpPr/>
          <p:nvPr/>
        </p:nvSpPr>
        <p:spPr>
          <a:xfrm>
            <a:off x="2404872" y="621792"/>
            <a:ext cx="2157984" cy="256032"/>
          </a:xfrm>
          <a:prstGeom prst="rect">
            <a:avLst/>
          </a:prstGeom>
          <a:solidFill>
            <a:srgbClr val="7D1C35"/>
          </a:solidFill>
          <a:ln w="12700">
            <a:solidFill>
              <a:srgbClr val="7D1C35"/>
            </a:solidFill>
            <a:prstDash val="solid"/>
          </a:ln>
        </p:spPr>
      </p:sp>
      <p:sp>
        <p:nvSpPr>
          <p:cNvPr id="16" name="Text 14"/>
          <p:cNvSpPr/>
          <p:nvPr/>
        </p:nvSpPr>
        <p:spPr>
          <a:xfrm>
            <a:off x="2459736" y="621792"/>
            <a:ext cx="2048256" cy="256032"/>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dcgm-exporter</a:t>
            </a:r>
            <a:endParaRPr lang="en-US" sz="900" dirty="0"/>
          </a:p>
        </p:txBody>
      </p:sp>
      <p:sp>
        <p:nvSpPr>
          <p:cNvPr id="17" name="Shape 15"/>
          <p:cNvSpPr/>
          <p:nvPr/>
        </p:nvSpPr>
        <p:spPr>
          <a:xfrm>
            <a:off x="2459736" y="932688"/>
            <a:ext cx="2048256" cy="164592"/>
          </a:xfrm>
          <a:prstGeom prst="rect">
            <a:avLst/>
          </a:prstGeom>
          <a:solidFill>
            <a:srgbClr val="FFFFFF"/>
          </a:solidFill>
          <a:ln w="12700">
            <a:solidFill>
              <a:srgbClr val="E8B0C0"/>
            </a:solidFill>
            <a:prstDash val="solid"/>
          </a:ln>
        </p:spPr>
      </p:sp>
      <p:sp>
        <p:nvSpPr>
          <p:cNvPr id="18" name="Text 16"/>
          <p:cNvSpPr/>
          <p:nvPr/>
        </p:nvSpPr>
        <p:spPr>
          <a:xfrm>
            <a:off x="2459736" y="932688"/>
            <a:ext cx="2048256" cy="164592"/>
          </a:xfrm>
          <a:prstGeom prst="rect">
            <a:avLst/>
          </a:prstGeom>
          <a:noFill/>
          <a:ln/>
        </p:spPr>
        <p:txBody>
          <a:bodyPr wrap="square" lIns="0" tIns="0" rIns="0" bIns="0" rtlCol="0" anchor="ctr"/>
          <a:lstStyle/>
          <a:p>
            <a:pPr algn="ctr" indent="0" marL="0">
              <a:buNone/>
            </a:pPr>
            <a:r>
              <a:rPr lang="en-US" sz="600" b="1" dirty="0">
                <a:solidFill>
                  <a:srgbClr val="7D1C35"/>
                </a:solidFill>
                <a:latin typeface="Calibri" pitchFamily="34" charset="0"/>
                <a:ea typeface="Calibri" pitchFamily="34" charset="-122"/>
                <a:cs typeface="Calibri" pitchFamily="34" charset="-120"/>
              </a:rPr>
              <a:t>METRIQUES GPU</a:t>
            </a:r>
            <a:endParaRPr lang="en-US" sz="600" dirty="0"/>
          </a:p>
        </p:txBody>
      </p:sp>
      <p:sp>
        <p:nvSpPr>
          <p:cNvPr id="19" name="Text 17"/>
          <p:cNvSpPr/>
          <p:nvPr/>
        </p:nvSpPr>
        <p:spPr>
          <a:xfrm>
            <a:off x="2478024" y="1152144"/>
            <a:ext cx="2011680" cy="877824"/>
          </a:xfrm>
          <a:prstGeom prst="rect">
            <a:avLst/>
          </a:prstGeom>
          <a:noFill/>
          <a:ln/>
        </p:spPr>
        <p:txBody>
          <a:bodyPr wrap="square" lIns="0" tIns="0" rIns="0" bIns="0" rtlCol="0" anchor="ctr"/>
          <a:lstStyle/>
          <a:p>
            <a:pPr indent="0" marL="0">
              <a:lnSpc>
                <a:spcPct val="135000"/>
              </a:lnSpc>
              <a:buNone/>
            </a:pPr>
            <a:r>
              <a:rPr lang="en-US" sz="750" dirty="0">
                <a:solidFill>
                  <a:srgbClr val="3E3A36"/>
                </a:solidFill>
                <a:latin typeface="Calibri" pitchFamily="34" charset="0"/>
                <a:ea typeface="Calibri" pitchFamily="34" charset="-122"/>
                <a:cs typeface="Calibri" pitchFamily="34" charset="-120"/>
              </a:rPr>
              <a:t>Expose les metriques GPU via l'API DCGM : utilisation SM, bande passante HBM, erreurs ECC, debit NVLink, puissance. Point d'entree obligatoire.</a:t>
            </a:r>
            <a:endParaRPr lang="en-US" sz="750" dirty="0"/>
          </a:p>
        </p:txBody>
      </p:sp>
      <p:sp>
        <p:nvSpPr>
          <p:cNvPr id="20" name="Shape 18"/>
          <p:cNvSpPr/>
          <p:nvPr/>
        </p:nvSpPr>
        <p:spPr>
          <a:xfrm>
            <a:off x="4645152" y="621792"/>
            <a:ext cx="2157984" cy="1920240"/>
          </a:xfrm>
          <a:prstGeom prst="rect">
            <a:avLst/>
          </a:prstGeom>
          <a:solidFill>
            <a:srgbClr val="F0F5FB"/>
          </a:solidFill>
          <a:ln w="12700">
            <a:solidFill>
              <a:srgbClr val="90C0E8"/>
            </a:solidFill>
            <a:prstDash val="solid"/>
          </a:ln>
          <a:effectLst>
            <a:outerShdw sx="100000" sy="100000" kx="0" ky="0" algn="bl" rotWithShape="0" blurRad="38100" dist="25400" dir="8100000">
              <a:srgbClr val="000000">
                <a:alpha val="10000"/>
              </a:srgbClr>
            </a:outerShdw>
          </a:effectLst>
        </p:spPr>
      </p:sp>
      <p:sp>
        <p:nvSpPr>
          <p:cNvPr id="21" name="Shape 19"/>
          <p:cNvSpPr/>
          <p:nvPr/>
        </p:nvSpPr>
        <p:spPr>
          <a:xfrm>
            <a:off x="4645152" y="621792"/>
            <a:ext cx="2157984" cy="256032"/>
          </a:xfrm>
          <a:prstGeom prst="rect">
            <a:avLst/>
          </a:prstGeom>
          <a:solidFill>
            <a:srgbClr val="1F5FA0"/>
          </a:solidFill>
          <a:ln w="12700">
            <a:solidFill>
              <a:srgbClr val="1F5FA0"/>
            </a:solidFill>
            <a:prstDash val="solid"/>
          </a:ln>
        </p:spPr>
      </p:sp>
      <p:sp>
        <p:nvSpPr>
          <p:cNvPr id="22" name="Text 20"/>
          <p:cNvSpPr/>
          <p:nvPr/>
        </p:nvSpPr>
        <p:spPr>
          <a:xfrm>
            <a:off x="4700016" y="621792"/>
            <a:ext cx="2048256" cy="256032"/>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OpenTelemetry</a:t>
            </a:r>
            <a:endParaRPr lang="en-US" sz="900" dirty="0"/>
          </a:p>
        </p:txBody>
      </p:sp>
      <p:sp>
        <p:nvSpPr>
          <p:cNvPr id="23" name="Shape 21"/>
          <p:cNvSpPr/>
          <p:nvPr/>
        </p:nvSpPr>
        <p:spPr>
          <a:xfrm>
            <a:off x="4700016" y="932688"/>
            <a:ext cx="2048256" cy="164592"/>
          </a:xfrm>
          <a:prstGeom prst="rect">
            <a:avLst/>
          </a:prstGeom>
          <a:solidFill>
            <a:srgbClr val="FFFFFF"/>
          </a:solidFill>
          <a:ln w="12700">
            <a:solidFill>
              <a:srgbClr val="90C0E8"/>
            </a:solidFill>
            <a:prstDash val="solid"/>
          </a:ln>
        </p:spPr>
      </p:sp>
      <p:sp>
        <p:nvSpPr>
          <p:cNvPr id="24" name="Text 22"/>
          <p:cNvSpPr/>
          <p:nvPr/>
        </p:nvSpPr>
        <p:spPr>
          <a:xfrm>
            <a:off x="4700016" y="932688"/>
            <a:ext cx="2048256" cy="164592"/>
          </a:xfrm>
          <a:prstGeom prst="rect">
            <a:avLst/>
          </a:prstGeom>
          <a:noFill/>
          <a:ln/>
        </p:spPr>
        <p:txBody>
          <a:bodyPr wrap="square" lIns="0" tIns="0" rIns="0" bIns="0" rtlCol="0" anchor="ctr"/>
          <a:lstStyle/>
          <a:p>
            <a:pPr algn="ctr" indent="0" marL="0">
              <a:buNone/>
            </a:pPr>
            <a:r>
              <a:rPr lang="en-US" sz="600" b="1" dirty="0">
                <a:solidFill>
                  <a:srgbClr val="1F5FA0"/>
                </a:solidFill>
                <a:latin typeface="Calibri" pitchFamily="34" charset="0"/>
                <a:ea typeface="Calibri" pitchFamily="34" charset="-122"/>
                <a:cs typeface="Calibri" pitchFamily="34" charset="-120"/>
              </a:rPr>
              <a:t>TRACES + LOGS</a:t>
            </a:r>
            <a:endParaRPr lang="en-US" sz="600" dirty="0"/>
          </a:p>
        </p:txBody>
      </p:sp>
      <p:sp>
        <p:nvSpPr>
          <p:cNvPr id="25" name="Text 23"/>
          <p:cNvSpPr/>
          <p:nvPr/>
        </p:nvSpPr>
        <p:spPr>
          <a:xfrm>
            <a:off x="4718304" y="1152144"/>
            <a:ext cx="2011680" cy="877824"/>
          </a:xfrm>
          <a:prstGeom prst="rect">
            <a:avLst/>
          </a:prstGeom>
          <a:noFill/>
          <a:ln/>
        </p:spPr>
        <p:txBody>
          <a:bodyPr wrap="square" lIns="0" tIns="0" rIns="0" bIns="0" rtlCol="0" anchor="ctr"/>
          <a:lstStyle/>
          <a:p>
            <a:pPr indent="0" marL="0">
              <a:lnSpc>
                <a:spcPct val="135000"/>
              </a:lnSpc>
              <a:buNone/>
            </a:pPr>
            <a:r>
              <a:rPr lang="en-US" sz="750" dirty="0">
                <a:solidFill>
                  <a:srgbClr val="3E3A36"/>
                </a:solidFill>
                <a:latin typeface="Calibri" pitchFamily="34" charset="0"/>
                <a:ea typeface="Calibri" pitchFamily="34" charset="-122"/>
                <a:cs typeface="Calibri" pitchFamily="34" charset="-120"/>
              </a:rPr>
              <a:t>Standard CNCF pour l'instrumentation. SDK Python pour PyTorch, protocole OTLP, Collector routant vers n'importe quel backend.</a:t>
            </a:r>
            <a:endParaRPr lang="en-US" sz="750" dirty="0"/>
          </a:p>
        </p:txBody>
      </p:sp>
      <p:sp>
        <p:nvSpPr>
          <p:cNvPr id="26" name="Shape 24"/>
          <p:cNvSpPr/>
          <p:nvPr/>
        </p:nvSpPr>
        <p:spPr>
          <a:xfrm>
            <a:off x="6885432" y="621792"/>
            <a:ext cx="2157984" cy="1920240"/>
          </a:xfrm>
          <a:prstGeom prst="rect">
            <a:avLst/>
          </a:prstGeom>
          <a:solidFill>
            <a:srgbClr val="F0F8F4"/>
          </a:solidFill>
          <a:ln w="12700">
            <a:solidFill>
              <a:srgbClr val="80C8A8"/>
            </a:solidFill>
            <a:prstDash val="solid"/>
          </a:ln>
          <a:effectLst>
            <a:outerShdw sx="100000" sy="100000" kx="0" ky="0" algn="bl" rotWithShape="0" blurRad="38100" dist="25400" dir="8100000">
              <a:srgbClr val="000000">
                <a:alpha val="10000"/>
              </a:srgbClr>
            </a:outerShdw>
          </a:effectLst>
        </p:spPr>
      </p:sp>
      <p:sp>
        <p:nvSpPr>
          <p:cNvPr id="27" name="Shape 25"/>
          <p:cNvSpPr/>
          <p:nvPr/>
        </p:nvSpPr>
        <p:spPr>
          <a:xfrm>
            <a:off x="6885432" y="621792"/>
            <a:ext cx="2157984" cy="256032"/>
          </a:xfrm>
          <a:prstGeom prst="rect">
            <a:avLst/>
          </a:prstGeom>
          <a:solidFill>
            <a:srgbClr val="1A6E42"/>
          </a:solidFill>
          <a:ln w="12700">
            <a:solidFill>
              <a:srgbClr val="1A6E42"/>
            </a:solidFill>
            <a:prstDash val="solid"/>
          </a:ln>
        </p:spPr>
      </p:sp>
      <p:sp>
        <p:nvSpPr>
          <p:cNvPr id="28" name="Text 26"/>
          <p:cNvSpPr/>
          <p:nvPr/>
        </p:nvSpPr>
        <p:spPr>
          <a:xfrm>
            <a:off x="6940296" y="621792"/>
            <a:ext cx="2048256" cy="256032"/>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Grafana</a:t>
            </a:r>
            <a:endParaRPr lang="en-US" sz="900" dirty="0"/>
          </a:p>
        </p:txBody>
      </p:sp>
      <p:sp>
        <p:nvSpPr>
          <p:cNvPr id="29" name="Shape 27"/>
          <p:cNvSpPr/>
          <p:nvPr/>
        </p:nvSpPr>
        <p:spPr>
          <a:xfrm>
            <a:off x="6940296" y="932688"/>
            <a:ext cx="2048256" cy="164592"/>
          </a:xfrm>
          <a:prstGeom prst="rect">
            <a:avLst/>
          </a:prstGeom>
          <a:solidFill>
            <a:srgbClr val="FFFFFF"/>
          </a:solidFill>
          <a:ln w="12700">
            <a:solidFill>
              <a:srgbClr val="80C8A8"/>
            </a:solidFill>
            <a:prstDash val="solid"/>
          </a:ln>
        </p:spPr>
      </p:sp>
      <p:sp>
        <p:nvSpPr>
          <p:cNvPr id="30" name="Text 28"/>
          <p:cNvSpPr/>
          <p:nvPr/>
        </p:nvSpPr>
        <p:spPr>
          <a:xfrm>
            <a:off x="6940296" y="932688"/>
            <a:ext cx="2048256" cy="164592"/>
          </a:xfrm>
          <a:prstGeom prst="rect">
            <a:avLst/>
          </a:prstGeom>
          <a:noFill/>
          <a:ln/>
        </p:spPr>
        <p:txBody>
          <a:bodyPr wrap="square" lIns="0" tIns="0" rIns="0" bIns="0" rtlCol="0" anchor="ctr"/>
          <a:lstStyle/>
          <a:p>
            <a:pPr algn="ctr" indent="0" marL="0">
              <a:buNone/>
            </a:pPr>
            <a:r>
              <a:rPr lang="en-US" sz="600" b="1" dirty="0">
                <a:solidFill>
                  <a:srgbClr val="1A6E42"/>
                </a:solidFill>
                <a:latin typeface="Calibri" pitchFamily="34" charset="0"/>
                <a:ea typeface="Calibri" pitchFamily="34" charset="-122"/>
                <a:cs typeface="Calibri" pitchFamily="34" charset="-120"/>
              </a:rPr>
              <a:t>VISUALISATION</a:t>
            </a:r>
            <a:endParaRPr lang="en-US" sz="600" dirty="0"/>
          </a:p>
        </p:txBody>
      </p:sp>
      <p:sp>
        <p:nvSpPr>
          <p:cNvPr id="31" name="Text 29"/>
          <p:cNvSpPr/>
          <p:nvPr/>
        </p:nvSpPr>
        <p:spPr>
          <a:xfrm>
            <a:off x="6958584" y="1152144"/>
            <a:ext cx="2011680" cy="877824"/>
          </a:xfrm>
          <a:prstGeom prst="rect">
            <a:avLst/>
          </a:prstGeom>
          <a:noFill/>
          <a:ln/>
        </p:spPr>
        <p:txBody>
          <a:bodyPr wrap="square" lIns="0" tIns="0" rIns="0" bIns="0" rtlCol="0" anchor="ctr"/>
          <a:lstStyle/>
          <a:p>
            <a:pPr indent="0" marL="0">
              <a:lnSpc>
                <a:spcPct val="135000"/>
              </a:lnSpc>
              <a:buNone/>
            </a:pPr>
            <a:r>
              <a:rPr lang="en-US" sz="750" dirty="0">
                <a:solidFill>
                  <a:srgbClr val="3E3A36"/>
                </a:solidFill>
                <a:latin typeface="Calibri" pitchFamily="34" charset="0"/>
                <a:ea typeface="Calibri" pitchFamily="34" charset="-122"/>
                <a:cs typeface="Calibri" pitchFamily="34" charset="-120"/>
              </a:rPr>
              <a:t>Tableau de bord universel. Connexion native a VictoriaMetrics, Loki, Tempo. Vues correlees metriques, logs, traces.</a:t>
            </a:r>
            <a:endParaRPr lang="en-US" sz="750" dirty="0"/>
          </a:p>
        </p:txBody>
      </p:sp>
      <p:sp>
        <p:nvSpPr>
          <p:cNvPr id="32" name="Shape 30"/>
          <p:cNvSpPr/>
          <p:nvPr/>
        </p:nvSpPr>
        <p:spPr>
          <a:xfrm>
            <a:off x="164592" y="2615184"/>
            <a:ext cx="2157984" cy="1920240"/>
          </a:xfrm>
          <a:prstGeom prst="rect">
            <a:avLst/>
          </a:prstGeom>
          <a:solidFill>
            <a:srgbClr val="F0F5FB"/>
          </a:solidFill>
          <a:ln w="12700">
            <a:solidFill>
              <a:srgbClr val="90C0E8"/>
            </a:solidFill>
            <a:prstDash val="solid"/>
          </a:ln>
          <a:effectLst>
            <a:outerShdw sx="100000" sy="100000" kx="0" ky="0" algn="bl" rotWithShape="0" blurRad="38100" dist="25400" dir="8100000">
              <a:srgbClr val="000000">
                <a:alpha val="10000"/>
              </a:srgbClr>
            </a:outerShdw>
          </a:effectLst>
        </p:spPr>
      </p:sp>
      <p:sp>
        <p:nvSpPr>
          <p:cNvPr id="33" name="Shape 31"/>
          <p:cNvSpPr/>
          <p:nvPr/>
        </p:nvSpPr>
        <p:spPr>
          <a:xfrm>
            <a:off x="164592" y="2615184"/>
            <a:ext cx="2157984" cy="256032"/>
          </a:xfrm>
          <a:prstGeom prst="rect">
            <a:avLst/>
          </a:prstGeom>
          <a:solidFill>
            <a:srgbClr val="1F5FA0"/>
          </a:solidFill>
          <a:ln w="12700">
            <a:solidFill>
              <a:srgbClr val="1F5FA0"/>
            </a:solidFill>
            <a:prstDash val="solid"/>
          </a:ln>
        </p:spPr>
      </p:sp>
      <p:sp>
        <p:nvSpPr>
          <p:cNvPr id="34" name="Text 32"/>
          <p:cNvSpPr/>
          <p:nvPr/>
        </p:nvSpPr>
        <p:spPr>
          <a:xfrm>
            <a:off x="219456" y="2615184"/>
            <a:ext cx="2048256" cy="256032"/>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Loki</a:t>
            </a:r>
            <a:endParaRPr lang="en-US" sz="900" dirty="0"/>
          </a:p>
        </p:txBody>
      </p:sp>
      <p:sp>
        <p:nvSpPr>
          <p:cNvPr id="35" name="Shape 33"/>
          <p:cNvSpPr/>
          <p:nvPr/>
        </p:nvSpPr>
        <p:spPr>
          <a:xfrm>
            <a:off x="219456" y="2926080"/>
            <a:ext cx="2048256" cy="164592"/>
          </a:xfrm>
          <a:prstGeom prst="rect">
            <a:avLst/>
          </a:prstGeom>
          <a:solidFill>
            <a:srgbClr val="FFFFFF"/>
          </a:solidFill>
          <a:ln w="12700">
            <a:solidFill>
              <a:srgbClr val="90C0E8"/>
            </a:solidFill>
            <a:prstDash val="solid"/>
          </a:ln>
        </p:spPr>
      </p:sp>
      <p:sp>
        <p:nvSpPr>
          <p:cNvPr id="36" name="Text 34"/>
          <p:cNvSpPr/>
          <p:nvPr/>
        </p:nvSpPr>
        <p:spPr>
          <a:xfrm>
            <a:off x="219456" y="2926080"/>
            <a:ext cx="2048256" cy="164592"/>
          </a:xfrm>
          <a:prstGeom prst="rect">
            <a:avLst/>
          </a:prstGeom>
          <a:noFill/>
          <a:ln/>
        </p:spPr>
        <p:txBody>
          <a:bodyPr wrap="square" lIns="0" tIns="0" rIns="0" bIns="0" rtlCol="0" anchor="ctr"/>
          <a:lstStyle/>
          <a:p>
            <a:pPr algn="ctr" indent="0" marL="0">
              <a:buNone/>
            </a:pPr>
            <a:r>
              <a:rPr lang="en-US" sz="600" b="1" dirty="0">
                <a:solidFill>
                  <a:srgbClr val="1F5FA0"/>
                </a:solidFill>
                <a:latin typeface="Calibri" pitchFamily="34" charset="0"/>
                <a:ea typeface="Calibri" pitchFamily="34" charset="-122"/>
                <a:cs typeface="Calibri" pitchFamily="34" charset="-120"/>
              </a:rPr>
              <a:t>LOGS</a:t>
            </a:r>
            <a:endParaRPr lang="en-US" sz="600" dirty="0"/>
          </a:p>
        </p:txBody>
      </p:sp>
      <p:sp>
        <p:nvSpPr>
          <p:cNvPr id="37" name="Text 35"/>
          <p:cNvSpPr/>
          <p:nvPr/>
        </p:nvSpPr>
        <p:spPr>
          <a:xfrm>
            <a:off x="237744" y="3145536"/>
            <a:ext cx="2011680" cy="877824"/>
          </a:xfrm>
          <a:prstGeom prst="rect">
            <a:avLst/>
          </a:prstGeom>
          <a:noFill/>
          <a:ln/>
        </p:spPr>
        <p:txBody>
          <a:bodyPr wrap="square" lIns="0" tIns="0" rIns="0" bIns="0" rtlCol="0" anchor="ctr"/>
          <a:lstStyle/>
          <a:p>
            <a:pPr indent="0" marL="0">
              <a:lnSpc>
                <a:spcPct val="135000"/>
              </a:lnSpc>
              <a:buNone/>
            </a:pPr>
            <a:r>
              <a:rPr lang="en-US" sz="750" dirty="0">
                <a:solidFill>
                  <a:srgbClr val="3E3A36"/>
                </a:solidFill>
                <a:latin typeface="Calibri" pitchFamily="34" charset="0"/>
                <a:ea typeface="Calibri" pitchFamily="34" charset="-122"/>
                <a:cs typeface="Calibri" pitchFamily="34" charset="-120"/>
              </a:rPr>
              <a:t>Agregation de logs indexant uniquement les labels. Requetes LogQL. Tres efficace pour les logs SLURM, NCCL et Python.</a:t>
            </a:r>
            <a:endParaRPr lang="en-US" sz="750" dirty="0"/>
          </a:p>
        </p:txBody>
      </p:sp>
      <p:sp>
        <p:nvSpPr>
          <p:cNvPr id="38" name="Shape 36"/>
          <p:cNvSpPr/>
          <p:nvPr/>
        </p:nvSpPr>
        <p:spPr>
          <a:xfrm>
            <a:off x="2404872" y="2615184"/>
            <a:ext cx="2157984" cy="1920240"/>
          </a:xfrm>
          <a:prstGeom prst="rect">
            <a:avLst/>
          </a:prstGeom>
          <a:solidFill>
            <a:srgbClr val="FDF2F0"/>
          </a:solidFill>
          <a:ln w="12700">
            <a:solidFill>
              <a:srgbClr val="E0A090"/>
            </a:solidFill>
            <a:prstDash val="solid"/>
          </a:ln>
          <a:effectLst>
            <a:outerShdw sx="100000" sy="100000" kx="0" ky="0" algn="bl" rotWithShape="0" blurRad="38100" dist="25400" dir="8100000">
              <a:srgbClr val="000000">
                <a:alpha val="10000"/>
              </a:srgbClr>
            </a:outerShdw>
          </a:effectLst>
        </p:spPr>
      </p:sp>
      <p:sp>
        <p:nvSpPr>
          <p:cNvPr id="39" name="Shape 37"/>
          <p:cNvSpPr/>
          <p:nvPr/>
        </p:nvSpPr>
        <p:spPr>
          <a:xfrm>
            <a:off x="2404872" y="2615184"/>
            <a:ext cx="2157984" cy="256032"/>
          </a:xfrm>
          <a:prstGeom prst="rect">
            <a:avLst/>
          </a:prstGeom>
          <a:solidFill>
            <a:srgbClr val="B83828"/>
          </a:solidFill>
          <a:ln w="12700">
            <a:solidFill>
              <a:srgbClr val="B83828"/>
            </a:solidFill>
            <a:prstDash val="solid"/>
          </a:ln>
        </p:spPr>
      </p:sp>
      <p:sp>
        <p:nvSpPr>
          <p:cNvPr id="40" name="Text 38"/>
          <p:cNvSpPr/>
          <p:nvPr/>
        </p:nvSpPr>
        <p:spPr>
          <a:xfrm>
            <a:off x="2459736" y="2615184"/>
            <a:ext cx="2048256" cy="256032"/>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Falco</a:t>
            </a:r>
            <a:endParaRPr lang="en-US" sz="900" dirty="0"/>
          </a:p>
        </p:txBody>
      </p:sp>
      <p:sp>
        <p:nvSpPr>
          <p:cNvPr id="41" name="Shape 39"/>
          <p:cNvSpPr/>
          <p:nvPr/>
        </p:nvSpPr>
        <p:spPr>
          <a:xfrm>
            <a:off x="2459736" y="2926080"/>
            <a:ext cx="2048256" cy="164592"/>
          </a:xfrm>
          <a:prstGeom prst="rect">
            <a:avLst/>
          </a:prstGeom>
          <a:solidFill>
            <a:srgbClr val="FFFFFF"/>
          </a:solidFill>
          <a:ln w="12700">
            <a:solidFill>
              <a:srgbClr val="E0A090"/>
            </a:solidFill>
            <a:prstDash val="solid"/>
          </a:ln>
        </p:spPr>
      </p:sp>
      <p:sp>
        <p:nvSpPr>
          <p:cNvPr id="42" name="Text 40"/>
          <p:cNvSpPr/>
          <p:nvPr/>
        </p:nvSpPr>
        <p:spPr>
          <a:xfrm>
            <a:off x="2459736" y="2926080"/>
            <a:ext cx="2048256" cy="164592"/>
          </a:xfrm>
          <a:prstGeom prst="rect">
            <a:avLst/>
          </a:prstGeom>
          <a:noFill/>
          <a:ln/>
        </p:spPr>
        <p:txBody>
          <a:bodyPr wrap="square" lIns="0" tIns="0" rIns="0" bIns="0" rtlCol="0" anchor="ctr"/>
          <a:lstStyle/>
          <a:p>
            <a:pPr algn="ctr" indent="0" marL="0">
              <a:buNone/>
            </a:pPr>
            <a:r>
              <a:rPr lang="en-US" sz="600" b="1" dirty="0">
                <a:solidFill>
                  <a:srgbClr val="B83828"/>
                </a:solidFill>
                <a:latin typeface="Calibri" pitchFamily="34" charset="0"/>
                <a:ea typeface="Calibri" pitchFamily="34" charset="-122"/>
                <a:cs typeface="Calibri" pitchFamily="34" charset="-120"/>
              </a:rPr>
              <a:t>SECURITE RUNTIME</a:t>
            </a:r>
            <a:endParaRPr lang="en-US" sz="600" dirty="0"/>
          </a:p>
        </p:txBody>
      </p:sp>
      <p:sp>
        <p:nvSpPr>
          <p:cNvPr id="43" name="Text 41"/>
          <p:cNvSpPr/>
          <p:nvPr/>
        </p:nvSpPr>
        <p:spPr>
          <a:xfrm>
            <a:off x="2478024" y="3145536"/>
            <a:ext cx="2011680" cy="877824"/>
          </a:xfrm>
          <a:prstGeom prst="rect">
            <a:avLst/>
          </a:prstGeom>
          <a:noFill/>
          <a:ln/>
        </p:spPr>
        <p:txBody>
          <a:bodyPr wrap="square" lIns="0" tIns="0" rIns="0" bIns="0" rtlCol="0" anchor="ctr"/>
          <a:lstStyle/>
          <a:p>
            <a:pPr indent="0" marL="0">
              <a:lnSpc>
                <a:spcPct val="135000"/>
              </a:lnSpc>
              <a:buNone/>
            </a:pPr>
            <a:r>
              <a:rPr lang="en-US" sz="750" dirty="0">
                <a:solidFill>
                  <a:srgbClr val="3E3A36"/>
                </a:solidFill>
                <a:latin typeface="Calibri" pitchFamily="34" charset="0"/>
                <a:ea typeface="Calibri" pitchFamily="34" charset="-122"/>
                <a:cs typeface="Calibri" pitchFamily="34" charset="-120"/>
              </a:rPr>
              <a:t>Detection d'anomalies comportementales par eBPF. Detecte acces fichiers suspects, connexions inattendues, modifications de binaires.</a:t>
            </a:r>
            <a:endParaRPr lang="en-US" sz="750" dirty="0"/>
          </a:p>
        </p:txBody>
      </p:sp>
      <p:sp>
        <p:nvSpPr>
          <p:cNvPr id="44" name="Shape 42"/>
          <p:cNvSpPr/>
          <p:nvPr/>
        </p:nvSpPr>
        <p:spPr>
          <a:xfrm>
            <a:off x="4645152" y="2615184"/>
            <a:ext cx="2157984" cy="1920240"/>
          </a:xfrm>
          <a:prstGeom prst="rect">
            <a:avLst/>
          </a:prstGeom>
          <a:solidFill>
            <a:srgbClr val="FDF2F0"/>
          </a:solidFill>
          <a:ln w="12700">
            <a:solidFill>
              <a:srgbClr val="E0A090"/>
            </a:solidFill>
            <a:prstDash val="solid"/>
          </a:ln>
          <a:effectLst>
            <a:outerShdw sx="100000" sy="100000" kx="0" ky="0" algn="bl" rotWithShape="0" blurRad="38100" dist="25400" dir="8100000">
              <a:srgbClr val="000000">
                <a:alpha val="10000"/>
              </a:srgbClr>
            </a:outerShdw>
          </a:effectLst>
        </p:spPr>
      </p:sp>
      <p:sp>
        <p:nvSpPr>
          <p:cNvPr id="45" name="Shape 43"/>
          <p:cNvSpPr/>
          <p:nvPr/>
        </p:nvSpPr>
        <p:spPr>
          <a:xfrm>
            <a:off x="4645152" y="2615184"/>
            <a:ext cx="2157984" cy="256032"/>
          </a:xfrm>
          <a:prstGeom prst="rect">
            <a:avLst/>
          </a:prstGeom>
          <a:solidFill>
            <a:srgbClr val="B83828"/>
          </a:solidFill>
          <a:ln w="12700">
            <a:solidFill>
              <a:srgbClr val="B83828"/>
            </a:solidFill>
            <a:prstDash val="solid"/>
          </a:ln>
        </p:spPr>
      </p:sp>
      <p:sp>
        <p:nvSpPr>
          <p:cNvPr id="46" name="Text 44"/>
          <p:cNvSpPr/>
          <p:nvPr/>
        </p:nvSpPr>
        <p:spPr>
          <a:xfrm>
            <a:off x="4700016" y="2615184"/>
            <a:ext cx="2048256" cy="256032"/>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Tetragon</a:t>
            </a:r>
            <a:endParaRPr lang="en-US" sz="900" dirty="0"/>
          </a:p>
        </p:txBody>
      </p:sp>
      <p:sp>
        <p:nvSpPr>
          <p:cNvPr id="47" name="Shape 45"/>
          <p:cNvSpPr/>
          <p:nvPr/>
        </p:nvSpPr>
        <p:spPr>
          <a:xfrm>
            <a:off x="4700016" y="2926080"/>
            <a:ext cx="2048256" cy="164592"/>
          </a:xfrm>
          <a:prstGeom prst="rect">
            <a:avLst/>
          </a:prstGeom>
          <a:solidFill>
            <a:srgbClr val="FFFFFF"/>
          </a:solidFill>
          <a:ln w="12700">
            <a:solidFill>
              <a:srgbClr val="E0A090"/>
            </a:solidFill>
            <a:prstDash val="solid"/>
          </a:ln>
        </p:spPr>
      </p:sp>
      <p:sp>
        <p:nvSpPr>
          <p:cNvPr id="48" name="Text 46"/>
          <p:cNvSpPr/>
          <p:nvPr/>
        </p:nvSpPr>
        <p:spPr>
          <a:xfrm>
            <a:off x="4700016" y="2926080"/>
            <a:ext cx="2048256" cy="164592"/>
          </a:xfrm>
          <a:prstGeom prst="rect">
            <a:avLst/>
          </a:prstGeom>
          <a:noFill/>
          <a:ln/>
        </p:spPr>
        <p:txBody>
          <a:bodyPr wrap="square" lIns="0" tIns="0" rIns="0" bIns="0" rtlCol="0" anchor="ctr"/>
          <a:lstStyle/>
          <a:p>
            <a:pPr algn="ctr" indent="0" marL="0">
              <a:buNone/>
            </a:pPr>
            <a:r>
              <a:rPr lang="en-US" sz="600" b="1" dirty="0">
                <a:solidFill>
                  <a:srgbClr val="B83828"/>
                </a:solidFill>
                <a:latin typeface="Calibri" pitchFamily="34" charset="0"/>
                <a:ea typeface="Calibri" pitchFamily="34" charset="-122"/>
                <a:cs typeface="Calibri" pitchFamily="34" charset="-120"/>
              </a:rPr>
              <a:t>SECURITE RUNTIME</a:t>
            </a:r>
            <a:endParaRPr lang="en-US" sz="600" dirty="0"/>
          </a:p>
        </p:txBody>
      </p:sp>
      <p:sp>
        <p:nvSpPr>
          <p:cNvPr id="49" name="Text 47"/>
          <p:cNvSpPr/>
          <p:nvPr/>
        </p:nvSpPr>
        <p:spPr>
          <a:xfrm>
            <a:off x="4718304" y="3145536"/>
            <a:ext cx="2011680" cy="877824"/>
          </a:xfrm>
          <a:prstGeom prst="rect">
            <a:avLst/>
          </a:prstGeom>
          <a:noFill/>
          <a:ln/>
        </p:spPr>
        <p:txBody>
          <a:bodyPr wrap="square" lIns="0" tIns="0" rIns="0" bIns="0" rtlCol="0" anchor="ctr"/>
          <a:lstStyle/>
          <a:p>
            <a:pPr indent="0" marL="0">
              <a:lnSpc>
                <a:spcPct val="135000"/>
              </a:lnSpc>
              <a:buNone/>
            </a:pPr>
            <a:r>
              <a:rPr lang="en-US" sz="750" dirty="0">
                <a:solidFill>
                  <a:srgbClr val="3E3A36"/>
                </a:solidFill>
                <a:latin typeface="Calibri" pitchFamily="34" charset="0"/>
                <a:ea typeface="Calibri" pitchFamily="34" charset="-122"/>
                <a:cs typeface="Calibri" pitchFamily="34" charset="-120"/>
              </a:rPr>
              <a:t>Securite eBPF Cilium. Applique des politiques de syscalls par processus. Bloque les operations non autorisees avant completion.</a:t>
            </a:r>
            <a:endParaRPr lang="en-US" sz="750" dirty="0"/>
          </a:p>
        </p:txBody>
      </p:sp>
      <p:sp>
        <p:nvSpPr>
          <p:cNvPr id="50" name="Shape 48"/>
          <p:cNvSpPr/>
          <p:nvPr/>
        </p:nvSpPr>
        <p:spPr>
          <a:xfrm>
            <a:off x="6885432" y="2615184"/>
            <a:ext cx="2157984" cy="1920240"/>
          </a:xfrm>
          <a:prstGeom prst="rect">
            <a:avLst/>
          </a:prstGeom>
          <a:solidFill>
            <a:srgbClr val="F3F0EA"/>
          </a:solidFill>
          <a:ln w="12700">
            <a:solidFill>
              <a:srgbClr val="C8C2B8"/>
            </a:solidFill>
            <a:prstDash val="solid"/>
          </a:ln>
          <a:effectLst>
            <a:outerShdw sx="100000" sy="100000" kx="0" ky="0" algn="bl" rotWithShape="0" blurRad="38100" dist="25400" dir="8100000">
              <a:srgbClr val="000000">
                <a:alpha val="10000"/>
              </a:srgbClr>
            </a:outerShdw>
          </a:effectLst>
        </p:spPr>
      </p:sp>
      <p:sp>
        <p:nvSpPr>
          <p:cNvPr id="51" name="Shape 49"/>
          <p:cNvSpPr/>
          <p:nvPr/>
        </p:nvSpPr>
        <p:spPr>
          <a:xfrm>
            <a:off x="6885432" y="2615184"/>
            <a:ext cx="2157984" cy="256032"/>
          </a:xfrm>
          <a:prstGeom prst="rect">
            <a:avLst/>
          </a:prstGeom>
          <a:solidFill>
            <a:srgbClr val="3E3A36"/>
          </a:solidFill>
          <a:ln w="12700">
            <a:solidFill>
              <a:srgbClr val="3E3A36"/>
            </a:solidFill>
            <a:prstDash val="solid"/>
          </a:ln>
        </p:spPr>
      </p:sp>
      <p:sp>
        <p:nvSpPr>
          <p:cNvPr id="52" name="Text 50"/>
          <p:cNvSpPr/>
          <p:nvPr/>
        </p:nvSpPr>
        <p:spPr>
          <a:xfrm>
            <a:off x="6940296" y="2615184"/>
            <a:ext cx="2048256" cy="256032"/>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SLURM</a:t>
            </a:r>
            <a:endParaRPr lang="en-US" sz="900" dirty="0"/>
          </a:p>
        </p:txBody>
      </p:sp>
      <p:sp>
        <p:nvSpPr>
          <p:cNvPr id="53" name="Shape 51"/>
          <p:cNvSpPr/>
          <p:nvPr/>
        </p:nvSpPr>
        <p:spPr>
          <a:xfrm>
            <a:off x="6940296" y="2926080"/>
            <a:ext cx="2048256" cy="164592"/>
          </a:xfrm>
          <a:prstGeom prst="rect">
            <a:avLst/>
          </a:prstGeom>
          <a:solidFill>
            <a:srgbClr val="FFFFFF"/>
          </a:solidFill>
          <a:ln w="12700">
            <a:solidFill>
              <a:srgbClr val="C8C2B8"/>
            </a:solidFill>
            <a:prstDash val="solid"/>
          </a:ln>
        </p:spPr>
      </p:sp>
      <p:sp>
        <p:nvSpPr>
          <p:cNvPr id="54" name="Text 52"/>
          <p:cNvSpPr/>
          <p:nvPr/>
        </p:nvSpPr>
        <p:spPr>
          <a:xfrm>
            <a:off x="6940296" y="2926080"/>
            <a:ext cx="2048256" cy="164592"/>
          </a:xfrm>
          <a:prstGeom prst="rect">
            <a:avLst/>
          </a:prstGeom>
          <a:noFill/>
          <a:ln/>
        </p:spPr>
        <p:txBody>
          <a:bodyPr wrap="square" lIns="0" tIns="0" rIns="0" bIns="0" rtlCol="0" anchor="ctr"/>
          <a:lstStyle/>
          <a:p>
            <a:pPr algn="ctr" indent="0" marL="0">
              <a:buNone/>
            </a:pPr>
            <a:r>
              <a:rPr lang="en-US" sz="600" b="1" dirty="0">
                <a:solidFill>
                  <a:srgbClr val="3E3A36"/>
                </a:solidFill>
                <a:latin typeface="Calibri" pitchFamily="34" charset="0"/>
                <a:ea typeface="Calibri" pitchFamily="34" charset="-122"/>
                <a:cs typeface="Calibri" pitchFamily="34" charset="-120"/>
              </a:rPr>
              <a:t>ORDONNANCEMENT</a:t>
            </a:r>
            <a:endParaRPr lang="en-US" sz="600" dirty="0"/>
          </a:p>
        </p:txBody>
      </p:sp>
      <p:sp>
        <p:nvSpPr>
          <p:cNvPr id="55" name="Text 53"/>
          <p:cNvSpPr/>
          <p:nvPr/>
        </p:nvSpPr>
        <p:spPr>
          <a:xfrm>
            <a:off x="6958584" y="3145536"/>
            <a:ext cx="2011680" cy="877824"/>
          </a:xfrm>
          <a:prstGeom prst="rect">
            <a:avLst/>
          </a:prstGeom>
          <a:noFill/>
          <a:ln/>
        </p:spPr>
        <p:txBody>
          <a:bodyPr wrap="square" lIns="0" tIns="0" rIns="0" bIns="0" rtlCol="0" anchor="ctr"/>
          <a:lstStyle/>
          <a:p>
            <a:pPr indent="0" marL="0">
              <a:lnSpc>
                <a:spcPct val="135000"/>
              </a:lnSpc>
              <a:buNone/>
            </a:pPr>
            <a:r>
              <a:rPr lang="en-US" sz="750" dirty="0">
                <a:solidFill>
                  <a:srgbClr val="3E3A36"/>
                </a:solidFill>
                <a:latin typeface="Calibri" pitchFamily="34" charset="0"/>
                <a:ea typeface="Calibri" pitchFamily="34" charset="-122"/>
                <a:cs typeface="Calibri" pitchFamily="34" charset="-120"/>
              </a:rPr>
              <a:t>Ordonnanceur HPC dominant depuis 20 ans. Gere files d'attente, allocation GPU, isolation. Prolog/epilog pour instrumentation.</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8F4"/>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FFFFFF"/>
          </a:solidFill>
          <a:ln w="12700">
            <a:solidFill>
              <a:srgbClr val="FFFFFF"/>
            </a:solidFill>
            <a:prstDash val="solid"/>
          </a:ln>
        </p:spPr>
      </p:sp>
      <p:sp>
        <p:nvSpPr>
          <p:cNvPr id="3" name="Shape 1"/>
          <p:cNvSpPr/>
          <p:nvPr/>
        </p:nvSpPr>
        <p:spPr>
          <a:xfrm>
            <a:off x="0" y="0"/>
            <a:ext cx="54864" cy="502920"/>
          </a:xfrm>
          <a:prstGeom prst="rect">
            <a:avLst/>
          </a:prstGeom>
          <a:solidFill>
            <a:srgbClr val="7D1C35"/>
          </a:solidFill>
          <a:ln w="12700">
            <a:solidFill>
              <a:srgbClr val="7D1C35"/>
            </a:solidFill>
            <a:prstDash val="solid"/>
          </a:ln>
        </p:spPr>
      </p:sp>
      <p:sp>
        <p:nvSpPr>
          <p:cNvPr id="4" name="Text 2"/>
          <p:cNvSpPr/>
          <p:nvPr/>
        </p:nvSpPr>
        <p:spPr>
          <a:xfrm>
            <a:off x="164592" y="54864"/>
            <a:ext cx="1371600" cy="164592"/>
          </a:xfrm>
          <a:prstGeom prst="rect">
            <a:avLst/>
          </a:prstGeom>
          <a:noFill/>
          <a:ln/>
        </p:spPr>
        <p:txBody>
          <a:bodyPr wrap="square" lIns="0" tIns="0" rIns="0" bIns="0" rtlCol="0" anchor="ctr"/>
          <a:lstStyle/>
          <a:p>
            <a:pPr indent="0" marL="0">
              <a:buNone/>
            </a:pPr>
            <a:r>
              <a:rPr lang="en-US" sz="700" b="1" spc="300" kern="0" dirty="0">
                <a:solidFill>
                  <a:srgbClr val="A8243F"/>
                </a:solidFill>
                <a:latin typeface="Calibri" pitchFamily="34" charset="0"/>
                <a:ea typeface="Calibri" pitchFamily="34" charset="-122"/>
                <a:cs typeface="Calibri" pitchFamily="34" charset="-120"/>
              </a:rPr>
              <a:t>CHAPITRE 06  |  ARCHITECTURE DE REFERENCE</a:t>
            </a:r>
            <a:endParaRPr lang="en-US" sz="700" dirty="0"/>
          </a:p>
        </p:txBody>
      </p:sp>
      <p:sp>
        <p:nvSpPr>
          <p:cNvPr id="5" name="Text 3"/>
          <p:cNvSpPr/>
          <p:nvPr/>
        </p:nvSpPr>
        <p:spPr>
          <a:xfrm>
            <a:off x="164592" y="201168"/>
            <a:ext cx="8814816" cy="256032"/>
          </a:xfrm>
          <a:prstGeom prst="rect">
            <a:avLst/>
          </a:prstGeom>
          <a:noFill/>
          <a:ln/>
        </p:spPr>
        <p:txBody>
          <a:bodyPr wrap="square" lIns="0" tIns="0" rIns="0" bIns="0" rtlCol="0" anchor="ctr"/>
          <a:lstStyle/>
          <a:p>
            <a:pPr indent="0" marL="0">
              <a:buNone/>
            </a:pPr>
            <a:r>
              <a:rPr lang="en-US" sz="1400" b="1" dirty="0">
                <a:solidFill>
                  <a:srgbClr val="1A1A1A"/>
                </a:solidFill>
                <a:latin typeface="Georgia" pitchFamily="34" charset="0"/>
                <a:ea typeface="Georgia" pitchFamily="34" charset="-122"/>
                <a:cs typeface="Georgia" pitchFamily="34" charset="-120"/>
              </a:rPr>
              <a:t>Architecture de reference complete : zero dependance editeur</a:t>
            </a:r>
            <a:endParaRPr lang="en-US" sz="1400" dirty="0"/>
          </a:p>
        </p:txBody>
      </p:sp>
      <p:sp>
        <p:nvSpPr>
          <p:cNvPr id="6" name="Shape 4"/>
          <p:cNvSpPr/>
          <p:nvPr/>
        </p:nvSpPr>
        <p:spPr>
          <a:xfrm>
            <a:off x="0" y="4887468"/>
            <a:ext cx="9144000" cy="256032"/>
          </a:xfrm>
          <a:prstGeom prst="rect">
            <a:avLst/>
          </a:prstGeom>
          <a:solidFill>
            <a:srgbClr val="F3F0EA"/>
          </a:solidFill>
          <a:ln w="12700">
            <a:solidFill>
              <a:srgbClr val="DDD8CF"/>
            </a:solidFill>
            <a:prstDash val="solid"/>
          </a:ln>
        </p:spPr>
      </p:sp>
      <p:sp>
        <p:nvSpPr>
          <p:cNvPr id="7" name="Text 5"/>
          <p:cNvSpPr/>
          <p:nvPr/>
        </p:nvSpPr>
        <p:spPr>
          <a:xfrm>
            <a:off x="137160" y="4924044"/>
            <a:ext cx="8869680" cy="182880"/>
          </a:xfrm>
          <a:prstGeom prst="rect">
            <a:avLst/>
          </a:prstGeom>
          <a:noFill/>
          <a:ln/>
        </p:spPr>
        <p:txBody>
          <a:bodyPr wrap="square" lIns="0" tIns="0" rIns="0" bIns="0" rtlCol="0" anchor="ctr"/>
          <a:lstStyle/>
          <a:p>
            <a:pPr indent="0" marL="0">
              <a:buNone/>
            </a:pPr>
            <a:r>
              <a:rPr lang="en-US" sz="650" dirty="0">
                <a:solidFill>
                  <a:srgbClr val="7A7268"/>
                </a:solidFill>
                <a:latin typeface="Calibri" pitchFamily="34" charset="0"/>
                <a:ea typeface="Calibri" pitchFamily="34" charset="-122"/>
                <a:cs typeface="Calibri" pitchFamily="34" charset="-120"/>
              </a:rPr>
              <a:t>Samuel Desseaux  |  Erythix / Aureonis  |  HPC AI Observability and Security</a:t>
            </a:r>
            <a:endParaRPr lang="en-US" sz="650" dirty="0"/>
          </a:p>
        </p:txBody>
      </p:sp>
      <p:sp>
        <p:nvSpPr>
          <p:cNvPr id="8" name="Shape 6"/>
          <p:cNvSpPr/>
          <p:nvPr/>
        </p:nvSpPr>
        <p:spPr>
          <a:xfrm>
            <a:off x="201168" y="640080"/>
            <a:ext cx="8741664" cy="987552"/>
          </a:xfrm>
          <a:prstGeom prst="rect">
            <a:avLst/>
          </a:prstGeom>
          <a:solidFill>
            <a:srgbClr val="F0F5FB"/>
          </a:solidFill>
          <a:ln w="12700">
            <a:solidFill>
              <a:srgbClr val="90C0E8"/>
            </a:solidFill>
            <a:prstDash val="solid"/>
          </a:ln>
          <a:effectLst>
            <a:outerShdw sx="100000" sy="100000" kx="0" ky="0" algn="bl" rotWithShape="0" blurRad="38100" dist="25400" dir="8100000">
              <a:srgbClr val="000000">
                <a:alpha val="10000"/>
              </a:srgbClr>
            </a:outerShdw>
          </a:effectLst>
        </p:spPr>
      </p:sp>
      <p:sp>
        <p:nvSpPr>
          <p:cNvPr id="9" name="Shape 7"/>
          <p:cNvSpPr/>
          <p:nvPr/>
        </p:nvSpPr>
        <p:spPr>
          <a:xfrm>
            <a:off x="201168" y="640080"/>
            <a:ext cx="1280160" cy="987552"/>
          </a:xfrm>
          <a:prstGeom prst="rect">
            <a:avLst/>
          </a:prstGeom>
          <a:solidFill>
            <a:srgbClr val="1F5FA0"/>
          </a:solidFill>
          <a:ln w="12700">
            <a:solidFill>
              <a:srgbClr val="1F5FA0"/>
            </a:solidFill>
            <a:prstDash val="solid"/>
          </a:ln>
        </p:spPr>
      </p:sp>
      <p:sp>
        <p:nvSpPr>
          <p:cNvPr id="10" name="Text 8"/>
          <p:cNvSpPr/>
          <p:nvPr/>
        </p:nvSpPr>
        <p:spPr>
          <a:xfrm>
            <a:off x="201168" y="640080"/>
            <a:ext cx="1280160" cy="98755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COLLECTE</a:t>
            </a:r>
            <a:endParaRPr lang="en-US" sz="900" dirty="0"/>
          </a:p>
          <a:p>
            <a:pPr algn="ctr" indent="0" marL="0">
              <a:buNone/>
            </a:pPr>
            <a:r>
              <a:rPr lang="en-US" sz="900" b="1" dirty="0">
                <a:solidFill>
                  <a:srgbClr val="FFFFFF"/>
                </a:solidFill>
                <a:latin typeface="Calibri" pitchFamily="34" charset="0"/>
                <a:ea typeface="Calibri" pitchFamily="34" charset="-122"/>
                <a:cs typeface="Calibri" pitchFamily="34" charset="-120"/>
              </a:rPr>
              <a:t>(par noeud)</a:t>
            </a:r>
            <a:endParaRPr lang="en-US" sz="900" dirty="0"/>
          </a:p>
        </p:txBody>
      </p:sp>
      <p:sp>
        <p:nvSpPr>
          <p:cNvPr id="11" name="Text 9"/>
          <p:cNvSpPr/>
          <p:nvPr/>
        </p:nvSpPr>
        <p:spPr>
          <a:xfrm>
            <a:off x="1591056" y="640080"/>
            <a:ext cx="7205472" cy="987552"/>
          </a:xfrm>
          <a:prstGeom prst="rect">
            <a:avLst/>
          </a:prstGeom>
          <a:noFill/>
          <a:ln/>
        </p:spPr>
        <p:txBody>
          <a:bodyPr wrap="square" lIns="0" tIns="0" rIns="0" bIns="0" rtlCol="0" anchor="ctr"/>
          <a:lstStyle/>
          <a:p>
            <a:pPr indent="0" marL="0">
              <a:buNone/>
            </a:pPr>
            <a:r>
              <a:rPr lang="en-US" sz="1000" dirty="0">
                <a:solidFill>
                  <a:srgbClr val="3E3A36"/>
                </a:solidFill>
                <a:latin typeface="Calibri" pitchFamily="34" charset="0"/>
                <a:ea typeface="Calibri" pitchFamily="34" charset="-122"/>
                <a:cs typeface="Calibri" pitchFamily="34" charset="-120"/>
              </a:rPr>
              <a:t>dcgm-exporter  +  node-exporter  +  OTel Collector  +  Falco / Tetragon  +  slurm-exporter</a:t>
            </a:r>
            <a:endParaRPr lang="en-US" sz="1000" dirty="0"/>
          </a:p>
        </p:txBody>
      </p:sp>
      <p:sp>
        <p:nvSpPr>
          <p:cNvPr id="12" name="Shape 10"/>
          <p:cNvSpPr/>
          <p:nvPr/>
        </p:nvSpPr>
        <p:spPr>
          <a:xfrm rot="10800000">
            <a:off x="4498848" y="457200"/>
            <a:ext cx="146304" cy="146304"/>
          </a:xfrm>
          <a:prstGeom prst="triangle">
            <a:avLst/>
          </a:prstGeom>
          <a:solidFill>
            <a:srgbClr val="C8C2B8"/>
          </a:solidFill>
          <a:ln w="12700">
            <a:solidFill>
              <a:srgbClr val="C8C2B8"/>
            </a:solidFill>
            <a:prstDash val="solid"/>
          </a:ln>
        </p:spPr>
      </p:sp>
      <p:sp>
        <p:nvSpPr>
          <p:cNvPr id="13" name="Shape 11"/>
          <p:cNvSpPr/>
          <p:nvPr/>
        </p:nvSpPr>
        <p:spPr>
          <a:xfrm>
            <a:off x="201168" y="1828800"/>
            <a:ext cx="8741664" cy="987552"/>
          </a:xfrm>
          <a:prstGeom prst="rect">
            <a:avLst/>
          </a:prstGeom>
          <a:solidFill>
            <a:srgbClr val="FDF4F6"/>
          </a:solidFill>
          <a:ln w="12700">
            <a:solidFill>
              <a:srgbClr val="E8B0C0"/>
            </a:solidFill>
            <a:prstDash val="solid"/>
          </a:ln>
          <a:effectLst>
            <a:outerShdw sx="100000" sy="100000" kx="0" ky="0" algn="bl" rotWithShape="0" blurRad="38100" dist="25400" dir="8100000">
              <a:srgbClr val="000000">
                <a:alpha val="10000"/>
              </a:srgbClr>
            </a:outerShdw>
          </a:effectLst>
        </p:spPr>
      </p:sp>
      <p:sp>
        <p:nvSpPr>
          <p:cNvPr id="14" name="Shape 12"/>
          <p:cNvSpPr/>
          <p:nvPr/>
        </p:nvSpPr>
        <p:spPr>
          <a:xfrm>
            <a:off x="201168" y="1828800"/>
            <a:ext cx="1280160" cy="987552"/>
          </a:xfrm>
          <a:prstGeom prst="rect">
            <a:avLst/>
          </a:prstGeom>
          <a:solidFill>
            <a:srgbClr val="7D1C35"/>
          </a:solidFill>
          <a:ln w="12700">
            <a:solidFill>
              <a:srgbClr val="7D1C35"/>
            </a:solidFill>
            <a:prstDash val="solid"/>
          </a:ln>
        </p:spPr>
      </p:sp>
      <p:sp>
        <p:nvSpPr>
          <p:cNvPr id="15" name="Text 13"/>
          <p:cNvSpPr/>
          <p:nvPr/>
        </p:nvSpPr>
        <p:spPr>
          <a:xfrm>
            <a:off x="201168" y="1828800"/>
            <a:ext cx="1280160" cy="98755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STOCKAGE</a:t>
            </a:r>
            <a:endParaRPr lang="en-US" sz="900" dirty="0"/>
          </a:p>
          <a:p>
            <a:pPr algn="ctr" indent="0" marL="0">
              <a:buNone/>
            </a:pPr>
            <a:r>
              <a:rPr lang="en-US" sz="900" b="1" dirty="0">
                <a:solidFill>
                  <a:srgbClr val="FFFFFF"/>
                </a:solidFill>
                <a:latin typeface="Calibri" pitchFamily="34" charset="0"/>
                <a:ea typeface="Calibri" pitchFamily="34" charset="-122"/>
                <a:cs typeface="Calibri" pitchFamily="34" charset="-120"/>
              </a:rPr>
              <a:t>(centralise)</a:t>
            </a:r>
            <a:endParaRPr lang="en-US" sz="900" dirty="0"/>
          </a:p>
        </p:txBody>
      </p:sp>
      <p:sp>
        <p:nvSpPr>
          <p:cNvPr id="16" name="Text 14"/>
          <p:cNvSpPr/>
          <p:nvPr/>
        </p:nvSpPr>
        <p:spPr>
          <a:xfrm>
            <a:off x="1591056" y="1828800"/>
            <a:ext cx="7205472" cy="987552"/>
          </a:xfrm>
          <a:prstGeom prst="rect">
            <a:avLst/>
          </a:prstGeom>
          <a:noFill/>
          <a:ln/>
        </p:spPr>
        <p:txBody>
          <a:bodyPr wrap="square" lIns="0" tIns="0" rIns="0" bIns="0" rtlCol="0" anchor="ctr"/>
          <a:lstStyle/>
          <a:p>
            <a:pPr indent="0" marL="0">
              <a:buNone/>
            </a:pPr>
            <a:r>
              <a:rPr lang="en-US" sz="1000" dirty="0">
                <a:solidFill>
                  <a:srgbClr val="3E3A36"/>
                </a:solidFill>
                <a:latin typeface="Calibri" pitchFamily="34" charset="0"/>
                <a:ea typeface="Calibri" pitchFamily="34" charset="-122"/>
                <a:cs typeface="Calibri" pitchFamily="34" charset="-120"/>
              </a:rPr>
              <a:t>VictoriaMetrics  +  Loki  +  Tempo  +  AlertManager</a:t>
            </a:r>
            <a:endParaRPr lang="en-US" sz="1000" dirty="0"/>
          </a:p>
        </p:txBody>
      </p:sp>
      <p:sp>
        <p:nvSpPr>
          <p:cNvPr id="17" name="Shape 15"/>
          <p:cNvSpPr/>
          <p:nvPr/>
        </p:nvSpPr>
        <p:spPr>
          <a:xfrm rot="10800000">
            <a:off x="4498848" y="1645920"/>
            <a:ext cx="146304" cy="146304"/>
          </a:xfrm>
          <a:prstGeom prst="triangle">
            <a:avLst/>
          </a:prstGeom>
          <a:solidFill>
            <a:srgbClr val="C8C2B8"/>
          </a:solidFill>
          <a:ln w="12700">
            <a:solidFill>
              <a:srgbClr val="C8C2B8"/>
            </a:solidFill>
            <a:prstDash val="solid"/>
          </a:ln>
        </p:spPr>
      </p:sp>
      <p:sp>
        <p:nvSpPr>
          <p:cNvPr id="18" name="Shape 16"/>
          <p:cNvSpPr/>
          <p:nvPr/>
        </p:nvSpPr>
        <p:spPr>
          <a:xfrm>
            <a:off x="201168" y="3017520"/>
            <a:ext cx="8741664" cy="987552"/>
          </a:xfrm>
          <a:prstGeom prst="rect">
            <a:avLst/>
          </a:prstGeom>
          <a:solidFill>
            <a:srgbClr val="F0F8F4"/>
          </a:solidFill>
          <a:ln w="12700">
            <a:solidFill>
              <a:srgbClr val="80C8A8"/>
            </a:solidFill>
            <a:prstDash val="solid"/>
          </a:ln>
          <a:effectLst>
            <a:outerShdw sx="100000" sy="100000" kx="0" ky="0" algn="bl" rotWithShape="0" blurRad="38100" dist="25400" dir="8100000">
              <a:srgbClr val="000000">
                <a:alpha val="10000"/>
              </a:srgbClr>
            </a:outerShdw>
          </a:effectLst>
        </p:spPr>
      </p:sp>
      <p:sp>
        <p:nvSpPr>
          <p:cNvPr id="19" name="Shape 17"/>
          <p:cNvSpPr/>
          <p:nvPr/>
        </p:nvSpPr>
        <p:spPr>
          <a:xfrm>
            <a:off x="201168" y="3017520"/>
            <a:ext cx="1280160" cy="987552"/>
          </a:xfrm>
          <a:prstGeom prst="rect">
            <a:avLst/>
          </a:prstGeom>
          <a:solidFill>
            <a:srgbClr val="1A6E42"/>
          </a:solidFill>
          <a:ln w="12700">
            <a:solidFill>
              <a:srgbClr val="1A6E42"/>
            </a:solidFill>
            <a:prstDash val="solid"/>
          </a:ln>
        </p:spPr>
      </p:sp>
      <p:sp>
        <p:nvSpPr>
          <p:cNvPr id="20" name="Text 18"/>
          <p:cNvSpPr/>
          <p:nvPr/>
        </p:nvSpPr>
        <p:spPr>
          <a:xfrm>
            <a:off x="201168" y="3017520"/>
            <a:ext cx="1280160" cy="98755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VISUALISATION</a:t>
            </a:r>
            <a:endParaRPr lang="en-US" sz="900" dirty="0"/>
          </a:p>
        </p:txBody>
      </p:sp>
      <p:sp>
        <p:nvSpPr>
          <p:cNvPr id="21" name="Text 19"/>
          <p:cNvSpPr/>
          <p:nvPr/>
        </p:nvSpPr>
        <p:spPr>
          <a:xfrm>
            <a:off x="1591056" y="3017520"/>
            <a:ext cx="7205472" cy="987552"/>
          </a:xfrm>
          <a:prstGeom prst="rect">
            <a:avLst/>
          </a:prstGeom>
          <a:noFill/>
          <a:ln/>
        </p:spPr>
        <p:txBody>
          <a:bodyPr wrap="square" lIns="0" tIns="0" rIns="0" bIns="0" rtlCol="0" anchor="ctr"/>
          <a:lstStyle/>
          <a:p>
            <a:pPr indent="0" marL="0">
              <a:buNone/>
            </a:pPr>
            <a:r>
              <a:rPr lang="en-US" sz="1000" dirty="0">
                <a:solidFill>
                  <a:srgbClr val="3E3A36"/>
                </a:solidFill>
                <a:latin typeface="Calibri" pitchFamily="34" charset="0"/>
                <a:ea typeface="Calibri" pitchFamily="34" charset="-122"/>
                <a:cs typeface="Calibri" pitchFamily="34" charset="-120"/>
              </a:rPr>
              <a:t>Grafana dashboards  +  AlertManager routing  +  Grafana OnCall</a:t>
            </a:r>
            <a:endParaRPr lang="en-US" sz="1000" dirty="0"/>
          </a:p>
        </p:txBody>
      </p:sp>
      <p:sp>
        <p:nvSpPr>
          <p:cNvPr id="22" name="Shape 20"/>
          <p:cNvSpPr/>
          <p:nvPr/>
        </p:nvSpPr>
        <p:spPr>
          <a:xfrm>
            <a:off x="201168" y="4206240"/>
            <a:ext cx="8741664" cy="640080"/>
          </a:xfrm>
          <a:prstGeom prst="rect">
            <a:avLst/>
          </a:prstGeom>
          <a:solidFill>
            <a:srgbClr val="F0F8F4"/>
          </a:solidFill>
          <a:ln w="12700">
            <a:solidFill>
              <a:srgbClr val="80C8A8"/>
            </a:solidFill>
            <a:prstDash val="solid"/>
          </a:ln>
        </p:spPr>
      </p:sp>
      <p:sp>
        <p:nvSpPr>
          <p:cNvPr id="23" name="Shape 21"/>
          <p:cNvSpPr/>
          <p:nvPr/>
        </p:nvSpPr>
        <p:spPr>
          <a:xfrm>
            <a:off x="201168" y="4206240"/>
            <a:ext cx="54864" cy="640080"/>
          </a:xfrm>
          <a:prstGeom prst="rect">
            <a:avLst/>
          </a:prstGeom>
          <a:solidFill>
            <a:srgbClr val="1A6E42"/>
          </a:solidFill>
          <a:ln w="12700">
            <a:solidFill>
              <a:srgbClr val="1A6E42"/>
            </a:solidFill>
            <a:prstDash val="solid"/>
          </a:ln>
        </p:spPr>
      </p:sp>
      <p:sp>
        <p:nvSpPr>
          <p:cNvPr id="24" name="Text 22"/>
          <p:cNvSpPr/>
          <p:nvPr/>
        </p:nvSpPr>
        <p:spPr>
          <a:xfrm>
            <a:off x="310896" y="4242816"/>
            <a:ext cx="8577072" cy="548640"/>
          </a:xfrm>
          <a:prstGeom prst="rect">
            <a:avLst/>
          </a:prstGeom>
          <a:noFill/>
          <a:ln/>
        </p:spPr>
        <p:txBody>
          <a:bodyPr wrap="square" lIns="0" tIns="0" rIns="0" bIns="0" rtlCol="0" anchor="ctr"/>
          <a:lstStyle/>
          <a:p>
            <a:pPr indent="0" marL="0">
              <a:lnSpc>
                <a:spcPct val="140000"/>
              </a:lnSpc>
              <a:buNone/>
            </a:pPr>
            <a:r>
              <a:rPr lang="en-US" sz="900" dirty="0">
                <a:solidFill>
                  <a:srgbClr val="3E3A36"/>
                </a:solidFill>
                <a:latin typeface="Calibri" pitchFamily="34" charset="0"/>
                <a:ea typeface="Calibri" pitchFamily="34" charset="-122"/>
                <a:cs typeface="Calibri" pitchFamily="34" charset="-120"/>
              </a:rPr>
              <a:t>Zero dependance editeur. Tous les outils sont open source, auto-heberges et auditables. Les donnees ne quittent jamais votre infrastructure. Souverainete totale.</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HPC IA : Observabilite et Securite</dc:title>
  <dc:subject>PptxGenJS Presentation</dc:subject>
  <dc:creator>Samuel Desseaux  |  Erythix / Aureonis</dc:creator>
  <cp:lastModifiedBy>Samuel Desseaux  |  Erythix / Aureonis</cp:lastModifiedBy>
  <cp:revision>1</cp:revision>
  <dcterms:created xsi:type="dcterms:W3CDTF">2026-03-07T13:46:32Z</dcterms:created>
  <dcterms:modified xsi:type="dcterms:W3CDTF">2026-03-07T13:46:32Z</dcterms:modified>
</cp:coreProperties>
</file>